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s/slide39.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slides/slide59.xml" ContentType="application/vnd.openxmlformats-officedocument.presentationml.slide+xml"/>
  <Override PartName="/ppt/slides/slide5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6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57.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38.xml" ContentType="application/vnd.openxmlformats-officedocument.presentationml.slide+xml"/>
  <Override PartName="/ppt/slides/slide29.xml" ContentType="application/vnd.openxmlformats-officedocument.presentationml.slide+xml"/>
  <Override PartName="/ppt/slides/slide2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3.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0.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theme/theme2.xml" ContentType="application/vnd.openxmlformats-officedocument.theme+xml"/>
  <Override PartName="/ppt/theme/theme4.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theme/theme1.xml" ContentType="application/vnd.openxmlformats-officedocument.theme+xml"/>
  <Override PartName="/ppt/notesMasters/notesMaster1.xml" ContentType="application/vnd.openxmlformats-officedocument.presentationml.notesMaster+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74" r:id="rId2"/>
  </p:sldMasterIdLst>
  <p:notesMasterIdLst>
    <p:notesMasterId r:id="rId68"/>
  </p:notesMasterIdLst>
  <p:handoutMasterIdLst>
    <p:handoutMasterId r:id="rId69"/>
  </p:handoutMasterIdLst>
  <p:sldIdLst>
    <p:sldId id="259" r:id="rId3"/>
    <p:sldId id="438" r:id="rId4"/>
    <p:sldId id="440" r:id="rId5"/>
    <p:sldId id="260" r:id="rId6"/>
    <p:sldId id="266" r:id="rId7"/>
    <p:sldId id="410" r:id="rId8"/>
    <p:sldId id="412" r:id="rId9"/>
    <p:sldId id="413" r:id="rId10"/>
    <p:sldId id="414" r:id="rId11"/>
    <p:sldId id="415" r:id="rId12"/>
    <p:sldId id="416" r:id="rId13"/>
    <p:sldId id="417" r:id="rId14"/>
    <p:sldId id="411" r:id="rId15"/>
    <p:sldId id="322" r:id="rId16"/>
    <p:sldId id="324" r:id="rId17"/>
    <p:sldId id="325" r:id="rId18"/>
    <p:sldId id="326" r:id="rId19"/>
    <p:sldId id="329" r:id="rId20"/>
    <p:sldId id="335" r:id="rId21"/>
    <p:sldId id="336" r:id="rId22"/>
    <p:sldId id="337" r:id="rId23"/>
    <p:sldId id="419" r:id="rId24"/>
    <p:sldId id="420" r:id="rId25"/>
    <p:sldId id="421" r:id="rId26"/>
    <p:sldId id="389" r:id="rId27"/>
    <p:sldId id="346" r:id="rId28"/>
    <p:sldId id="422" r:id="rId29"/>
    <p:sldId id="423" r:id="rId30"/>
    <p:sldId id="424" r:id="rId31"/>
    <p:sldId id="425" r:id="rId32"/>
    <p:sldId id="353" r:id="rId33"/>
    <p:sldId id="355" r:id="rId34"/>
    <p:sldId id="426" r:id="rId35"/>
    <p:sldId id="427" r:id="rId36"/>
    <p:sldId id="428" r:id="rId37"/>
    <p:sldId id="429" r:id="rId38"/>
    <p:sldId id="430" r:id="rId39"/>
    <p:sldId id="362" r:id="rId40"/>
    <p:sldId id="363" r:id="rId41"/>
    <p:sldId id="364" r:id="rId42"/>
    <p:sldId id="365" r:id="rId43"/>
    <p:sldId id="431" r:id="rId44"/>
    <p:sldId id="393" r:id="rId45"/>
    <p:sldId id="372" r:id="rId46"/>
    <p:sldId id="373" r:id="rId47"/>
    <p:sldId id="376" r:id="rId48"/>
    <p:sldId id="377" r:id="rId49"/>
    <p:sldId id="432" r:id="rId50"/>
    <p:sldId id="433" r:id="rId51"/>
    <p:sldId id="395" r:id="rId52"/>
    <p:sldId id="380" r:id="rId53"/>
    <p:sldId id="381" r:id="rId54"/>
    <p:sldId id="383" r:id="rId55"/>
    <p:sldId id="384" r:id="rId56"/>
    <p:sldId id="437" r:id="rId57"/>
    <p:sldId id="434" r:id="rId58"/>
    <p:sldId id="435" r:id="rId59"/>
    <p:sldId id="396" r:id="rId60"/>
    <p:sldId id="397" r:id="rId61"/>
    <p:sldId id="436" r:id="rId62"/>
    <p:sldId id="402" r:id="rId63"/>
    <p:sldId id="403" r:id="rId64"/>
    <p:sldId id="404" r:id="rId65"/>
    <p:sldId id="405" r:id="rId66"/>
    <p:sldId id="318"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assan Salti" initials="HS" lastIdx="3"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1E0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45" autoAdjust="0"/>
  </p:normalViewPr>
  <p:slideViewPr>
    <p:cSldViewPr>
      <p:cViewPr varScale="1">
        <p:scale>
          <a:sx n="71" d="100"/>
          <a:sy n="71" d="100"/>
        </p:scale>
        <p:origin x="1356" y="60"/>
      </p:cViewPr>
      <p:guideLst>
        <p:guide orient="horz" pos="2160"/>
        <p:guide pos="2880"/>
      </p:guideLst>
    </p:cSldViewPr>
  </p:slideViewPr>
  <p:notesTextViewPr>
    <p:cViewPr>
      <p:scale>
        <a:sx n="1" d="1"/>
        <a:sy n="1" d="1"/>
      </p:scale>
      <p:origin x="0" y="0"/>
    </p:cViewPr>
  </p:notesTextViewPr>
  <p:notesViewPr>
    <p:cSldViewPr>
      <p:cViewPr varScale="1">
        <p:scale>
          <a:sx n="59" d="100"/>
          <a:sy n="59" d="100"/>
        </p:scale>
        <p:origin x="-255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notesMaster" Target="notesMasters/notesMaster1.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handoutMaster" Target="handoutMasters/handoutMaster1.xml"/><Relationship Id="rId77" Type="http://schemas.openxmlformats.org/officeDocument/2006/relationships/customXml" Target="../customXml/item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commentAuthors" Target="commentAuthors.xml"/><Relationship Id="rId75"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customXml" Target="../customXml/item2.xml"/><Relationship Id="rId7" Type="http://schemas.openxmlformats.org/officeDocument/2006/relationships/slide" Target="slides/slide5.xml"/><Relationship Id="rId71"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FF694C7-6B93-4199-8AD2-188EF1322E51}" type="datetimeFigureOut">
              <a:rPr lang="en-US" smtClean="0"/>
              <a:pPr/>
              <a:t>2/14/2017</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C52E6A2-DD5A-4AA1-BA38-49C81212A8AC}" type="slidenum">
              <a:rPr lang="en-US" smtClean="0"/>
              <a:pPr/>
              <a:t>‹#›</a:t>
            </a:fld>
            <a:endParaRPr lang="en-US"/>
          </a:p>
        </p:txBody>
      </p:sp>
    </p:spTree>
    <p:extLst>
      <p:ext uri="{BB962C8B-B14F-4D97-AF65-F5344CB8AC3E}">
        <p14:creationId xmlns:p14="http://schemas.microsoft.com/office/powerpoint/2010/main" val="33435864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6F29479-A8B7-409B-83B6-5B0916149E38}" type="datetimeFigureOut">
              <a:rPr lang="en-US" smtClean="0"/>
              <a:pPr/>
              <a:t>2/14/2017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D91931-7FC2-4604-8A66-D63DB67CD0DD}" type="slidenum">
              <a:rPr lang="en-US" smtClean="0"/>
              <a:pPr/>
              <a:t>‹#›</a:t>
            </a:fld>
            <a:endParaRPr lang="en-US"/>
          </a:p>
        </p:txBody>
      </p:sp>
    </p:spTree>
    <p:extLst>
      <p:ext uri="{BB962C8B-B14F-4D97-AF65-F5344CB8AC3E}">
        <p14:creationId xmlns:p14="http://schemas.microsoft.com/office/powerpoint/2010/main" val="3917251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D91931-7FC2-4604-8A66-D63DB67CD0DD}" type="slidenum">
              <a:rPr lang="en-US" smtClean="0"/>
              <a:pPr/>
              <a:t>65</a:t>
            </a:fld>
            <a:endParaRPr lang="en-US"/>
          </a:p>
        </p:txBody>
      </p:sp>
    </p:spTree>
    <p:extLst>
      <p:ext uri="{BB962C8B-B14F-4D97-AF65-F5344CB8AC3E}">
        <p14:creationId xmlns:p14="http://schemas.microsoft.com/office/powerpoint/2010/main" val="28132538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609601" y="0"/>
            <a:ext cx="8534400" cy="6858000"/>
          </a:xfrm>
          <a:prstGeom prst="rect">
            <a:avLst/>
          </a:prstGeom>
          <a:gradFill flip="none" rotWithShape="0">
            <a:gsLst>
              <a:gs pos="1000">
                <a:schemeClr val="bg1">
                  <a:lumMod val="71000"/>
                </a:schemeClr>
              </a:gs>
              <a:gs pos="45000">
                <a:schemeClr val="accent1">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4274" b="26827"/>
          <a:stretch/>
        </p:blipFill>
        <p:spPr bwMode="auto">
          <a:xfrm rot="16200000">
            <a:off x="-3018924" y="3010903"/>
            <a:ext cx="6857999" cy="836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828173" y="2286000"/>
            <a:ext cx="8315827" cy="2057400"/>
          </a:xfrm>
        </p:spPr>
        <p:txBody>
          <a:bodyPr/>
          <a:lstStyle>
            <a:lvl1pPr>
              <a:defRPr>
                <a:solidFill>
                  <a:srgbClr val="002060"/>
                </a:soli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28976328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p:cNvSpPr/>
          <p:nvPr userDrawn="1"/>
        </p:nvSpPr>
        <p:spPr>
          <a:xfrm>
            <a:off x="609601" y="0"/>
            <a:ext cx="8534400" cy="762000"/>
          </a:xfrm>
          <a:prstGeom prst="rect">
            <a:avLst/>
          </a:prstGeom>
          <a:gradFill flip="none" rotWithShape="0">
            <a:gsLst>
              <a:gs pos="1000">
                <a:schemeClr val="bg1">
                  <a:lumMod val="71000"/>
                </a:schemeClr>
              </a:gs>
              <a:gs pos="45000">
                <a:schemeClr val="accent1">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4274" b="26827"/>
          <a:stretch/>
        </p:blipFill>
        <p:spPr bwMode="auto">
          <a:xfrm rot="16200000">
            <a:off x="-3018924" y="3010903"/>
            <a:ext cx="6857999" cy="836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itle 1"/>
          <p:cNvSpPr>
            <a:spLocks noGrp="1"/>
          </p:cNvSpPr>
          <p:nvPr>
            <p:ph type="title"/>
          </p:nvPr>
        </p:nvSpPr>
        <p:spPr>
          <a:xfrm>
            <a:off x="828173" y="0"/>
            <a:ext cx="8315827" cy="762000"/>
          </a:xfrm>
        </p:spPr>
        <p:txBody>
          <a:bodyPr/>
          <a:lstStyle>
            <a:lvl1pPr>
              <a:defRPr>
                <a:solidFill>
                  <a:srgbClr val="002060"/>
                </a:solidFill>
              </a:defRPr>
            </a:lvl1pPr>
          </a:lstStyle>
          <a:p>
            <a:r>
              <a:rPr lang="en-US" dirty="0" smtClean="0"/>
              <a:t>Click to edit Master title style</a:t>
            </a:r>
            <a:endParaRPr lang="en-US" dirty="0"/>
          </a:p>
        </p:txBody>
      </p:sp>
      <p:sp>
        <p:nvSpPr>
          <p:cNvPr id="9" name="Content Placeholder 2"/>
          <p:cNvSpPr>
            <a:spLocks noGrp="1"/>
          </p:cNvSpPr>
          <p:nvPr>
            <p:ph idx="1"/>
          </p:nvPr>
        </p:nvSpPr>
        <p:spPr>
          <a:xfrm>
            <a:off x="914400" y="1524000"/>
            <a:ext cx="8153400" cy="4525963"/>
          </a:xfrm>
        </p:spPr>
        <p:txBody>
          <a:bodyPr/>
          <a:lstStyle>
            <a:lvl1pPr marL="342900" indent="-342900">
              <a:buFont typeface="Wingdings" pitchFamily="2" charset="2"/>
              <a:buChar char="§"/>
              <a:defRPr/>
            </a:lvl1pPr>
            <a:lvl2pPr marL="742950" indent="-285750">
              <a:buFont typeface="Arial" pitchFamily="34" charset="0"/>
              <a:buChar char="•"/>
              <a:defRPr/>
            </a:lvl2pPr>
            <a:lvl3pPr marL="1143000" indent="-228600">
              <a:buFont typeface="Calibri" pitchFamily="34" charset="0"/>
              <a:buChar char="-"/>
              <a:defRPr/>
            </a:lvl3pPr>
            <a:lvl4pPr marL="1600200" indent="-228600">
              <a:buFont typeface="Arial" pitchFamily="34" charset="0"/>
              <a:buChar char="→"/>
              <a:defRPr/>
            </a:lvl4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 Fourth level</a:t>
            </a:r>
          </a:p>
        </p:txBody>
      </p:sp>
      <p:sp>
        <p:nvSpPr>
          <p:cNvPr id="2" name="Date Placeholder 1"/>
          <p:cNvSpPr>
            <a:spLocks noGrp="1"/>
          </p:cNvSpPr>
          <p:nvPr>
            <p:ph type="dt" sz="half" idx="10"/>
          </p:nvPr>
        </p:nvSpPr>
        <p:spPr>
          <a:xfrm>
            <a:off x="914400" y="6347042"/>
            <a:ext cx="2133600" cy="365125"/>
          </a:xfrm>
        </p:spPr>
        <p:txBody>
          <a:bodyPr/>
          <a:lstStyle/>
          <a:p>
            <a:fld id="{F96A42F0-D30C-4118-9B62-A786E8B99BDC}" type="datetime3">
              <a:rPr lang="en-US" smtClean="0"/>
              <a:t>14 February 2017</a:t>
            </a:fld>
            <a:endParaRPr lang="en-US"/>
          </a:p>
        </p:txBody>
      </p:sp>
      <p:sp>
        <p:nvSpPr>
          <p:cNvPr id="3" name="Footer Placeholder 2"/>
          <p:cNvSpPr>
            <a:spLocks noGrp="1"/>
          </p:cNvSpPr>
          <p:nvPr>
            <p:ph type="ftr" sz="quarter" idx="11"/>
          </p:nvPr>
        </p:nvSpPr>
        <p:spPr>
          <a:xfrm>
            <a:off x="3429001" y="6348260"/>
            <a:ext cx="2895600" cy="365125"/>
          </a:xfrm>
        </p:spPr>
        <p:txBody>
          <a:bodyPr/>
          <a:lstStyle>
            <a:lvl1pPr>
              <a:defRPr b="1">
                <a:solidFill>
                  <a:schemeClr val="bg1">
                    <a:lumMod val="50000"/>
                  </a:schemeClr>
                </a:solidFill>
              </a:defRPr>
            </a:lvl1pPr>
          </a:lstStyle>
          <a:p>
            <a:r>
              <a:rPr lang="en-US" smtClean="0"/>
              <a:t>T103 - Arab open University</a:t>
            </a:r>
            <a:endParaRPr lang="en-US" dirty="0"/>
          </a:p>
        </p:txBody>
      </p:sp>
      <p:sp>
        <p:nvSpPr>
          <p:cNvPr id="4" name="Slide Number Placeholder 3"/>
          <p:cNvSpPr>
            <a:spLocks noGrp="1"/>
          </p:cNvSpPr>
          <p:nvPr>
            <p:ph type="sldNum" sz="quarter" idx="12"/>
          </p:nvPr>
        </p:nvSpPr>
        <p:spPr>
          <a:xfrm>
            <a:off x="6858000" y="6349478"/>
            <a:ext cx="2133600" cy="365125"/>
          </a:xfrm>
        </p:spPr>
        <p:txBody>
          <a:bodyPr/>
          <a:lstStyle>
            <a:lvl1pPr>
              <a:defRPr sz="1400" b="1">
                <a:solidFill>
                  <a:schemeClr val="bg1">
                    <a:lumMod val="50000"/>
                  </a:schemeClr>
                </a:solidFill>
              </a:defRPr>
            </a:lvl1pPr>
          </a:lstStyle>
          <a:p>
            <a:fld id="{20042AC5-0839-4BB6-BBC0-636ECAAE7EE1}" type="slidenum">
              <a:rPr lang="en-US" smtClean="0"/>
              <a:pPr/>
              <a:t>‹#›</a:t>
            </a:fld>
            <a:endParaRPr lang="en-US"/>
          </a:p>
        </p:txBody>
      </p:sp>
    </p:spTree>
    <p:extLst>
      <p:ext uri="{BB962C8B-B14F-4D97-AF65-F5344CB8AC3E}">
        <p14:creationId xmlns:p14="http://schemas.microsoft.com/office/powerpoint/2010/main" val="363709403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7" name="Rectangle 6"/>
          <p:cNvSpPr/>
          <p:nvPr userDrawn="1"/>
        </p:nvSpPr>
        <p:spPr>
          <a:xfrm>
            <a:off x="609601" y="0"/>
            <a:ext cx="8534400" cy="762000"/>
          </a:xfrm>
          <a:prstGeom prst="rect">
            <a:avLst/>
          </a:prstGeom>
          <a:gradFill flip="none" rotWithShape="0">
            <a:gsLst>
              <a:gs pos="1000">
                <a:schemeClr val="bg1">
                  <a:lumMod val="71000"/>
                </a:schemeClr>
              </a:gs>
              <a:gs pos="45000">
                <a:schemeClr val="accent1">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4274" b="26827"/>
          <a:stretch/>
        </p:blipFill>
        <p:spPr bwMode="auto">
          <a:xfrm rot="16200000">
            <a:off x="-3018924" y="3010903"/>
            <a:ext cx="6857999" cy="836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828173" y="228600"/>
            <a:ext cx="8313821" cy="457200"/>
          </a:xfrm>
          <a:ln>
            <a:noFill/>
          </a:ln>
        </p:spPr>
        <p:txBody>
          <a:bodyPr>
            <a:normAutofit/>
          </a:bodyPr>
          <a:lstStyle>
            <a:lvl1pPr marL="0" indent="0">
              <a:buFont typeface="Arial" pitchFamily="34" charset="0"/>
              <a:buNone/>
              <a:defRPr sz="2400" b="1">
                <a:solidFill>
                  <a:srgbClr val="002060"/>
                </a:solidFill>
              </a:defRPr>
            </a:lvl1pPr>
          </a:lstStyle>
          <a:p>
            <a:r>
              <a:rPr lang="en-US" dirty="0" smtClean="0"/>
              <a:t>Click to edit Master title style</a:t>
            </a:r>
            <a:endParaRPr lang="en-US" dirty="0"/>
          </a:p>
        </p:txBody>
      </p:sp>
      <p:sp>
        <p:nvSpPr>
          <p:cNvPr id="18" name="Content Placeholder 2"/>
          <p:cNvSpPr>
            <a:spLocks noGrp="1"/>
          </p:cNvSpPr>
          <p:nvPr>
            <p:ph idx="1"/>
          </p:nvPr>
        </p:nvSpPr>
        <p:spPr>
          <a:xfrm>
            <a:off x="914400" y="1524000"/>
            <a:ext cx="8153400" cy="4525963"/>
          </a:xfrm>
        </p:spPr>
        <p:txBody>
          <a:bodyPr/>
          <a:lstStyle>
            <a:lvl1pPr marL="342900" indent="-342900">
              <a:buFont typeface="Wingdings" pitchFamily="2" charset="2"/>
              <a:buChar char="§"/>
              <a:defRPr/>
            </a:lvl1pPr>
            <a:lvl2pPr marL="742950" indent="-285750">
              <a:buFont typeface="Arial" pitchFamily="34" charset="0"/>
              <a:buChar char="•"/>
              <a:defRPr/>
            </a:lvl2pPr>
            <a:lvl3pPr marL="1143000" indent="-228600">
              <a:buFont typeface="Calibri" pitchFamily="34" charset="0"/>
              <a:buChar char="-"/>
              <a:defRPr/>
            </a:lvl3pPr>
            <a:lvl4pPr marL="1600200" indent="-228600">
              <a:buFont typeface="Arial" pitchFamily="34" charset="0"/>
              <a:buChar char="→"/>
              <a:defRPr/>
            </a:lvl4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 Fourth level</a:t>
            </a:r>
          </a:p>
        </p:txBody>
      </p:sp>
      <p:sp>
        <p:nvSpPr>
          <p:cNvPr id="3" name="Date Placeholder 2"/>
          <p:cNvSpPr>
            <a:spLocks noGrp="1"/>
          </p:cNvSpPr>
          <p:nvPr>
            <p:ph type="dt" sz="half" idx="10"/>
          </p:nvPr>
        </p:nvSpPr>
        <p:spPr>
          <a:xfrm>
            <a:off x="1121147" y="6349478"/>
            <a:ext cx="2133600" cy="365125"/>
          </a:xfrm>
        </p:spPr>
        <p:txBody>
          <a:bodyPr/>
          <a:lstStyle>
            <a:lvl1pPr>
              <a:defRPr>
                <a:solidFill>
                  <a:schemeClr val="bg1">
                    <a:lumMod val="50000"/>
                  </a:schemeClr>
                </a:solidFill>
              </a:defRPr>
            </a:lvl1pPr>
          </a:lstStyle>
          <a:p>
            <a:fld id="{62498B6E-9325-4095-8436-607FE20C3C49}" type="datetime3">
              <a:rPr lang="en-US" smtClean="0"/>
              <a:t>14 February 2017</a:t>
            </a:fld>
            <a:endParaRPr lang="en-US"/>
          </a:p>
        </p:txBody>
      </p:sp>
      <p:sp>
        <p:nvSpPr>
          <p:cNvPr id="4" name="Footer Placeholder 3"/>
          <p:cNvSpPr>
            <a:spLocks noGrp="1"/>
          </p:cNvSpPr>
          <p:nvPr>
            <p:ph type="ftr" sz="quarter" idx="11"/>
          </p:nvPr>
        </p:nvSpPr>
        <p:spPr>
          <a:xfrm>
            <a:off x="3547721" y="6356350"/>
            <a:ext cx="2895600" cy="365125"/>
          </a:xfrm>
        </p:spPr>
        <p:txBody>
          <a:bodyPr/>
          <a:lstStyle>
            <a:lvl1pPr>
              <a:defRPr b="1">
                <a:solidFill>
                  <a:schemeClr val="bg1">
                    <a:lumMod val="50000"/>
                  </a:schemeClr>
                </a:solidFill>
              </a:defRPr>
            </a:lvl1pPr>
          </a:lstStyle>
          <a:p>
            <a:r>
              <a:rPr lang="en-US" smtClean="0"/>
              <a:t>T103 - Arab open University</a:t>
            </a:r>
            <a:endParaRPr lang="en-US"/>
          </a:p>
        </p:txBody>
      </p:sp>
      <p:sp>
        <p:nvSpPr>
          <p:cNvPr id="5" name="Slide Number Placeholder 4"/>
          <p:cNvSpPr>
            <a:spLocks noGrp="1"/>
          </p:cNvSpPr>
          <p:nvPr>
            <p:ph type="sldNum" sz="quarter" idx="12"/>
          </p:nvPr>
        </p:nvSpPr>
        <p:spPr>
          <a:xfrm>
            <a:off x="6919586" y="6362004"/>
            <a:ext cx="2133600" cy="365125"/>
          </a:xfrm>
        </p:spPr>
        <p:txBody>
          <a:bodyPr/>
          <a:lstStyle>
            <a:lvl1pPr>
              <a:defRPr sz="1400">
                <a:solidFill>
                  <a:schemeClr val="bg1">
                    <a:lumMod val="50000"/>
                  </a:schemeClr>
                </a:solidFill>
              </a:defRPr>
            </a:lvl1pPr>
          </a:lstStyle>
          <a:p>
            <a:fld id="{20042AC5-0839-4BB6-BBC0-636ECAAE7EE1}" type="slidenum">
              <a:rPr lang="en-US" smtClean="0"/>
              <a:pPr/>
              <a:t>‹#›</a:t>
            </a:fld>
            <a:endParaRPr lang="en-US"/>
          </a:p>
        </p:txBody>
      </p:sp>
    </p:spTree>
    <p:extLst>
      <p:ext uri="{BB962C8B-B14F-4D97-AF65-F5344CB8AC3E}">
        <p14:creationId xmlns:p14="http://schemas.microsoft.com/office/powerpoint/2010/main" val="127320819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609601" y="0"/>
            <a:ext cx="8534400" cy="6858000"/>
          </a:xfrm>
          <a:prstGeom prst="rect">
            <a:avLst/>
          </a:prstGeom>
          <a:gradFill flip="none" rotWithShape="0">
            <a:gsLst>
              <a:gs pos="1000">
                <a:schemeClr val="bg1">
                  <a:lumMod val="71000"/>
                </a:schemeClr>
              </a:gs>
              <a:gs pos="45000">
                <a:schemeClr val="accent1">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2050"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4274" b="26827"/>
          <a:stretch/>
        </p:blipFill>
        <p:spPr bwMode="auto">
          <a:xfrm rot="16200000">
            <a:off x="-3018924" y="3010903"/>
            <a:ext cx="6857999" cy="836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828173" y="2286000"/>
            <a:ext cx="8315827" cy="2057400"/>
          </a:xfrm>
        </p:spPr>
        <p:txBody>
          <a:bodyPr/>
          <a:lstStyle>
            <a:lvl1pPr>
              <a:defRPr>
                <a:solidFill>
                  <a:srgbClr val="002060"/>
                </a:solidFill>
              </a:defRPr>
            </a:lvl1pPr>
          </a:lstStyle>
          <a:p>
            <a:r>
              <a:rPr lang="en-US" dirty="0" smtClean="0"/>
              <a:t>Click to edit Master title style</a:t>
            </a:r>
            <a:endParaRPr lang="en-US" dirty="0"/>
          </a:p>
        </p:txBody>
      </p:sp>
    </p:spTree>
    <p:extLst>
      <p:ext uri="{BB962C8B-B14F-4D97-AF65-F5344CB8AC3E}">
        <p14:creationId xmlns:p14="http://schemas.microsoft.com/office/powerpoint/2010/main" val="64538131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Rectangle 6"/>
          <p:cNvSpPr/>
          <p:nvPr userDrawn="1"/>
        </p:nvSpPr>
        <p:spPr>
          <a:xfrm>
            <a:off x="609601" y="0"/>
            <a:ext cx="8534400" cy="762000"/>
          </a:xfrm>
          <a:prstGeom prst="rect">
            <a:avLst/>
          </a:prstGeom>
          <a:gradFill flip="none" rotWithShape="0">
            <a:gsLst>
              <a:gs pos="1000">
                <a:schemeClr val="bg1">
                  <a:lumMod val="71000"/>
                </a:schemeClr>
              </a:gs>
              <a:gs pos="45000">
                <a:schemeClr val="accent1">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8"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4274" b="26827"/>
          <a:stretch/>
        </p:blipFill>
        <p:spPr bwMode="auto">
          <a:xfrm rot="16200000">
            <a:off x="-3018924" y="3010903"/>
            <a:ext cx="6857999" cy="836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itle 1"/>
          <p:cNvSpPr>
            <a:spLocks noGrp="1"/>
          </p:cNvSpPr>
          <p:nvPr>
            <p:ph type="title"/>
          </p:nvPr>
        </p:nvSpPr>
        <p:spPr>
          <a:xfrm>
            <a:off x="828173" y="0"/>
            <a:ext cx="8315827" cy="762000"/>
          </a:xfrm>
        </p:spPr>
        <p:txBody>
          <a:bodyPr/>
          <a:lstStyle>
            <a:lvl1pPr>
              <a:defRPr>
                <a:solidFill>
                  <a:srgbClr val="002060"/>
                </a:solidFill>
              </a:defRPr>
            </a:lvl1pPr>
          </a:lstStyle>
          <a:p>
            <a:r>
              <a:rPr lang="en-US" dirty="0" smtClean="0"/>
              <a:t>Click to edit Master title style</a:t>
            </a:r>
            <a:endParaRPr lang="en-US" dirty="0"/>
          </a:p>
        </p:txBody>
      </p:sp>
      <p:sp>
        <p:nvSpPr>
          <p:cNvPr id="9" name="Content Placeholder 2"/>
          <p:cNvSpPr>
            <a:spLocks noGrp="1"/>
          </p:cNvSpPr>
          <p:nvPr>
            <p:ph idx="1"/>
          </p:nvPr>
        </p:nvSpPr>
        <p:spPr>
          <a:xfrm>
            <a:off x="914400" y="1524000"/>
            <a:ext cx="8153400" cy="4525963"/>
          </a:xfrm>
        </p:spPr>
        <p:txBody>
          <a:bodyPr/>
          <a:lstStyle>
            <a:lvl1pPr marL="342900" indent="-342900">
              <a:buFont typeface="Wingdings" pitchFamily="2" charset="2"/>
              <a:buChar char="§"/>
              <a:defRPr/>
            </a:lvl1pPr>
            <a:lvl2pPr marL="742950" indent="-285750">
              <a:buFont typeface="Arial" pitchFamily="34" charset="0"/>
              <a:buChar char="•"/>
              <a:defRPr/>
            </a:lvl2pPr>
            <a:lvl3pPr marL="1143000" indent="-228600">
              <a:buFont typeface="Calibri" pitchFamily="34" charset="0"/>
              <a:buChar char="-"/>
              <a:defRPr/>
            </a:lvl3pPr>
            <a:lvl4pPr marL="1600200" indent="-228600">
              <a:buFont typeface="Arial" pitchFamily="34" charset="0"/>
              <a:buChar char="→"/>
              <a:defRPr/>
            </a:lvl4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 Fourth level</a:t>
            </a:r>
          </a:p>
        </p:txBody>
      </p:sp>
      <p:sp>
        <p:nvSpPr>
          <p:cNvPr id="2" name="Date Placeholder 1"/>
          <p:cNvSpPr>
            <a:spLocks noGrp="1"/>
          </p:cNvSpPr>
          <p:nvPr>
            <p:ph type="dt" sz="half" idx="10"/>
          </p:nvPr>
        </p:nvSpPr>
        <p:spPr>
          <a:xfrm>
            <a:off x="914400" y="6356350"/>
            <a:ext cx="2133600" cy="365125"/>
          </a:xfrm>
        </p:spPr>
        <p:txBody>
          <a:bodyPr/>
          <a:lstStyle/>
          <a:p>
            <a:fld id="{42A28EF1-B41E-4077-A017-549B2D908AEC}" type="datetime3">
              <a:rPr lang="en-US" smtClean="0">
                <a:solidFill>
                  <a:prstClr val="black">
                    <a:tint val="75000"/>
                  </a:prstClr>
                </a:solidFill>
              </a:rPr>
              <a:t>14 February 2017</a:t>
            </a:fld>
            <a:endParaRPr lang="en-US">
              <a:solidFill>
                <a:prstClr val="black">
                  <a:tint val="75000"/>
                </a:prstClr>
              </a:solidFill>
            </a:endParaRPr>
          </a:p>
        </p:txBody>
      </p:sp>
      <p:sp>
        <p:nvSpPr>
          <p:cNvPr id="3" name="Footer Placeholder 2"/>
          <p:cNvSpPr>
            <a:spLocks noGrp="1"/>
          </p:cNvSpPr>
          <p:nvPr>
            <p:ph type="ftr" sz="quarter" idx="11"/>
          </p:nvPr>
        </p:nvSpPr>
        <p:spPr>
          <a:xfrm>
            <a:off x="3429001" y="6356350"/>
            <a:ext cx="2895600" cy="365125"/>
          </a:xfrm>
        </p:spPr>
        <p:txBody>
          <a:bodyPr/>
          <a:lstStyle>
            <a:lvl1pPr>
              <a:defRPr b="1">
                <a:solidFill>
                  <a:schemeClr val="bg1">
                    <a:lumMod val="50000"/>
                  </a:schemeClr>
                </a:solidFill>
              </a:defRPr>
            </a:lvl1pPr>
          </a:lstStyle>
          <a:p>
            <a:r>
              <a:rPr lang="en-US" smtClean="0"/>
              <a:t>T103 - Arab open University</a:t>
            </a:r>
            <a:endParaRPr lang="en-US"/>
          </a:p>
        </p:txBody>
      </p:sp>
      <p:sp>
        <p:nvSpPr>
          <p:cNvPr id="4" name="Slide Number Placeholder 3"/>
          <p:cNvSpPr>
            <a:spLocks noGrp="1"/>
          </p:cNvSpPr>
          <p:nvPr>
            <p:ph type="sldNum" sz="quarter" idx="12"/>
          </p:nvPr>
        </p:nvSpPr>
        <p:spPr>
          <a:xfrm>
            <a:off x="6781800" y="6356350"/>
            <a:ext cx="2133600" cy="365125"/>
          </a:xfrm>
        </p:spPr>
        <p:txBody>
          <a:bodyPr/>
          <a:lstStyle>
            <a:lvl1pPr>
              <a:defRPr sz="1400" b="1">
                <a:solidFill>
                  <a:schemeClr val="bg1">
                    <a:lumMod val="50000"/>
                  </a:schemeClr>
                </a:solidFill>
              </a:defRPr>
            </a:lvl1pPr>
          </a:lstStyle>
          <a:p>
            <a:fld id="{20042AC5-0839-4BB6-BBC0-636ECAAE7EE1}" type="slidenum">
              <a:rPr lang="en-US" smtClean="0"/>
              <a:pPr/>
              <a:t>‹#›</a:t>
            </a:fld>
            <a:endParaRPr lang="en-US"/>
          </a:p>
        </p:txBody>
      </p:sp>
    </p:spTree>
    <p:extLst>
      <p:ext uri="{BB962C8B-B14F-4D97-AF65-F5344CB8AC3E}">
        <p14:creationId xmlns:p14="http://schemas.microsoft.com/office/powerpoint/2010/main" val="58766431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7" name="Rectangle 6"/>
          <p:cNvSpPr/>
          <p:nvPr userDrawn="1"/>
        </p:nvSpPr>
        <p:spPr>
          <a:xfrm>
            <a:off x="609601" y="0"/>
            <a:ext cx="8534400" cy="762000"/>
          </a:xfrm>
          <a:prstGeom prst="rect">
            <a:avLst/>
          </a:prstGeom>
          <a:gradFill flip="none" rotWithShape="0">
            <a:gsLst>
              <a:gs pos="1000">
                <a:schemeClr val="bg1">
                  <a:lumMod val="71000"/>
                </a:schemeClr>
              </a:gs>
              <a:gs pos="45000">
                <a:schemeClr val="accent1">
                  <a:tint val="23500"/>
                  <a:satMod val="1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8"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24274" b="26827"/>
          <a:stretch/>
        </p:blipFill>
        <p:spPr bwMode="auto">
          <a:xfrm rot="16200000">
            <a:off x="-3018924" y="3010903"/>
            <a:ext cx="6857999" cy="836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828173" y="228600"/>
            <a:ext cx="8313821" cy="457200"/>
          </a:xfrm>
          <a:ln>
            <a:noFill/>
          </a:ln>
        </p:spPr>
        <p:txBody>
          <a:bodyPr>
            <a:normAutofit/>
          </a:bodyPr>
          <a:lstStyle>
            <a:lvl1pPr marL="0" indent="0">
              <a:buFont typeface="Arial" pitchFamily="34" charset="0"/>
              <a:buNone/>
              <a:defRPr sz="2400" b="1">
                <a:solidFill>
                  <a:srgbClr val="002060"/>
                </a:solidFill>
              </a:defRPr>
            </a:lvl1pPr>
          </a:lstStyle>
          <a:p>
            <a:r>
              <a:rPr lang="en-US" dirty="0" smtClean="0"/>
              <a:t>Click to edit Master title style</a:t>
            </a:r>
            <a:endParaRPr lang="en-US" dirty="0"/>
          </a:p>
        </p:txBody>
      </p:sp>
      <p:sp>
        <p:nvSpPr>
          <p:cNvPr id="18" name="Content Placeholder 2"/>
          <p:cNvSpPr>
            <a:spLocks noGrp="1"/>
          </p:cNvSpPr>
          <p:nvPr>
            <p:ph idx="1"/>
          </p:nvPr>
        </p:nvSpPr>
        <p:spPr>
          <a:xfrm>
            <a:off x="914400" y="1524000"/>
            <a:ext cx="8153400" cy="4525963"/>
          </a:xfrm>
        </p:spPr>
        <p:txBody>
          <a:bodyPr/>
          <a:lstStyle>
            <a:lvl1pPr marL="342900" indent="-342900">
              <a:buFont typeface="Wingdings" pitchFamily="2" charset="2"/>
              <a:buChar char="§"/>
              <a:defRPr/>
            </a:lvl1pPr>
            <a:lvl2pPr marL="742950" indent="-285750">
              <a:buFont typeface="Arial" pitchFamily="34" charset="0"/>
              <a:buChar char="•"/>
              <a:defRPr/>
            </a:lvl2pPr>
            <a:lvl3pPr marL="1143000" indent="-228600">
              <a:buFont typeface="Calibri" pitchFamily="34" charset="0"/>
              <a:buChar char="-"/>
              <a:defRPr/>
            </a:lvl3pPr>
            <a:lvl4pPr marL="1600200" indent="-228600">
              <a:buFont typeface="Arial" pitchFamily="34" charset="0"/>
              <a:buChar char="→"/>
              <a:defRPr/>
            </a:lvl4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 Fourth level</a:t>
            </a:r>
          </a:p>
        </p:txBody>
      </p:sp>
      <p:sp>
        <p:nvSpPr>
          <p:cNvPr id="3" name="Date Placeholder 2"/>
          <p:cNvSpPr>
            <a:spLocks noGrp="1"/>
          </p:cNvSpPr>
          <p:nvPr>
            <p:ph type="dt" sz="half" idx="10"/>
          </p:nvPr>
        </p:nvSpPr>
        <p:spPr>
          <a:xfrm>
            <a:off x="1104318" y="6374530"/>
            <a:ext cx="2133600" cy="365125"/>
          </a:xfrm>
        </p:spPr>
        <p:txBody>
          <a:bodyPr/>
          <a:lstStyle/>
          <a:p>
            <a:fld id="{C5550D58-7CE3-47F2-A375-6CB93AD76ADC}" type="datetime3">
              <a:rPr lang="en-US" smtClean="0">
                <a:solidFill>
                  <a:prstClr val="black">
                    <a:tint val="75000"/>
                  </a:prstClr>
                </a:solidFill>
              </a:rPr>
              <a:t>14 February 2017</a:t>
            </a:fld>
            <a:endParaRPr lang="en-US">
              <a:solidFill>
                <a:prstClr val="black">
                  <a:tint val="75000"/>
                </a:prstClr>
              </a:solidFill>
            </a:endParaRPr>
          </a:p>
        </p:txBody>
      </p:sp>
      <p:sp>
        <p:nvSpPr>
          <p:cNvPr id="4" name="Footer Placeholder 3"/>
          <p:cNvSpPr>
            <a:spLocks noGrp="1"/>
          </p:cNvSpPr>
          <p:nvPr>
            <p:ph type="ftr" sz="quarter" idx="11"/>
          </p:nvPr>
        </p:nvSpPr>
        <p:spPr>
          <a:xfrm>
            <a:off x="3562059" y="6374530"/>
            <a:ext cx="2895600" cy="365125"/>
          </a:xfrm>
        </p:spPr>
        <p:txBody>
          <a:bodyPr/>
          <a:lstStyle>
            <a:lvl1pPr>
              <a:defRPr b="1">
                <a:solidFill>
                  <a:schemeClr val="bg1">
                    <a:lumMod val="50000"/>
                  </a:schemeClr>
                </a:solidFill>
              </a:defRPr>
            </a:lvl1pPr>
          </a:lstStyle>
          <a:p>
            <a:r>
              <a:rPr lang="en-US" smtClean="0"/>
              <a:t>T103 - Arab open University</a:t>
            </a:r>
            <a:endParaRPr lang="en-US"/>
          </a:p>
        </p:txBody>
      </p:sp>
      <p:sp>
        <p:nvSpPr>
          <p:cNvPr id="5" name="Slide Number Placeholder 4"/>
          <p:cNvSpPr>
            <a:spLocks noGrp="1"/>
          </p:cNvSpPr>
          <p:nvPr>
            <p:ph type="sldNum" sz="quarter" idx="12"/>
          </p:nvPr>
        </p:nvSpPr>
        <p:spPr>
          <a:xfrm>
            <a:off x="6781800" y="6362004"/>
            <a:ext cx="2133600" cy="365125"/>
          </a:xfrm>
        </p:spPr>
        <p:txBody>
          <a:bodyPr/>
          <a:lstStyle>
            <a:lvl1pPr>
              <a:defRPr sz="1400" b="1">
                <a:solidFill>
                  <a:schemeClr val="bg1">
                    <a:lumMod val="50000"/>
                  </a:schemeClr>
                </a:solidFill>
              </a:defRPr>
            </a:lvl1pPr>
          </a:lstStyle>
          <a:p>
            <a:fld id="{20042AC5-0839-4BB6-BBC0-636ECAAE7EE1}" type="slidenum">
              <a:rPr lang="en-US" smtClean="0"/>
              <a:pPr/>
              <a:t>‹#›</a:t>
            </a:fld>
            <a:endParaRPr lang="en-US"/>
          </a:p>
        </p:txBody>
      </p:sp>
    </p:spTree>
    <p:extLst>
      <p:ext uri="{BB962C8B-B14F-4D97-AF65-F5344CB8AC3E}">
        <p14:creationId xmlns:p14="http://schemas.microsoft.com/office/powerpoint/2010/main" val="103075033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7BBD54-20C7-461A-89C6-E9D4280CD4D1}" type="datetime3">
              <a:rPr lang="en-US" smtClean="0"/>
              <a:t>14 February 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T103 - Arab open University</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042AC5-0839-4BB6-BBC0-636ECAAE7EE1}" type="slidenum">
              <a:rPr lang="en-US" smtClean="0"/>
              <a:pPr/>
              <a:t>‹#›</a:t>
            </a:fld>
            <a:endParaRPr lang="en-US"/>
          </a:p>
        </p:txBody>
      </p:sp>
    </p:spTree>
    <p:extLst>
      <p:ext uri="{BB962C8B-B14F-4D97-AF65-F5344CB8AC3E}">
        <p14:creationId xmlns:p14="http://schemas.microsoft.com/office/powerpoint/2010/main" val="19088618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CE4156-36B1-4375-868B-611CBE8AA4F4}" type="datetime3">
              <a:rPr lang="en-US" smtClean="0">
                <a:solidFill>
                  <a:prstClr val="black">
                    <a:tint val="75000"/>
                  </a:prstClr>
                </a:solidFill>
              </a:rPr>
              <a:t>14 February 2017</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b="1">
                <a:solidFill>
                  <a:schemeClr val="bg1">
                    <a:lumMod val="50000"/>
                  </a:schemeClr>
                </a:solidFill>
              </a:defRPr>
            </a:lvl1pPr>
          </a:lstStyle>
          <a:p>
            <a:r>
              <a:rPr lang="en-US" smtClean="0"/>
              <a:t>T103 - Arab open University</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400" b="1">
                <a:solidFill>
                  <a:schemeClr val="bg1">
                    <a:lumMod val="50000"/>
                  </a:schemeClr>
                </a:solidFill>
              </a:defRPr>
            </a:lvl1pPr>
          </a:lstStyle>
          <a:p>
            <a:fld id="{20042AC5-0839-4BB6-BBC0-636ECAAE7EE1}" type="slidenum">
              <a:rPr lang="en-US" smtClean="0"/>
              <a:pPr/>
              <a:t>‹#›</a:t>
            </a:fld>
            <a:endParaRPr lang="en-US"/>
          </a:p>
        </p:txBody>
      </p:sp>
    </p:spTree>
    <p:extLst>
      <p:ext uri="{BB962C8B-B14F-4D97-AF65-F5344CB8AC3E}">
        <p14:creationId xmlns:p14="http://schemas.microsoft.com/office/powerpoint/2010/main" val="209726280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Lst>
  <p:timing>
    <p:tnLst>
      <p:par>
        <p:cTn id="1" dur="indefinite" restart="never" nodeType="tmRoot"/>
      </p:par>
    </p:tnLst>
  </p:timing>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8173" y="952500"/>
            <a:ext cx="8315827" cy="4953000"/>
          </a:xfrm>
        </p:spPr>
        <p:txBody>
          <a:bodyPr>
            <a:normAutofit fontScale="90000"/>
          </a:bodyPr>
          <a:lstStyle/>
          <a:p>
            <a:r>
              <a:rPr lang="en-US" b="1" dirty="0" smtClean="0"/>
              <a:t>Chapter 4</a:t>
            </a:r>
            <a:br>
              <a:rPr lang="en-US" b="1" dirty="0" smtClean="0"/>
            </a:br>
            <a:r>
              <a:rPr lang="en-US" sz="1800" b="1" dirty="0"/>
              <a:t/>
            </a:r>
            <a:br>
              <a:rPr lang="en-US" sz="1800" b="1" dirty="0"/>
            </a:br>
            <a:r>
              <a:rPr lang="en-US" sz="3600" dirty="0" smtClean="0"/>
              <a:t>MARIE:</a:t>
            </a:r>
            <a:br>
              <a:rPr lang="en-US" sz="3600" dirty="0" smtClean="0"/>
            </a:br>
            <a:r>
              <a:rPr lang="en-US" sz="3600" dirty="0" smtClean="0"/>
              <a:t>An Introduction to a Simple Computer</a:t>
            </a:r>
            <a:r>
              <a:rPr lang="en-US" b="1" dirty="0" smtClean="0"/>
              <a:t/>
            </a:r>
            <a:br>
              <a:rPr lang="en-US" b="1" dirty="0" smtClean="0"/>
            </a:br>
            <a:r>
              <a:rPr lang="en-US" b="1" dirty="0" smtClean="0"/>
              <a:t/>
            </a:r>
            <a:br>
              <a:rPr lang="en-US" b="1" dirty="0" smtClean="0"/>
            </a:br>
            <a:r>
              <a:rPr lang="en-US" sz="3600" b="1" dirty="0" smtClean="0"/>
              <a:t>Chapter  </a:t>
            </a:r>
            <a:r>
              <a:rPr lang="en-US" sz="3600" b="1" dirty="0"/>
              <a:t>5 </a:t>
            </a:r>
            <a:r>
              <a:rPr lang="en-US" sz="3600" b="1" dirty="0" smtClean="0"/>
              <a:t/>
            </a:r>
            <a:br>
              <a:rPr lang="en-US" sz="3600" b="1" dirty="0" smtClean="0"/>
            </a:br>
            <a:r>
              <a:rPr lang="en-US" sz="3600" dirty="0" smtClean="0"/>
              <a:t>(</a:t>
            </a:r>
            <a:r>
              <a:rPr lang="en-US" sz="3600" dirty="0"/>
              <a:t>Addressing modes)</a:t>
            </a:r>
            <a:r>
              <a:rPr lang="en-US" sz="6600" b="1" dirty="0"/>
              <a:t/>
            </a:r>
            <a:br>
              <a:rPr lang="en-US" sz="6600" b="1" dirty="0"/>
            </a:br>
            <a:r>
              <a:rPr lang="en-US" sz="3600" dirty="0" smtClean="0"/>
              <a:t/>
            </a:r>
            <a:br>
              <a:rPr lang="en-US" sz="3600" dirty="0" smtClean="0"/>
            </a:br>
            <a:endParaRPr lang="en-US" i="1" dirty="0"/>
          </a:p>
        </p:txBody>
      </p:sp>
    </p:spTree>
    <p:extLst>
      <p:ext uri="{BB962C8B-B14F-4D97-AF65-F5344CB8AC3E}">
        <p14:creationId xmlns:p14="http://schemas.microsoft.com/office/powerpoint/2010/main" val="382342102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Overview</a:t>
            </a:r>
          </a:p>
        </p:txBody>
      </p:sp>
      <p:sp>
        <p:nvSpPr>
          <p:cNvPr id="4" name="Rectangle 3"/>
          <p:cNvSpPr/>
          <p:nvPr/>
        </p:nvSpPr>
        <p:spPr>
          <a:xfrm>
            <a:off x="1066800" y="990600"/>
            <a:ext cx="7772400" cy="5159554"/>
          </a:xfrm>
          <a:prstGeom prst="rect">
            <a:avLst/>
          </a:prstGeom>
        </p:spPr>
        <p:txBody>
          <a:bodyPr wrap="square">
            <a:spAutoFit/>
          </a:bodyPr>
          <a:lstStyle/>
          <a:p>
            <a:pPr>
              <a:lnSpc>
                <a:spcPct val="107000"/>
              </a:lnSpc>
              <a:spcAft>
                <a:spcPts val="800"/>
              </a:spcAft>
            </a:pPr>
            <a:r>
              <a:rPr lang="en-GB" sz="2400" b="1" dirty="0">
                <a:solidFill>
                  <a:srgbClr val="0070C0"/>
                </a:solidFill>
                <a:latin typeface="Calibri" panose="020F0502020204030204" pitchFamily="34" charset="0"/>
                <a:ea typeface="Calibri" panose="020F0502020204030204" pitchFamily="34" charset="0"/>
                <a:cs typeface="Arial" panose="020B0604020202020204" pitchFamily="34" charset="0"/>
              </a:rPr>
              <a:t>Introduction to this Lecture's activities </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1500"/>
              </a:spcBef>
              <a:spcAft>
                <a:spcPts val="1700"/>
              </a:spcAft>
            </a:pPr>
            <a:r>
              <a:rPr lang="en-US" dirty="0">
                <a:latin typeface="Calibri" panose="020F0502020204030204" pitchFamily="34" charset="0"/>
                <a:ea typeface="Times New Roman" panose="02020603050405020304" pitchFamily="18" charset="0"/>
                <a:cs typeface="Calibri" panose="020F0502020204030204" pitchFamily="34" charset="0"/>
              </a:rPr>
              <a:t>In this lecture, you will learn how computer components work, and how they fit together to create useful computer systems. This lecture illustrates basic computer organization and introduces many fundamental concepts, including the fetch-decode-execute cycle, the data path, clocks and buses, register transfer notation, and of course, the CPU</a:t>
            </a:r>
            <a:r>
              <a:rPr lang="en-US" dirty="0" smtClean="0">
                <a:latin typeface="Calibri" panose="020F0502020204030204" pitchFamily="34" charset="0"/>
                <a:ea typeface="Times New Roman" panose="02020603050405020304" pitchFamily="18" charset="0"/>
                <a:cs typeface="Calibri" panose="020F0502020204030204" pitchFamily="34" charset="0"/>
              </a:rPr>
              <a:t>.</a:t>
            </a:r>
          </a:p>
          <a:p>
            <a:pPr>
              <a:lnSpc>
                <a:spcPct val="107000"/>
              </a:lnSpc>
              <a:spcBef>
                <a:spcPts val="1500"/>
              </a:spcBef>
              <a:spcAft>
                <a:spcPts val="1700"/>
              </a:spcAft>
            </a:pPr>
            <a:r>
              <a:rPr lang="en-US" dirty="0" smtClean="0">
                <a:latin typeface="Calibri" panose="020F0502020204030204" pitchFamily="34" charset="0"/>
                <a:ea typeface="Calibri" panose="020F0502020204030204" pitchFamily="34" charset="0"/>
                <a:cs typeface="Calibri" panose="020F0502020204030204" pitchFamily="34" charset="0"/>
              </a:rPr>
              <a:t>In addition, </a:t>
            </a:r>
            <a:r>
              <a:rPr lang="en-US" dirty="0"/>
              <a:t>you will learn how the Instruction Set Architecture (ISA) plays the role of an interface between the software and Hardware. Mainly, you will have a look at MARIE, which has a very simple, yet powerful, instruction set.</a:t>
            </a:r>
          </a:p>
          <a:p>
            <a:pPr>
              <a:lnSpc>
                <a:spcPct val="107000"/>
              </a:lnSpc>
              <a:spcBef>
                <a:spcPts val="1500"/>
              </a:spcBef>
              <a:spcAft>
                <a:spcPts val="1700"/>
              </a:spcAft>
              <a:buSzPts val="1200"/>
            </a:pPr>
            <a:r>
              <a:rPr lang="en-US" dirty="0">
                <a:latin typeface="Calibri" panose="020F0502020204030204" pitchFamily="34" charset="0"/>
                <a:ea typeface="Calibri" panose="020F0502020204030204" pitchFamily="34" charset="0"/>
                <a:cs typeface="Calibri" panose="020F0502020204030204" pitchFamily="34" charset="0"/>
              </a:rPr>
              <a:t>Moreover, you will have a detailed look at different instruction formats, operand types, and memory access methods. Although addressing is an instruction design issue, there are many aspects to consider, the most important of which is addressing modes</a:t>
            </a:r>
            <a:r>
              <a:rPr lang="en-US" dirty="0" smtClean="0">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 name="Date Placeholder 4"/>
          <p:cNvSpPr>
            <a:spLocks noGrp="1"/>
          </p:cNvSpPr>
          <p:nvPr>
            <p:ph type="dt" sz="half" idx="10"/>
          </p:nvPr>
        </p:nvSpPr>
        <p:spPr/>
        <p:txBody>
          <a:bodyPr/>
          <a:lstStyle/>
          <a:p>
            <a:fld id="{28B3056A-3309-45B3-A2FC-D91BFCA07220}"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dirty="0"/>
          </a:p>
        </p:txBody>
      </p:sp>
      <p:sp>
        <p:nvSpPr>
          <p:cNvPr id="7" name="Slide Number Placeholder 6"/>
          <p:cNvSpPr>
            <a:spLocks noGrp="1"/>
          </p:cNvSpPr>
          <p:nvPr>
            <p:ph type="sldNum" sz="quarter" idx="12"/>
          </p:nvPr>
        </p:nvSpPr>
        <p:spPr/>
        <p:txBody>
          <a:bodyPr/>
          <a:lstStyle/>
          <a:p>
            <a:fld id="{20042AC5-0839-4BB6-BBC0-636ECAAE7EE1}" type="slidenum">
              <a:rPr lang="en-US" smtClean="0"/>
              <a:pPr/>
              <a:t>2</a:t>
            </a:fld>
            <a:endParaRPr lang="en-US"/>
          </a:p>
        </p:txBody>
      </p:sp>
    </p:spTree>
    <p:extLst>
      <p:ext uri="{BB962C8B-B14F-4D97-AF65-F5344CB8AC3E}">
        <p14:creationId xmlns:p14="http://schemas.microsoft.com/office/powerpoint/2010/main" val="36735275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Overview</a:t>
            </a:r>
          </a:p>
        </p:txBody>
      </p:sp>
      <p:sp>
        <p:nvSpPr>
          <p:cNvPr id="4" name="Rectangle 3"/>
          <p:cNvSpPr/>
          <p:nvPr/>
        </p:nvSpPr>
        <p:spPr>
          <a:xfrm>
            <a:off x="1137986" y="1295400"/>
            <a:ext cx="7696200" cy="4236031"/>
          </a:xfrm>
          <a:prstGeom prst="rect">
            <a:avLst/>
          </a:prstGeom>
        </p:spPr>
        <p:txBody>
          <a:bodyPr wrap="square">
            <a:spAutoFit/>
          </a:bodyPr>
          <a:lstStyle/>
          <a:p>
            <a:pPr lvl="0">
              <a:lnSpc>
                <a:spcPct val="107000"/>
              </a:lnSpc>
            </a:pPr>
            <a:r>
              <a:rPr lang="en-US" sz="2000" dirty="0">
                <a:solidFill>
                  <a:prstClr val="black"/>
                </a:solidFill>
                <a:latin typeface="Calibri" panose="020F0502020204030204" pitchFamily="34" charset="0"/>
                <a:ea typeface="Times New Roman" panose="02020603050405020304" pitchFamily="18" charset="0"/>
                <a:cs typeface="Calibri" panose="020F0502020204030204" pitchFamily="34" charset="0"/>
              </a:rPr>
              <a:t>After completing the lecture, you will be able to:</a:t>
            </a:r>
            <a:endParaRPr lang="en-US" sz="2000" dirty="0">
              <a:solidFill>
                <a:prstClr val="black"/>
              </a:solidFill>
              <a:latin typeface="Calibri" panose="020F0502020204030204" pitchFamily="34" charset="0"/>
              <a:ea typeface="Calibri" panose="020F0502020204030204" pitchFamily="34" charset="0"/>
              <a:cs typeface="Arial" panose="020B0604020202020204" pitchFamily="34" charset="0"/>
            </a:endParaRPr>
          </a:p>
          <a:p>
            <a:pPr marL="457200" lvl="0" indent="-457200">
              <a:lnSpc>
                <a:spcPct val="107000"/>
              </a:lnSpc>
              <a:spcBef>
                <a:spcPts val="1500"/>
              </a:spcBef>
              <a:buSzPts val="1200"/>
              <a:buFont typeface="Wingdings" panose="05000000000000000000" pitchFamily="2" charset="2"/>
              <a:buChar char="Ø"/>
            </a:pPr>
            <a:r>
              <a:rPr lang="en-US" sz="2000" dirty="0">
                <a:solidFill>
                  <a:prstClr val="black"/>
                </a:solidFill>
                <a:latin typeface="Calibri" panose="020F0502020204030204" pitchFamily="34" charset="0"/>
                <a:ea typeface="Times New Roman" panose="02020603050405020304" pitchFamily="18" charset="0"/>
                <a:cs typeface="Calibri" panose="020F0502020204030204" pitchFamily="34" charset="0"/>
              </a:rPr>
              <a:t>Identify the components common to every modern computer system.</a:t>
            </a:r>
            <a:endParaRPr lang="en-US" sz="2000" dirty="0">
              <a:solidFill>
                <a:prstClr val="black"/>
              </a:solidFill>
              <a:latin typeface="Calibri" panose="020F0502020204030204" pitchFamily="34" charset="0"/>
              <a:ea typeface="Calibri" panose="020F0502020204030204" pitchFamily="34" charset="0"/>
              <a:cs typeface="Arial" panose="020B0604020202020204" pitchFamily="34" charset="0"/>
            </a:endParaRPr>
          </a:p>
          <a:p>
            <a:pPr marL="457200" lvl="0" indent="-457200">
              <a:lnSpc>
                <a:spcPct val="107000"/>
              </a:lnSpc>
              <a:spcBef>
                <a:spcPts val="1500"/>
              </a:spcBef>
              <a:buSzPts val="1200"/>
              <a:buFont typeface="Wingdings" panose="05000000000000000000" pitchFamily="2" charset="2"/>
              <a:buChar char="Ø"/>
            </a:pPr>
            <a:r>
              <a:rPr lang="en-US" sz="2000" dirty="0">
                <a:solidFill>
                  <a:prstClr val="black"/>
                </a:solidFill>
                <a:latin typeface="Calibri" panose="020F0502020204030204" pitchFamily="34" charset="0"/>
                <a:ea typeface="Times New Roman" panose="02020603050405020304" pitchFamily="18" charset="0"/>
                <a:cs typeface="Calibri" panose="020F0502020204030204" pitchFamily="34" charset="0"/>
              </a:rPr>
              <a:t>Explain how each component contributes to program execution.</a:t>
            </a:r>
          </a:p>
          <a:p>
            <a:pPr marL="457200" lvl="0" indent="-457200">
              <a:lnSpc>
                <a:spcPct val="107000"/>
              </a:lnSpc>
              <a:spcBef>
                <a:spcPts val="1500"/>
              </a:spcBef>
              <a:buSzPts val="1200"/>
              <a:buFont typeface="Wingdings" panose="05000000000000000000" pitchFamily="2" charset="2"/>
              <a:buChar char="Ø"/>
            </a:pPr>
            <a:r>
              <a:rPr lang="en-US" sz="2000" dirty="0">
                <a:solidFill>
                  <a:prstClr val="black"/>
                </a:solidFill>
              </a:rPr>
              <a:t>Develop a simple architecture to illuminate the basic concepts that relate to some real architectures.</a:t>
            </a:r>
          </a:p>
          <a:p>
            <a:pPr marL="457200" lvl="0" indent="-457200">
              <a:lnSpc>
                <a:spcPct val="107000"/>
              </a:lnSpc>
              <a:spcBef>
                <a:spcPts val="1500"/>
              </a:spcBef>
              <a:buSzPts val="1200"/>
              <a:buFont typeface="Wingdings" panose="05000000000000000000" pitchFamily="2" charset="2"/>
              <a:buChar char="Ø"/>
            </a:pPr>
            <a:r>
              <a:rPr lang="en-US" sz="2000" dirty="0">
                <a:solidFill>
                  <a:prstClr val="black"/>
                </a:solidFill>
              </a:rPr>
              <a:t>Describe how the program assembly process works</a:t>
            </a:r>
            <a:r>
              <a:rPr lang="en-US" sz="2000" dirty="0" smtClean="0">
                <a:solidFill>
                  <a:prstClr val="black"/>
                </a:solidFill>
              </a:rPr>
              <a:t>.</a:t>
            </a:r>
          </a:p>
          <a:p>
            <a:pPr marL="457200" indent="-457200">
              <a:lnSpc>
                <a:spcPct val="107000"/>
              </a:lnSpc>
              <a:spcBef>
                <a:spcPts val="1500"/>
              </a:spcBef>
              <a:buSzPts val="1200"/>
              <a:buFont typeface="Wingdings" panose="05000000000000000000" pitchFamily="2" charset="2"/>
              <a:buChar char="Ø"/>
            </a:pPr>
            <a:r>
              <a:rPr lang="en-US" sz="2000" dirty="0">
                <a:latin typeface="Calibri" panose="020F0502020204030204" pitchFamily="34" charset="0"/>
                <a:ea typeface="Times New Roman" panose="02020603050405020304" pitchFamily="18" charset="0"/>
                <a:cs typeface="Calibri" panose="020F0502020204030204" pitchFamily="34" charset="0"/>
              </a:rPr>
              <a:t>Identify different memory addressing modes.</a:t>
            </a:r>
            <a:endParaRPr lang="en-US" sz="2000" dirty="0">
              <a:latin typeface="Calibri" panose="020F0502020204030204" pitchFamily="34" charset="0"/>
              <a:ea typeface="Calibri" panose="020F0502020204030204" pitchFamily="34" charset="0"/>
              <a:cs typeface="Arial" panose="020B0604020202020204" pitchFamily="34" charset="0"/>
            </a:endParaRPr>
          </a:p>
          <a:p>
            <a:pPr lvl="0">
              <a:lnSpc>
                <a:spcPct val="107000"/>
              </a:lnSpc>
              <a:spcBef>
                <a:spcPts val="1500"/>
              </a:spcBef>
              <a:buSzPts val="1200"/>
            </a:pPr>
            <a:endParaRPr lang="en-US" sz="2000" dirty="0">
              <a:solidFill>
                <a:prstClr val="black"/>
              </a:solidFill>
            </a:endParaRPr>
          </a:p>
        </p:txBody>
      </p:sp>
      <p:sp>
        <p:nvSpPr>
          <p:cNvPr id="5" name="Date Placeholder 4"/>
          <p:cNvSpPr>
            <a:spLocks noGrp="1"/>
          </p:cNvSpPr>
          <p:nvPr>
            <p:ph type="dt" sz="half" idx="10"/>
          </p:nvPr>
        </p:nvSpPr>
        <p:spPr/>
        <p:txBody>
          <a:bodyPr/>
          <a:lstStyle/>
          <a:p>
            <a:fld id="{20E763E5-8E07-476E-B8B1-41B3BAF01F56}"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dirty="0"/>
          </a:p>
        </p:txBody>
      </p:sp>
      <p:sp>
        <p:nvSpPr>
          <p:cNvPr id="7" name="Slide Number Placeholder 6"/>
          <p:cNvSpPr>
            <a:spLocks noGrp="1"/>
          </p:cNvSpPr>
          <p:nvPr>
            <p:ph type="sldNum" sz="quarter" idx="12"/>
          </p:nvPr>
        </p:nvSpPr>
        <p:spPr/>
        <p:txBody>
          <a:bodyPr/>
          <a:lstStyle/>
          <a:p>
            <a:fld id="{20042AC5-0839-4BB6-BBC0-636ECAAE7EE1}" type="slidenum">
              <a:rPr lang="en-US" smtClean="0"/>
              <a:pPr/>
              <a:t>3</a:t>
            </a:fld>
            <a:endParaRPr lang="en-US"/>
          </a:p>
        </p:txBody>
      </p:sp>
    </p:spTree>
    <p:extLst>
      <p:ext uri="{BB962C8B-B14F-4D97-AF65-F5344CB8AC3E}">
        <p14:creationId xmlns:p14="http://schemas.microsoft.com/office/powerpoint/2010/main" val="540366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Lecture Overview</a:t>
            </a:r>
            <a:endParaRPr lang="en-US" dirty="0"/>
          </a:p>
        </p:txBody>
      </p:sp>
      <p:sp>
        <p:nvSpPr>
          <p:cNvPr id="2" name="Content Placeholder 1"/>
          <p:cNvSpPr>
            <a:spLocks noGrp="1"/>
          </p:cNvSpPr>
          <p:nvPr>
            <p:ph idx="1"/>
          </p:nvPr>
        </p:nvSpPr>
        <p:spPr/>
        <p:txBody>
          <a:bodyPr>
            <a:normAutofit fontScale="77500" lnSpcReduction="20000"/>
          </a:bodyPr>
          <a:lstStyle/>
          <a:p>
            <a:r>
              <a:rPr lang="en-US" b="1" dirty="0" smtClean="0">
                <a:solidFill>
                  <a:srgbClr val="FF0000"/>
                </a:solidFill>
              </a:rPr>
              <a:t>Introduction</a:t>
            </a:r>
          </a:p>
          <a:p>
            <a:pPr lvl="1"/>
            <a:r>
              <a:rPr lang="en-US" dirty="0"/>
              <a:t>CPU Basics and </a:t>
            </a:r>
            <a:r>
              <a:rPr lang="en-US" dirty="0" smtClean="0"/>
              <a:t>Organization</a:t>
            </a:r>
          </a:p>
          <a:p>
            <a:pPr lvl="1"/>
            <a:r>
              <a:rPr lang="en-US" dirty="0"/>
              <a:t>The </a:t>
            </a:r>
            <a:r>
              <a:rPr lang="en-US" dirty="0" smtClean="0"/>
              <a:t>Bus</a:t>
            </a:r>
          </a:p>
          <a:p>
            <a:pPr lvl="1"/>
            <a:r>
              <a:rPr lang="en-US" dirty="0" smtClean="0"/>
              <a:t>Clocks</a:t>
            </a:r>
          </a:p>
          <a:p>
            <a:pPr lvl="1"/>
            <a:r>
              <a:rPr lang="en-US" dirty="0"/>
              <a:t>The </a:t>
            </a:r>
            <a:r>
              <a:rPr lang="en-US" dirty="0" err="1"/>
              <a:t>Input/Output</a:t>
            </a:r>
            <a:r>
              <a:rPr lang="en-US" dirty="0"/>
              <a:t> </a:t>
            </a:r>
            <a:r>
              <a:rPr lang="en-US" dirty="0" smtClean="0"/>
              <a:t>Subsystem</a:t>
            </a:r>
          </a:p>
          <a:p>
            <a:pPr lvl="1"/>
            <a:r>
              <a:rPr lang="en-US" dirty="0"/>
              <a:t>Memory Organization and </a:t>
            </a:r>
            <a:r>
              <a:rPr lang="en-US" dirty="0" smtClean="0"/>
              <a:t>Addressing</a:t>
            </a:r>
          </a:p>
          <a:p>
            <a:pPr lvl="1"/>
            <a:r>
              <a:rPr lang="en-US" dirty="0" smtClean="0"/>
              <a:t>Interrupts</a:t>
            </a:r>
            <a:endParaRPr lang="en-US" b="1" dirty="0" smtClean="0">
              <a:solidFill>
                <a:srgbClr val="FF0000"/>
              </a:solidFill>
            </a:endParaRPr>
          </a:p>
          <a:p>
            <a:r>
              <a:rPr lang="en-US" dirty="0" smtClean="0"/>
              <a:t>Marie </a:t>
            </a:r>
          </a:p>
          <a:p>
            <a:r>
              <a:rPr lang="en-US" dirty="0" smtClean="0"/>
              <a:t>Instruction processing</a:t>
            </a:r>
            <a:endParaRPr lang="en-US" dirty="0"/>
          </a:p>
          <a:p>
            <a:r>
              <a:rPr lang="en-US" dirty="0"/>
              <a:t>A simple program</a:t>
            </a:r>
          </a:p>
          <a:p>
            <a:r>
              <a:rPr lang="en-US" dirty="0" smtClean="0"/>
              <a:t>Extending </a:t>
            </a:r>
            <a:r>
              <a:rPr lang="en-US" dirty="0"/>
              <a:t>our </a:t>
            </a:r>
            <a:r>
              <a:rPr lang="en-US" dirty="0" smtClean="0"/>
              <a:t>ISA</a:t>
            </a:r>
          </a:p>
          <a:p>
            <a:r>
              <a:rPr lang="en-US" dirty="0" smtClean="0"/>
              <a:t>Addressing Modes ( Ch. 5)</a:t>
            </a:r>
            <a:endParaRPr lang="en-US" dirty="0"/>
          </a:p>
        </p:txBody>
      </p:sp>
      <p:sp>
        <p:nvSpPr>
          <p:cNvPr id="4" name="Date Placeholder 3"/>
          <p:cNvSpPr>
            <a:spLocks noGrp="1"/>
          </p:cNvSpPr>
          <p:nvPr>
            <p:ph type="dt" sz="half" idx="10"/>
          </p:nvPr>
        </p:nvSpPr>
        <p:spPr/>
        <p:txBody>
          <a:bodyPr/>
          <a:lstStyle/>
          <a:p>
            <a:fld id="{680782E8-8139-41B5-A79F-90E2058F26F2}" type="datetime3">
              <a:rPr lang="en-US" smtClean="0"/>
              <a:t>14 February 2017</a:t>
            </a:fld>
            <a:endParaRPr lang="en-US"/>
          </a:p>
        </p:txBody>
      </p:sp>
      <p:sp>
        <p:nvSpPr>
          <p:cNvPr id="5" name="Footer Placeholder 4"/>
          <p:cNvSpPr>
            <a:spLocks noGrp="1"/>
          </p:cNvSpPr>
          <p:nvPr>
            <p:ph type="ftr" sz="quarter" idx="11"/>
          </p:nvPr>
        </p:nvSpPr>
        <p:spPr/>
        <p:txBody>
          <a:bodyPr/>
          <a:lstStyle/>
          <a:p>
            <a:r>
              <a:rPr lang="en-US" smtClean="0"/>
              <a:t>T103 - Arab open University</a:t>
            </a:r>
            <a:endParaRPr lang="en-US" dirty="0"/>
          </a:p>
        </p:txBody>
      </p:sp>
      <p:sp>
        <p:nvSpPr>
          <p:cNvPr id="6" name="Slide Number Placeholder 5"/>
          <p:cNvSpPr>
            <a:spLocks noGrp="1"/>
          </p:cNvSpPr>
          <p:nvPr>
            <p:ph type="sldNum" sz="quarter" idx="12"/>
          </p:nvPr>
        </p:nvSpPr>
        <p:spPr/>
        <p:txBody>
          <a:bodyPr/>
          <a:lstStyle/>
          <a:p>
            <a:fld id="{20042AC5-0839-4BB6-BBC0-636ECAAE7EE1}" type="slidenum">
              <a:rPr lang="en-US" smtClean="0"/>
              <a:pPr/>
              <a:t>4</a:t>
            </a:fld>
            <a:endParaRPr lang="en-US"/>
          </a:p>
        </p:txBody>
      </p:sp>
    </p:spTree>
    <p:extLst>
      <p:ext uri="{BB962C8B-B14F-4D97-AF65-F5344CB8AC3E}">
        <p14:creationId xmlns:p14="http://schemas.microsoft.com/office/powerpoint/2010/main" val="35415151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2800" dirty="0"/>
              <a:t>Introduction</a:t>
            </a:r>
          </a:p>
        </p:txBody>
      </p:sp>
      <p:sp>
        <p:nvSpPr>
          <p:cNvPr id="6" name="Content Placeholder 5"/>
          <p:cNvSpPr>
            <a:spLocks noGrp="1"/>
          </p:cNvSpPr>
          <p:nvPr>
            <p:ph idx="1"/>
          </p:nvPr>
        </p:nvSpPr>
        <p:spPr>
          <a:xfrm>
            <a:off x="908383" y="990600"/>
            <a:ext cx="8153400" cy="4525963"/>
          </a:xfrm>
        </p:spPr>
        <p:txBody>
          <a:bodyPr>
            <a:normAutofit/>
          </a:bodyPr>
          <a:lstStyle/>
          <a:p>
            <a:pPr marL="0" indent="0">
              <a:buNone/>
            </a:pPr>
            <a:r>
              <a:rPr lang="en-US" sz="2800" dirty="0" smtClean="0"/>
              <a:t>From Chapter 1, 2 and 3 we learned about:</a:t>
            </a:r>
          </a:p>
          <a:p>
            <a:pPr lvl="1"/>
            <a:r>
              <a:rPr lang="en-US" sz="2400" dirty="0" smtClean="0"/>
              <a:t>Computer systems and components</a:t>
            </a:r>
            <a:endParaRPr lang="en-US" sz="2400" dirty="0"/>
          </a:p>
          <a:p>
            <a:pPr lvl="1"/>
            <a:r>
              <a:rPr lang="en-US" sz="2400" dirty="0" smtClean="0"/>
              <a:t>How data </a:t>
            </a:r>
            <a:r>
              <a:rPr lang="en-US" sz="2400" dirty="0"/>
              <a:t>is stored and manipulated </a:t>
            </a:r>
            <a:r>
              <a:rPr lang="en-US" sz="2400" dirty="0" smtClean="0"/>
              <a:t>inside different computer systems.</a:t>
            </a:r>
            <a:endParaRPr lang="en-US" sz="2400" dirty="0"/>
          </a:p>
          <a:p>
            <a:pPr lvl="1"/>
            <a:r>
              <a:rPr lang="en-US" sz="2400" dirty="0" smtClean="0"/>
              <a:t>The fundamental components of digital circuits.</a:t>
            </a:r>
          </a:p>
          <a:p>
            <a:pPr marL="0" indent="0">
              <a:buNone/>
            </a:pPr>
            <a:r>
              <a:rPr lang="en-US" sz="2800" dirty="0" smtClean="0"/>
              <a:t>From now on, we will be interested in: </a:t>
            </a:r>
          </a:p>
          <a:p>
            <a:pPr lvl="1"/>
            <a:r>
              <a:rPr lang="en-US" sz="2400" dirty="0" smtClean="0"/>
              <a:t>How computer components work?</a:t>
            </a:r>
          </a:p>
          <a:p>
            <a:pPr lvl="1"/>
            <a:r>
              <a:rPr lang="en-US" sz="2400" dirty="0" smtClean="0"/>
              <a:t>and how they fit together to create useful computer systems?</a:t>
            </a:r>
            <a:endParaRPr lang="en-US" sz="2400" dirty="0"/>
          </a:p>
        </p:txBody>
      </p:sp>
      <p:sp>
        <p:nvSpPr>
          <p:cNvPr id="2" name="Date Placeholder 1"/>
          <p:cNvSpPr>
            <a:spLocks noGrp="1"/>
          </p:cNvSpPr>
          <p:nvPr>
            <p:ph type="dt" sz="half" idx="10"/>
          </p:nvPr>
        </p:nvSpPr>
        <p:spPr/>
        <p:txBody>
          <a:bodyPr/>
          <a:lstStyle/>
          <a:p>
            <a:fld id="{53D3F0CF-9138-4C00-8954-235B56F2AD59}" type="datetime3">
              <a:rPr lang="en-US" smtClean="0"/>
              <a:t>14 February 2017</a:t>
            </a:fld>
            <a:endParaRPr lang="en-US"/>
          </a:p>
        </p:txBody>
      </p:sp>
      <p:sp>
        <p:nvSpPr>
          <p:cNvPr id="5" name="Footer Placeholder 4"/>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5</a:t>
            </a:fld>
            <a:endParaRPr lang="en-US"/>
          </a:p>
        </p:txBody>
      </p:sp>
    </p:spTree>
    <p:extLst>
      <p:ext uri="{BB962C8B-B14F-4D97-AF65-F5344CB8AC3E}">
        <p14:creationId xmlns:p14="http://schemas.microsoft.com/office/powerpoint/2010/main" val="31048986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The Von Neumann </a:t>
            </a:r>
            <a:r>
              <a:rPr lang="en-US" sz="2800" dirty="0" smtClean="0"/>
              <a:t>model</a:t>
            </a:r>
            <a:endParaRPr lang="en-US" sz="2800" dirty="0"/>
          </a:p>
        </p:txBody>
      </p:sp>
      <p:sp>
        <p:nvSpPr>
          <p:cNvPr id="4" name="Content Placeholder 3"/>
          <p:cNvSpPr>
            <a:spLocks noGrp="1"/>
          </p:cNvSpPr>
          <p:nvPr>
            <p:ph idx="1"/>
          </p:nvPr>
        </p:nvSpPr>
        <p:spPr/>
        <p:txBody>
          <a:bodyPr>
            <a:normAutofit fontScale="85000" lnSpcReduction="10000"/>
          </a:bodyPr>
          <a:lstStyle/>
          <a:p>
            <a:r>
              <a:rPr lang="en-US" dirty="0" smtClean="0"/>
              <a:t>The Von Neumann architecture is shown in Figure 1.4 </a:t>
            </a:r>
          </a:p>
          <a:p>
            <a:r>
              <a:rPr lang="en-US" dirty="0" smtClean="0"/>
              <a:t>It </a:t>
            </a:r>
            <a:r>
              <a:rPr lang="en-US" dirty="0"/>
              <a:t>satisfies at least the following characteristics</a:t>
            </a:r>
          </a:p>
          <a:p>
            <a:pPr lvl="1"/>
            <a:r>
              <a:rPr lang="en-US" dirty="0"/>
              <a:t>Consists of three hardware </a:t>
            </a:r>
            <a:r>
              <a:rPr lang="en-US" dirty="0" smtClean="0"/>
              <a:t>systems</a:t>
            </a:r>
            <a:endParaRPr lang="en-US" dirty="0"/>
          </a:p>
          <a:p>
            <a:pPr lvl="2"/>
            <a:r>
              <a:rPr lang="en-US" dirty="0"/>
              <a:t>A </a:t>
            </a:r>
            <a:r>
              <a:rPr lang="en-US" i="1" dirty="0"/>
              <a:t>central processing unit </a:t>
            </a:r>
            <a:r>
              <a:rPr lang="en-US" dirty="0"/>
              <a:t>(</a:t>
            </a:r>
            <a:r>
              <a:rPr lang="en-US" i="1" dirty="0"/>
              <a:t>CPU</a:t>
            </a:r>
            <a:r>
              <a:rPr lang="en-US" dirty="0"/>
              <a:t>) with a control unit, an </a:t>
            </a:r>
            <a:r>
              <a:rPr lang="en-US" i="1" dirty="0"/>
              <a:t>arithmetic logic unit </a:t>
            </a:r>
            <a:r>
              <a:rPr lang="en-US" dirty="0"/>
              <a:t>(</a:t>
            </a:r>
            <a:r>
              <a:rPr lang="en-US" i="1" dirty="0"/>
              <a:t>ALU</a:t>
            </a:r>
            <a:r>
              <a:rPr lang="en-US" dirty="0"/>
              <a:t>), </a:t>
            </a:r>
            <a:r>
              <a:rPr lang="en-US" i="1" dirty="0"/>
              <a:t>registers </a:t>
            </a:r>
            <a:r>
              <a:rPr lang="en-US" dirty="0"/>
              <a:t>(small storage areas), and a program counter;</a:t>
            </a:r>
          </a:p>
          <a:p>
            <a:pPr lvl="2"/>
            <a:r>
              <a:rPr lang="en-US" dirty="0"/>
              <a:t>a </a:t>
            </a:r>
            <a:r>
              <a:rPr lang="en-US" i="1" dirty="0"/>
              <a:t>main-memory system, </a:t>
            </a:r>
            <a:r>
              <a:rPr lang="en-US" dirty="0"/>
              <a:t>which holds programs that control the computer’s operation;</a:t>
            </a:r>
          </a:p>
          <a:p>
            <a:pPr lvl="2"/>
            <a:r>
              <a:rPr lang="en-US" dirty="0"/>
              <a:t>and an </a:t>
            </a:r>
            <a:r>
              <a:rPr lang="en-US" i="1" dirty="0"/>
              <a:t>I/O system.</a:t>
            </a:r>
          </a:p>
          <a:p>
            <a:pPr lvl="1"/>
            <a:r>
              <a:rPr lang="en-US" dirty="0"/>
              <a:t>Capacity to carry out sequential instruction processing</a:t>
            </a:r>
          </a:p>
          <a:p>
            <a:pPr lvl="1"/>
            <a:r>
              <a:rPr lang="en-US" dirty="0"/>
              <a:t>Contains a single path, between the main memory system and the control unit of the </a:t>
            </a:r>
            <a:r>
              <a:rPr lang="en-US" dirty="0" smtClean="0"/>
              <a:t>CPU</a:t>
            </a:r>
            <a:endParaRPr lang="en-US" dirty="0"/>
          </a:p>
        </p:txBody>
      </p:sp>
      <p:sp>
        <p:nvSpPr>
          <p:cNvPr id="5" name="Date Placeholder 4"/>
          <p:cNvSpPr>
            <a:spLocks noGrp="1"/>
          </p:cNvSpPr>
          <p:nvPr>
            <p:ph type="dt" sz="half" idx="10"/>
          </p:nvPr>
        </p:nvSpPr>
        <p:spPr/>
        <p:txBody>
          <a:bodyPr/>
          <a:lstStyle/>
          <a:p>
            <a:fld id="{C2A16657-80CD-46E8-A6FC-9EFE6CF3C013}"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6</a:t>
            </a:fld>
            <a:endParaRPr lang="en-US"/>
          </a:p>
        </p:txBody>
      </p:sp>
    </p:spTree>
    <p:extLst>
      <p:ext uri="{BB962C8B-B14F-4D97-AF65-F5344CB8AC3E}">
        <p14:creationId xmlns:p14="http://schemas.microsoft.com/office/powerpoint/2010/main" val="9188005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The Von Neumann </a:t>
            </a:r>
            <a:r>
              <a:rPr lang="en-US" sz="2800" dirty="0" smtClean="0"/>
              <a:t>model</a:t>
            </a:r>
            <a:endParaRPr lang="en-US" sz="2800" dirty="0"/>
          </a:p>
        </p:txBody>
      </p:sp>
      <p:sp>
        <p:nvSpPr>
          <p:cNvPr id="4" name="Content Placeholder 3"/>
          <p:cNvSpPr>
            <a:spLocks noGrp="1"/>
          </p:cNvSpPr>
          <p:nvPr>
            <p:ph idx="1"/>
          </p:nvPr>
        </p:nvSpPr>
        <p:spPr/>
        <p:txBody>
          <a:bodyPr>
            <a:normAutofit fontScale="85000" lnSpcReduction="10000"/>
          </a:bodyPr>
          <a:lstStyle/>
          <a:p>
            <a:r>
              <a:rPr lang="en-US" dirty="0" smtClean="0"/>
              <a:t>The Von Neumann architecture is shown in Figure 1.4 </a:t>
            </a:r>
          </a:p>
          <a:p>
            <a:r>
              <a:rPr lang="en-US" dirty="0" smtClean="0"/>
              <a:t>It </a:t>
            </a:r>
            <a:r>
              <a:rPr lang="en-US" dirty="0"/>
              <a:t>satisfies at least the following characteristics</a:t>
            </a:r>
          </a:p>
          <a:p>
            <a:pPr lvl="1"/>
            <a:r>
              <a:rPr lang="en-US" dirty="0"/>
              <a:t>Consists of three hardware </a:t>
            </a:r>
            <a:r>
              <a:rPr lang="en-US" dirty="0" smtClean="0"/>
              <a:t>systems</a:t>
            </a:r>
            <a:endParaRPr lang="en-US" dirty="0"/>
          </a:p>
          <a:p>
            <a:pPr lvl="2"/>
            <a:r>
              <a:rPr lang="en-US" dirty="0"/>
              <a:t>A </a:t>
            </a:r>
            <a:r>
              <a:rPr lang="en-US" i="1" dirty="0"/>
              <a:t>central processing unit </a:t>
            </a:r>
            <a:r>
              <a:rPr lang="en-US" dirty="0"/>
              <a:t>(</a:t>
            </a:r>
            <a:r>
              <a:rPr lang="en-US" i="1" dirty="0"/>
              <a:t>CPU</a:t>
            </a:r>
            <a:r>
              <a:rPr lang="en-US" dirty="0"/>
              <a:t>) with a control unit, an </a:t>
            </a:r>
            <a:r>
              <a:rPr lang="en-US" i="1" dirty="0"/>
              <a:t>arithmetic logic unit </a:t>
            </a:r>
            <a:r>
              <a:rPr lang="en-US" dirty="0"/>
              <a:t>(</a:t>
            </a:r>
            <a:r>
              <a:rPr lang="en-US" i="1" dirty="0"/>
              <a:t>ALU</a:t>
            </a:r>
            <a:r>
              <a:rPr lang="en-US" dirty="0"/>
              <a:t>), </a:t>
            </a:r>
            <a:r>
              <a:rPr lang="en-US" i="1" dirty="0"/>
              <a:t>registers </a:t>
            </a:r>
            <a:r>
              <a:rPr lang="en-US" dirty="0"/>
              <a:t>(small storage areas), and a program counter;</a:t>
            </a:r>
          </a:p>
          <a:p>
            <a:pPr lvl="2"/>
            <a:r>
              <a:rPr lang="en-US" dirty="0"/>
              <a:t>a </a:t>
            </a:r>
            <a:r>
              <a:rPr lang="en-US" i="1" dirty="0"/>
              <a:t>main-memory system, </a:t>
            </a:r>
            <a:r>
              <a:rPr lang="en-US" dirty="0"/>
              <a:t>which holds programs that control the computer’s operation;</a:t>
            </a:r>
          </a:p>
          <a:p>
            <a:pPr lvl="2"/>
            <a:r>
              <a:rPr lang="en-US" dirty="0"/>
              <a:t>and an </a:t>
            </a:r>
            <a:r>
              <a:rPr lang="en-US" i="1" dirty="0"/>
              <a:t>I/O system.</a:t>
            </a:r>
          </a:p>
          <a:p>
            <a:pPr lvl="1"/>
            <a:r>
              <a:rPr lang="en-US" dirty="0"/>
              <a:t>Capacity to carry out sequential instruction processing</a:t>
            </a:r>
          </a:p>
          <a:p>
            <a:pPr lvl="1"/>
            <a:r>
              <a:rPr lang="en-US" dirty="0"/>
              <a:t>Contains a single path, between the main memory system and the control unit of the </a:t>
            </a:r>
            <a:r>
              <a:rPr lang="en-US" dirty="0" smtClean="0"/>
              <a:t>CPU</a:t>
            </a:r>
            <a:endParaRPr lang="en-US" dirty="0"/>
          </a:p>
        </p:txBody>
      </p:sp>
      <p:sp>
        <p:nvSpPr>
          <p:cNvPr id="5" name="Date Placeholder 4"/>
          <p:cNvSpPr>
            <a:spLocks noGrp="1"/>
          </p:cNvSpPr>
          <p:nvPr>
            <p:ph type="dt" sz="half" idx="10"/>
          </p:nvPr>
        </p:nvSpPr>
        <p:spPr/>
        <p:txBody>
          <a:bodyPr/>
          <a:lstStyle/>
          <a:p>
            <a:fld id="{B5B88E24-2834-4CF7-AFC0-A6AAD4E6FC7D}" type="datetime3">
              <a:rPr lang="en-US" smtClean="0">
                <a:solidFill>
                  <a:prstClr val="black">
                    <a:tint val="75000"/>
                  </a:prstClr>
                </a:solidFill>
              </a:rPr>
              <a:t>14 February 2017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7</a:t>
            </a:fld>
            <a:endParaRPr lang="en-US"/>
          </a:p>
        </p:txBody>
      </p:sp>
    </p:spTree>
    <p:extLst>
      <p:ext uri="{BB962C8B-B14F-4D97-AF65-F5344CB8AC3E}">
        <p14:creationId xmlns:p14="http://schemas.microsoft.com/office/powerpoint/2010/main" val="10427930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The Von Neumann model</a:t>
            </a:r>
            <a:endParaRPr lang="en-US" sz="2800" dirty="0"/>
          </a:p>
        </p:txBody>
      </p:sp>
      <p:sp>
        <p:nvSpPr>
          <p:cNvPr id="4" name="Content Placeholder 3"/>
          <p:cNvSpPr>
            <a:spLocks noGrp="1"/>
          </p:cNvSpPr>
          <p:nvPr>
            <p:ph idx="1"/>
          </p:nvPr>
        </p:nvSpPr>
        <p:spPr>
          <a:xfrm>
            <a:off x="914400" y="1219200"/>
            <a:ext cx="3962400" cy="4800600"/>
          </a:xfrm>
        </p:spPr>
        <p:txBody>
          <a:bodyPr>
            <a:normAutofit/>
          </a:bodyPr>
          <a:lstStyle/>
          <a:p>
            <a:pPr lvl="1"/>
            <a:r>
              <a:rPr lang="en-US" dirty="0" smtClean="0"/>
              <a:t>A Memory stores both </a:t>
            </a:r>
            <a:r>
              <a:rPr lang="en-US" dirty="0"/>
              <a:t>data and program </a:t>
            </a:r>
            <a:r>
              <a:rPr lang="en-US" dirty="0" smtClean="0"/>
              <a:t>instructions (both binary!)</a:t>
            </a:r>
          </a:p>
          <a:p>
            <a:pPr lvl="1"/>
            <a:r>
              <a:rPr lang="en-US" dirty="0" smtClean="0"/>
              <a:t>The </a:t>
            </a:r>
            <a:r>
              <a:rPr lang="en-US" dirty="0"/>
              <a:t>CPU </a:t>
            </a:r>
            <a:r>
              <a:rPr lang="en-US" b="1" dirty="0"/>
              <a:t>fetches, decodes, and executes </a:t>
            </a:r>
            <a:r>
              <a:rPr lang="en-US" dirty="0"/>
              <a:t>program </a:t>
            </a:r>
            <a:r>
              <a:rPr lang="en-US" dirty="0" smtClean="0"/>
              <a:t>instructions sequentially</a:t>
            </a:r>
            <a:endParaRPr lang="en-US" dirty="0"/>
          </a:p>
        </p:txBody>
      </p:sp>
      <p:pic>
        <p:nvPicPr>
          <p:cNvPr id="5" name="Content Placeholder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76800" y="1524000"/>
            <a:ext cx="4253853" cy="4187177"/>
          </a:xfrm>
          <a:prstGeom prst="rect">
            <a:avLst/>
          </a:prstGeom>
        </p:spPr>
      </p:pic>
      <p:sp>
        <p:nvSpPr>
          <p:cNvPr id="6" name="Date Placeholder 5"/>
          <p:cNvSpPr>
            <a:spLocks noGrp="1"/>
          </p:cNvSpPr>
          <p:nvPr>
            <p:ph type="dt" sz="half" idx="10"/>
          </p:nvPr>
        </p:nvSpPr>
        <p:spPr/>
        <p:txBody>
          <a:bodyPr/>
          <a:lstStyle/>
          <a:p>
            <a:fld id="{86D844CF-F900-4051-BEE9-6B8C7ED82702}" type="datetime3">
              <a:rPr lang="en-US" smtClean="0">
                <a:solidFill>
                  <a:prstClr val="black">
                    <a:tint val="75000"/>
                  </a:prstClr>
                </a:solidFill>
              </a:rPr>
              <a:t>14 February 2017</a:t>
            </a:fld>
            <a:endParaRPr lang="en-US">
              <a:solidFill>
                <a:prstClr val="black">
                  <a:tint val="75000"/>
                </a:prstClr>
              </a:solidFill>
            </a:endParaRPr>
          </a:p>
        </p:txBody>
      </p:sp>
      <p:sp>
        <p:nvSpPr>
          <p:cNvPr id="7" name="Footer Placeholder 6"/>
          <p:cNvSpPr>
            <a:spLocks noGrp="1"/>
          </p:cNvSpPr>
          <p:nvPr>
            <p:ph type="ftr" sz="quarter" idx="11"/>
          </p:nvPr>
        </p:nvSpPr>
        <p:spPr/>
        <p:txBody>
          <a:bodyPr/>
          <a:lstStyle/>
          <a:p>
            <a:r>
              <a:rPr lang="en-US" smtClean="0"/>
              <a:t>T103 - Arab open University</a:t>
            </a:r>
            <a:endParaRPr lang="en-US"/>
          </a:p>
        </p:txBody>
      </p:sp>
      <p:sp>
        <p:nvSpPr>
          <p:cNvPr id="8" name="Slide Number Placeholder 7"/>
          <p:cNvSpPr>
            <a:spLocks noGrp="1"/>
          </p:cNvSpPr>
          <p:nvPr>
            <p:ph type="sldNum" sz="quarter" idx="12"/>
          </p:nvPr>
        </p:nvSpPr>
        <p:spPr/>
        <p:txBody>
          <a:bodyPr/>
          <a:lstStyle/>
          <a:p>
            <a:fld id="{20042AC5-0839-4BB6-BBC0-636ECAAE7EE1}" type="slidenum">
              <a:rPr lang="en-US" smtClean="0"/>
              <a:pPr/>
              <a:t>8</a:t>
            </a:fld>
            <a:endParaRPr lang="en-US"/>
          </a:p>
        </p:txBody>
      </p:sp>
    </p:spTree>
    <p:extLst>
      <p:ext uri="{BB962C8B-B14F-4D97-AF65-F5344CB8AC3E}">
        <p14:creationId xmlns:p14="http://schemas.microsoft.com/office/powerpoint/2010/main" val="3965918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The Von Neumann </a:t>
            </a:r>
            <a:r>
              <a:rPr lang="en-US" sz="2800" dirty="0" smtClean="0"/>
              <a:t>model</a:t>
            </a:r>
            <a:endParaRPr lang="en-US" sz="2800" dirty="0"/>
          </a:p>
        </p:txBody>
      </p:sp>
      <p:sp>
        <p:nvSpPr>
          <p:cNvPr id="4" name="Content Placeholder 3"/>
          <p:cNvSpPr>
            <a:spLocks noGrp="1"/>
          </p:cNvSpPr>
          <p:nvPr>
            <p:ph idx="1"/>
          </p:nvPr>
        </p:nvSpPr>
        <p:spPr/>
        <p:txBody>
          <a:bodyPr>
            <a:normAutofit fontScale="70000" lnSpcReduction="20000"/>
          </a:bodyPr>
          <a:lstStyle/>
          <a:p>
            <a:r>
              <a:rPr lang="en-US" dirty="0" smtClean="0"/>
              <a:t>Program instructions are stored inside the main memory</a:t>
            </a:r>
          </a:p>
          <a:p>
            <a:r>
              <a:rPr lang="en-US" dirty="0" smtClean="0"/>
              <a:t>The machine runs the programs sequentially (instruction per instruction – machine instruction)</a:t>
            </a:r>
          </a:p>
          <a:p>
            <a:r>
              <a:rPr lang="en-US" dirty="0" smtClean="0"/>
              <a:t>Each machine instruction is fetched, decoded and executed during one cycle known as the </a:t>
            </a:r>
            <a:r>
              <a:rPr lang="en-US" i="1" dirty="0"/>
              <a:t>von </a:t>
            </a:r>
            <a:r>
              <a:rPr lang="en-US" i="1" dirty="0" smtClean="0"/>
              <a:t>Neumann execution </a:t>
            </a:r>
            <a:r>
              <a:rPr lang="en-US" i="1" dirty="0"/>
              <a:t>cycle </a:t>
            </a:r>
            <a:r>
              <a:rPr lang="en-US" dirty="0"/>
              <a:t>(also called the </a:t>
            </a:r>
            <a:r>
              <a:rPr lang="en-US" i="1" dirty="0"/>
              <a:t>fetch-decode-execute cycle</a:t>
            </a:r>
            <a:r>
              <a:rPr lang="en-US" dirty="0"/>
              <a:t>)</a:t>
            </a:r>
            <a:endParaRPr lang="en-US" dirty="0" smtClean="0"/>
          </a:p>
          <a:p>
            <a:r>
              <a:rPr lang="en-US" dirty="0" smtClean="0"/>
              <a:t>One </a:t>
            </a:r>
            <a:r>
              <a:rPr lang="en-US" dirty="0"/>
              <a:t>iteration of the cycle is as follows:</a:t>
            </a:r>
          </a:p>
          <a:p>
            <a:pPr marL="400050" lvl="1" indent="0">
              <a:buNone/>
            </a:pPr>
            <a:r>
              <a:rPr lang="en-US" b="1" dirty="0"/>
              <a:t>1. </a:t>
            </a:r>
            <a:r>
              <a:rPr lang="en-US" dirty="0"/>
              <a:t>The control unit fetches the next program instruction from the memory, </a:t>
            </a:r>
            <a:r>
              <a:rPr lang="en-US" dirty="0" smtClean="0"/>
              <a:t>using the </a:t>
            </a:r>
            <a:r>
              <a:rPr lang="en-US" dirty="0"/>
              <a:t>program counter to determine where the instruction is located.</a:t>
            </a:r>
          </a:p>
          <a:p>
            <a:pPr marL="400050" lvl="1" indent="0">
              <a:buNone/>
            </a:pPr>
            <a:r>
              <a:rPr lang="en-US" b="1" dirty="0"/>
              <a:t>2. </a:t>
            </a:r>
            <a:r>
              <a:rPr lang="en-US" dirty="0"/>
              <a:t>The instruction is decoded into a language the ALU can understand.</a:t>
            </a:r>
          </a:p>
          <a:p>
            <a:pPr marL="400050" lvl="1" indent="0">
              <a:buNone/>
            </a:pPr>
            <a:r>
              <a:rPr lang="en-US" b="1" dirty="0"/>
              <a:t>3. </a:t>
            </a:r>
            <a:r>
              <a:rPr lang="en-US" dirty="0"/>
              <a:t>Any data operands required to execute the instruction are fetched from </a:t>
            </a:r>
            <a:r>
              <a:rPr lang="en-US" dirty="0" smtClean="0"/>
              <a:t>memory and </a:t>
            </a:r>
            <a:r>
              <a:rPr lang="en-US" dirty="0"/>
              <a:t>placed into registers within the CPU.</a:t>
            </a:r>
          </a:p>
          <a:p>
            <a:pPr marL="400050" lvl="1" indent="0">
              <a:buNone/>
            </a:pPr>
            <a:r>
              <a:rPr lang="en-US" b="1" dirty="0"/>
              <a:t>4. </a:t>
            </a:r>
            <a:r>
              <a:rPr lang="en-US" dirty="0"/>
              <a:t>The ALU executes the instruction and places the results in registers or memory.</a:t>
            </a:r>
          </a:p>
        </p:txBody>
      </p:sp>
      <p:sp>
        <p:nvSpPr>
          <p:cNvPr id="5" name="Date Placeholder 4"/>
          <p:cNvSpPr>
            <a:spLocks noGrp="1"/>
          </p:cNvSpPr>
          <p:nvPr>
            <p:ph type="dt" sz="half" idx="10"/>
          </p:nvPr>
        </p:nvSpPr>
        <p:spPr/>
        <p:txBody>
          <a:bodyPr/>
          <a:lstStyle/>
          <a:p>
            <a:fld id="{2C8E6196-0C9D-4D24-A44E-DB0BC6067F10}" type="datetime3">
              <a:rPr lang="en-US" smtClean="0">
                <a:solidFill>
                  <a:prstClr val="black">
                    <a:tint val="75000"/>
                  </a:prstClr>
                </a:solidFill>
              </a:rPr>
              <a:t>14 February 2017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9</a:t>
            </a:fld>
            <a:endParaRPr lang="en-US"/>
          </a:p>
        </p:txBody>
      </p:sp>
    </p:spTree>
    <p:extLst>
      <p:ext uri="{BB962C8B-B14F-4D97-AF65-F5344CB8AC3E}">
        <p14:creationId xmlns:p14="http://schemas.microsoft.com/office/powerpoint/2010/main" val="18559371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The Von Neumann </a:t>
            </a:r>
            <a:r>
              <a:rPr lang="en-US" sz="2800" dirty="0" smtClean="0"/>
              <a:t>model</a:t>
            </a:r>
            <a:endParaRPr lang="en-US" sz="2800" dirty="0"/>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86200" y="1146823"/>
            <a:ext cx="5105400" cy="5025377"/>
          </a:xfrm>
        </p:spPr>
      </p:pic>
      <p:sp>
        <p:nvSpPr>
          <p:cNvPr id="4" name="Rectangle 3"/>
          <p:cNvSpPr/>
          <p:nvPr/>
        </p:nvSpPr>
        <p:spPr>
          <a:xfrm>
            <a:off x="4191000" y="1752600"/>
            <a:ext cx="1219200" cy="381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p:nvSpPr>
        <p:spPr>
          <a:xfrm>
            <a:off x="5867400" y="3581400"/>
            <a:ext cx="990600" cy="762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5" name="TextBox 14"/>
          <p:cNvSpPr txBox="1"/>
          <p:nvPr/>
        </p:nvSpPr>
        <p:spPr>
          <a:xfrm>
            <a:off x="7454537" y="1282337"/>
            <a:ext cx="1371600" cy="307777"/>
          </a:xfrm>
          <a:prstGeom prst="rect">
            <a:avLst/>
          </a:prstGeom>
          <a:noFill/>
          <a:ln>
            <a:solidFill>
              <a:schemeClr val="tx2"/>
            </a:solidFill>
          </a:ln>
        </p:spPr>
        <p:txBody>
          <a:bodyPr wrap="square" rtlCol="0">
            <a:spAutoFit/>
          </a:bodyPr>
          <a:lstStyle/>
          <a:p>
            <a:pPr algn="ctr"/>
            <a:r>
              <a:rPr lang="en-US" sz="1400" dirty="0" smtClean="0">
                <a:solidFill>
                  <a:prstClr val="black"/>
                </a:solidFill>
              </a:rPr>
              <a:t>Instruction 1</a:t>
            </a:r>
            <a:endParaRPr lang="en-US" sz="1400" dirty="0">
              <a:solidFill>
                <a:prstClr val="black"/>
              </a:solidFill>
            </a:endParaRPr>
          </a:p>
        </p:txBody>
      </p:sp>
      <p:sp>
        <p:nvSpPr>
          <p:cNvPr id="16" name="TextBox 15"/>
          <p:cNvSpPr txBox="1"/>
          <p:nvPr/>
        </p:nvSpPr>
        <p:spPr>
          <a:xfrm>
            <a:off x="7454537" y="1600200"/>
            <a:ext cx="1371600" cy="307777"/>
          </a:xfrm>
          <a:prstGeom prst="rect">
            <a:avLst/>
          </a:prstGeom>
          <a:noFill/>
          <a:ln>
            <a:solidFill>
              <a:schemeClr val="tx2"/>
            </a:solidFill>
          </a:ln>
        </p:spPr>
        <p:txBody>
          <a:bodyPr wrap="square" rtlCol="0">
            <a:spAutoFit/>
          </a:bodyPr>
          <a:lstStyle/>
          <a:p>
            <a:pPr algn="ctr"/>
            <a:r>
              <a:rPr lang="en-US" sz="1400" dirty="0" smtClean="0">
                <a:solidFill>
                  <a:prstClr val="black"/>
                </a:solidFill>
              </a:rPr>
              <a:t>Instruction 2</a:t>
            </a:r>
            <a:endParaRPr lang="en-US" sz="1400" dirty="0">
              <a:solidFill>
                <a:prstClr val="black"/>
              </a:solidFill>
            </a:endParaRPr>
          </a:p>
        </p:txBody>
      </p:sp>
      <p:sp>
        <p:nvSpPr>
          <p:cNvPr id="17" name="TextBox 16"/>
          <p:cNvSpPr txBox="1"/>
          <p:nvPr/>
        </p:nvSpPr>
        <p:spPr>
          <a:xfrm>
            <a:off x="7454537" y="1902023"/>
            <a:ext cx="1371600" cy="307777"/>
          </a:xfrm>
          <a:prstGeom prst="rect">
            <a:avLst/>
          </a:prstGeom>
          <a:noFill/>
          <a:ln>
            <a:solidFill>
              <a:schemeClr val="tx2"/>
            </a:solidFill>
          </a:ln>
        </p:spPr>
        <p:txBody>
          <a:bodyPr wrap="square" rtlCol="0">
            <a:spAutoFit/>
          </a:bodyPr>
          <a:lstStyle/>
          <a:p>
            <a:pPr algn="ctr"/>
            <a:r>
              <a:rPr lang="en-US" sz="1400" dirty="0" smtClean="0">
                <a:solidFill>
                  <a:prstClr val="black"/>
                </a:solidFill>
              </a:rPr>
              <a:t>Instruction 3</a:t>
            </a:r>
            <a:endParaRPr lang="en-US" sz="1400" dirty="0">
              <a:solidFill>
                <a:prstClr val="black"/>
              </a:solidFill>
            </a:endParaRPr>
          </a:p>
        </p:txBody>
      </p:sp>
      <p:sp>
        <p:nvSpPr>
          <p:cNvPr id="18" name="TextBox 17"/>
          <p:cNvSpPr txBox="1"/>
          <p:nvPr/>
        </p:nvSpPr>
        <p:spPr>
          <a:xfrm>
            <a:off x="7454537" y="2219886"/>
            <a:ext cx="1371600" cy="307777"/>
          </a:xfrm>
          <a:prstGeom prst="rect">
            <a:avLst/>
          </a:prstGeom>
          <a:noFill/>
          <a:ln>
            <a:solidFill>
              <a:schemeClr val="tx2"/>
            </a:solidFill>
          </a:ln>
        </p:spPr>
        <p:txBody>
          <a:bodyPr wrap="square" rtlCol="0">
            <a:spAutoFit/>
          </a:bodyPr>
          <a:lstStyle/>
          <a:p>
            <a:pPr algn="ctr"/>
            <a:r>
              <a:rPr lang="en-US" sz="1400" dirty="0" smtClean="0">
                <a:solidFill>
                  <a:prstClr val="black"/>
                </a:solidFill>
              </a:rPr>
              <a:t>Instruction 4</a:t>
            </a:r>
            <a:endParaRPr lang="en-US" sz="1400" dirty="0">
              <a:solidFill>
                <a:prstClr val="black"/>
              </a:solidFill>
            </a:endParaRPr>
          </a:p>
        </p:txBody>
      </p:sp>
      <p:sp>
        <p:nvSpPr>
          <p:cNvPr id="19" name="TextBox 18"/>
          <p:cNvSpPr txBox="1"/>
          <p:nvPr/>
        </p:nvSpPr>
        <p:spPr>
          <a:xfrm>
            <a:off x="7467600" y="3187337"/>
            <a:ext cx="1371600" cy="307777"/>
          </a:xfrm>
          <a:prstGeom prst="rect">
            <a:avLst/>
          </a:prstGeom>
          <a:noFill/>
          <a:ln>
            <a:solidFill>
              <a:schemeClr val="tx2"/>
            </a:solidFill>
          </a:ln>
        </p:spPr>
        <p:txBody>
          <a:bodyPr wrap="square" rtlCol="0">
            <a:spAutoFit/>
          </a:bodyPr>
          <a:lstStyle/>
          <a:p>
            <a:pPr algn="ctr"/>
            <a:r>
              <a:rPr lang="en-US" sz="1400" dirty="0" smtClean="0">
                <a:solidFill>
                  <a:prstClr val="black"/>
                </a:solidFill>
              </a:rPr>
              <a:t>…</a:t>
            </a:r>
            <a:endParaRPr lang="en-US" sz="1400" dirty="0">
              <a:solidFill>
                <a:prstClr val="black"/>
              </a:solidFill>
            </a:endParaRPr>
          </a:p>
        </p:txBody>
      </p:sp>
      <p:sp>
        <p:nvSpPr>
          <p:cNvPr id="20" name="TextBox 19"/>
          <p:cNvSpPr txBox="1"/>
          <p:nvPr/>
        </p:nvSpPr>
        <p:spPr>
          <a:xfrm>
            <a:off x="7467600" y="3505200"/>
            <a:ext cx="1371600" cy="307777"/>
          </a:xfrm>
          <a:prstGeom prst="rect">
            <a:avLst/>
          </a:prstGeom>
          <a:noFill/>
          <a:ln>
            <a:solidFill>
              <a:schemeClr val="tx2"/>
            </a:solidFill>
          </a:ln>
        </p:spPr>
        <p:txBody>
          <a:bodyPr wrap="square" rtlCol="0">
            <a:spAutoFit/>
          </a:bodyPr>
          <a:lstStyle/>
          <a:p>
            <a:pPr algn="ctr"/>
            <a:r>
              <a:rPr lang="en-US" sz="1400" dirty="0" smtClean="0">
                <a:solidFill>
                  <a:prstClr val="black"/>
                </a:solidFill>
              </a:rPr>
              <a:t>…</a:t>
            </a:r>
            <a:endParaRPr lang="en-US" sz="1400" dirty="0">
              <a:solidFill>
                <a:prstClr val="black"/>
              </a:solidFill>
            </a:endParaRPr>
          </a:p>
        </p:txBody>
      </p:sp>
      <p:sp>
        <p:nvSpPr>
          <p:cNvPr id="21" name="TextBox 20"/>
          <p:cNvSpPr txBox="1"/>
          <p:nvPr/>
        </p:nvSpPr>
        <p:spPr>
          <a:xfrm>
            <a:off x="7467600" y="3807023"/>
            <a:ext cx="1371600" cy="307777"/>
          </a:xfrm>
          <a:prstGeom prst="rect">
            <a:avLst/>
          </a:prstGeom>
          <a:noFill/>
          <a:ln>
            <a:solidFill>
              <a:schemeClr val="tx2"/>
            </a:solidFill>
          </a:ln>
        </p:spPr>
        <p:txBody>
          <a:bodyPr wrap="square" rtlCol="0">
            <a:spAutoFit/>
          </a:bodyPr>
          <a:lstStyle/>
          <a:p>
            <a:pPr algn="ctr"/>
            <a:r>
              <a:rPr lang="en-US" sz="1400" dirty="0" smtClean="0">
                <a:solidFill>
                  <a:prstClr val="black"/>
                </a:solidFill>
              </a:rPr>
              <a:t>…</a:t>
            </a:r>
            <a:endParaRPr lang="en-US" sz="1400" dirty="0">
              <a:solidFill>
                <a:prstClr val="black"/>
              </a:solidFill>
            </a:endParaRPr>
          </a:p>
        </p:txBody>
      </p:sp>
      <p:sp>
        <p:nvSpPr>
          <p:cNvPr id="22" name="TextBox 21"/>
          <p:cNvSpPr txBox="1"/>
          <p:nvPr/>
        </p:nvSpPr>
        <p:spPr>
          <a:xfrm>
            <a:off x="7467600" y="4124886"/>
            <a:ext cx="1371600" cy="307777"/>
          </a:xfrm>
          <a:prstGeom prst="rect">
            <a:avLst/>
          </a:prstGeom>
          <a:noFill/>
          <a:ln>
            <a:solidFill>
              <a:schemeClr val="tx2"/>
            </a:solidFill>
          </a:ln>
        </p:spPr>
        <p:txBody>
          <a:bodyPr wrap="square" rtlCol="0">
            <a:spAutoFit/>
          </a:bodyPr>
          <a:lstStyle/>
          <a:p>
            <a:pPr algn="ctr"/>
            <a:r>
              <a:rPr lang="en-US" sz="1400" dirty="0" smtClean="0">
                <a:solidFill>
                  <a:prstClr val="black"/>
                </a:solidFill>
              </a:rPr>
              <a:t>Instruction N</a:t>
            </a:r>
            <a:endParaRPr lang="en-US" sz="1400" dirty="0">
              <a:solidFill>
                <a:prstClr val="black"/>
              </a:solidFill>
            </a:endParaRPr>
          </a:p>
        </p:txBody>
      </p:sp>
      <p:sp>
        <p:nvSpPr>
          <p:cNvPr id="23" name="Rectangle 22"/>
          <p:cNvSpPr/>
          <p:nvPr/>
        </p:nvSpPr>
        <p:spPr>
          <a:xfrm>
            <a:off x="7454536" y="1905000"/>
            <a:ext cx="1384663" cy="28531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6" name="TextBox 25"/>
          <p:cNvSpPr txBox="1"/>
          <p:nvPr/>
        </p:nvSpPr>
        <p:spPr>
          <a:xfrm>
            <a:off x="5512526" y="1791789"/>
            <a:ext cx="1143000" cy="307777"/>
          </a:xfrm>
          <a:prstGeom prst="rect">
            <a:avLst/>
          </a:prstGeom>
          <a:solidFill>
            <a:schemeClr val="bg1"/>
          </a:solidFill>
          <a:ln>
            <a:noFill/>
          </a:ln>
        </p:spPr>
        <p:txBody>
          <a:bodyPr wrap="square" rtlCol="0">
            <a:spAutoFit/>
          </a:bodyPr>
          <a:lstStyle/>
          <a:p>
            <a:pPr algn="ctr"/>
            <a:r>
              <a:rPr lang="en-US" sz="1400" b="1" dirty="0" smtClean="0">
                <a:solidFill>
                  <a:srgbClr val="FF0000"/>
                </a:solidFill>
              </a:rPr>
              <a:t>Instruction 3</a:t>
            </a:r>
            <a:endParaRPr lang="en-US" sz="1400" b="1" dirty="0">
              <a:solidFill>
                <a:srgbClr val="FF0000"/>
              </a:solidFill>
            </a:endParaRPr>
          </a:p>
        </p:txBody>
      </p:sp>
      <p:sp>
        <p:nvSpPr>
          <p:cNvPr id="27" name="TextBox 26"/>
          <p:cNvSpPr txBox="1"/>
          <p:nvPr/>
        </p:nvSpPr>
        <p:spPr>
          <a:xfrm>
            <a:off x="990600" y="914400"/>
            <a:ext cx="2819400" cy="2677656"/>
          </a:xfrm>
          <a:prstGeom prst="rect">
            <a:avLst/>
          </a:prstGeom>
          <a:noFill/>
        </p:spPr>
        <p:txBody>
          <a:bodyPr wrap="square" rtlCol="0">
            <a:spAutoFit/>
          </a:bodyPr>
          <a:lstStyle/>
          <a:p>
            <a:pPr marL="457200" indent="-457200">
              <a:buFontTx/>
              <a:buAutoNum type="arabicPeriod"/>
            </a:pPr>
            <a:r>
              <a:rPr lang="en-US" sz="2400" b="1" dirty="0" smtClean="0">
                <a:solidFill>
                  <a:prstClr val="black"/>
                </a:solidFill>
              </a:rPr>
              <a:t>Fetch</a:t>
            </a:r>
          </a:p>
          <a:p>
            <a:pPr marL="914400" lvl="1" indent="-457200">
              <a:buFont typeface="Arial" pitchFamily="34" charset="0"/>
              <a:buChar char="•"/>
            </a:pPr>
            <a:r>
              <a:rPr lang="en-US" sz="2400" b="1" dirty="0" smtClean="0">
                <a:solidFill>
                  <a:prstClr val="black"/>
                </a:solidFill>
              </a:rPr>
              <a:t>PC indicates the iteration number</a:t>
            </a:r>
          </a:p>
          <a:p>
            <a:pPr marL="914400" lvl="1" indent="-457200">
              <a:buFont typeface="Arial" pitchFamily="34" charset="0"/>
              <a:buChar char="•"/>
            </a:pPr>
            <a:r>
              <a:rPr lang="en-US" sz="2400" b="1" dirty="0" smtClean="0">
                <a:solidFill>
                  <a:prstClr val="black"/>
                </a:solidFill>
              </a:rPr>
              <a:t>CU fill the instruction register</a:t>
            </a:r>
            <a:endParaRPr lang="en-US" sz="2400" b="1" dirty="0">
              <a:solidFill>
                <a:prstClr val="black"/>
              </a:solidFill>
            </a:endParaRPr>
          </a:p>
        </p:txBody>
      </p:sp>
      <p:sp>
        <p:nvSpPr>
          <p:cNvPr id="28" name="TextBox 27"/>
          <p:cNvSpPr txBox="1"/>
          <p:nvPr/>
        </p:nvSpPr>
        <p:spPr>
          <a:xfrm>
            <a:off x="990600" y="3581400"/>
            <a:ext cx="2819400" cy="3046988"/>
          </a:xfrm>
          <a:prstGeom prst="rect">
            <a:avLst/>
          </a:prstGeom>
          <a:noFill/>
        </p:spPr>
        <p:txBody>
          <a:bodyPr wrap="square" rtlCol="0">
            <a:spAutoFit/>
          </a:bodyPr>
          <a:lstStyle/>
          <a:p>
            <a:r>
              <a:rPr lang="en-US" sz="2400" b="1" dirty="0" smtClean="0">
                <a:solidFill>
                  <a:prstClr val="black"/>
                </a:solidFill>
              </a:rPr>
              <a:t>2. Decode </a:t>
            </a:r>
          </a:p>
          <a:p>
            <a:pPr marL="800100" lvl="1" indent="-342900">
              <a:buFont typeface="Arial" pitchFamily="34" charset="0"/>
              <a:buChar char="•"/>
            </a:pPr>
            <a:r>
              <a:rPr lang="en-US" sz="2400" b="1" dirty="0" smtClean="0">
                <a:solidFill>
                  <a:prstClr val="black"/>
                </a:solidFill>
              </a:rPr>
              <a:t>what ALU should do (add, multiply, …)?</a:t>
            </a:r>
          </a:p>
          <a:p>
            <a:pPr marL="800100" lvl="1" indent="-342900">
              <a:buFont typeface="Arial" pitchFamily="34" charset="0"/>
              <a:buChar char="•"/>
            </a:pPr>
            <a:r>
              <a:rPr lang="en-US" sz="2400" b="1" dirty="0" smtClean="0">
                <a:solidFill>
                  <a:prstClr val="black"/>
                </a:solidFill>
              </a:rPr>
              <a:t>Fill registers with needed data</a:t>
            </a:r>
            <a:endParaRPr lang="en-US" sz="2400" b="1" dirty="0">
              <a:solidFill>
                <a:prstClr val="black"/>
              </a:solidFill>
            </a:endParaRPr>
          </a:p>
        </p:txBody>
      </p:sp>
      <p:sp>
        <p:nvSpPr>
          <p:cNvPr id="29" name="Rectangle 28"/>
          <p:cNvSpPr/>
          <p:nvPr/>
        </p:nvSpPr>
        <p:spPr>
          <a:xfrm>
            <a:off x="4114800" y="3505199"/>
            <a:ext cx="1397726" cy="9274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0" name="TextBox 29"/>
          <p:cNvSpPr txBox="1"/>
          <p:nvPr/>
        </p:nvSpPr>
        <p:spPr>
          <a:xfrm>
            <a:off x="4191000" y="2206823"/>
            <a:ext cx="1143000" cy="307777"/>
          </a:xfrm>
          <a:prstGeom prst="rect">
            <a:avLst/>
          </a:prstGeom>
          <a:solidFill>
            <a:schemeClr val="bg1"/>
          </a:solidFill>
          <a:ln>
            <a:noFill/>
          </a:ln>
        </p:spPr>
        <p:txBody>
          <a:bodyPr wrap="square" rtlCol="0">
            <a:spAutoFit/>
          </a:bodyPr>
          <a:lstStyle/>
          <a:p>
            <a:pPr algn="ctr"/>
            <a:r>
              <a:rPr lang="en-US" sz="1400" b="1" dirty="0" smtClean="0">
                <a:solidFill>
                  <a:srgbClr val="FF0000"/>
                </a:solidFill>
              </a:rPr>
              <a:t>Data 1</a:t>
            </a:r>
            <a:endParaRPr lang="en-US" sz="1400" b="1" dirty="0">
              <a:solidFill>
                <a:srgbClr val="FF0000"/>
              </a:solidFill>
            </a:endParaRPr>
          </a:p>
        </p:txBody>
      </p:sp>
      <p:sp>
        <p:nvSpPr>
          <p:cNvPr id="31" name="TextBox 30"/>
          <p:cNvSpPr txBox="1"/>
          <p:nvPr/>
        </p:nvSpPr>
        <p:spPr>
          <a:xfrm>
            <a:off x="5486400" y="2206823"/>
            <a:ext cx="1143000" cy="307777"/>
          </a:xfrm>
          <a:prstGeom prst="rect">
            <a:avLst/>
          </a:prstGeom>
          <a:solidFill>
            <a:schemeClr val="bg1"/>
          </a:solidFill>
          <a:ln>
            <a:noFill/>
          </a:ln>
        </p:spPr>
        <p:txBody>
          <a:bodyPr wrap="square" rtlCol="0">
            <a:spAutoFit/>
          </a:bodyPr>
          <a:lstStyle/>
          <a:p>
            <a:pPr algn="ctr"/>
            <a:r>
              <a:rPr lang="en-US" sz="1400" b="1" dirty="0" smtClean="0">
                <a:solidFill>
                  <a:srgbClr val="FF0000"/>
                </a:solidFill>
              </a:rPr>
              <a:t>Data 2</a:t>
            </a:r>
            <a:endParaRPr lang="en-US" sz="1400" b="1" dirty="0">
              <a:solidFill>
                <a:srgbClr val="FF0000"/>
              </a:solidFill>
            </a:endParaRPr>
          </a:p>
        </p:txBody>
      </p:sp>
      <p:sp>
        <p:nvSpPr>
          <p:cNvPr id="7" name="Date Placeholder 6"/>
          <p:cNvSpPr>
            <a:spLocks noGrp="1"/>
          </p:cNvSpPr>
          <p:nvPr>
            <p:ph type="dt" sz="half" idx="10"/>
          </p:nvPr>
        </p:nvSpPr>
        <p:spPr/>
        <p:txBody>
          <a:bodyPr/>
          <a:lstStyle/>
          <a:p>
            <a:fld id="{1B060FB3-CB2F-41BD-A595-F207C7FAE89C}" type="datetime3">
              <a:rPr lang="en-US" smtClean="0">
                <a:solidFill>
                  <a:prstClr val="black">
                    <a:tint val="75000"/>
                  </a:prstClr>
                </a:solidFill>
              </a:rPr>
              <a:t>14 February 2017</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r>
              <a:rPr lang="en-US" smtClean="0"/>
              <a:t>T103 - Arab open University</a:t>
            </a:r>
            <a:endParaRPr lang="en-US"/>
          </a:p>
        </p:txBody>
      </p:sp>
      <p:sp>
        <p:nvSpPr>
          <p:cNvPr id="9" name="Slide Number Placeholder 8"/>
          <p:cNvSpPr>
            <a:spLocks noGrp="1"/>
          </p:cNvSpPr>
          <p:nvPr>
            <p:ph type="sldNum" sz="quarter" idx="12"/>
          </p:nvPr>
        </p:nvSpPr>
        <p:spPr/>
        <p:txBody>
          <a:bodyPr/>
          <a:lstStyle/>
          <a:p>
            <a:fld id="{20042AC5-0839-4BB6-BBC0-636ECAAE7EE1}" type="slidenum">
              <a:rPr lang="en-US" smtClean="0"/>
              <a:pPr/>
              <a:t>10</a:t>
            </a:fld>
            <a:endParaRPr lang="en-US"/>
          </a:p>
        </p:txBody>
      </p:sp>
    </p:spTree>
    <p:extLst>
      <p:ext uri="{BB962C8B-B14F-4D97-AF65-F5344CB8AC3E}">
        <p14:creationId xmlns:p14="http://schemas.microsoft.com/office/powerpoint/2010/main" val="990604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xEl>
                                              <p:pRg st="1" end="1"/>
                                            </p:txEl>
                                          </p:spTgt>
                                        </p:tgtEl>
                                        <p:attrNameLst>
                                          <p:attrName>style.visibility</p:attrName>
                                        </p:attrNameLst>
                                      </p:cBhvr>
                                      <p:to>
                                        <p:strVal val="visible"/>
                                      </p:to>
                                    </p:set>
                                    <p:animEffect transition="in" filter="fade">
                                      <p:cBhvr>
                                        <p:cTn id="7" dur="500"/>
                                        <p:tgtEl>
                                          <p:spTgt spid="27">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4"/>
                                        </p:tgtEl>
                                        <p:attrNameLst>
                                          <p:attrName>style.visibility</p:attrName>
                                        </p:attrNameLst>
                                      </p:cBhvr>
                                      <p:to>
                                        <p:strVal val="hidden"/>
                                      </p:to>
                                    </p:set>
                                  </p:childTnLst>
                                </p:cTn>
                              </p:par>
                              <p:par>
                                <p:cTn id="18" presetID="10" presetClass="entr" presetSubtype="0" fill="hold" nodeType="withEffect">
                                  <p:stCondLst>
                                    <p:cond delay="0"/>
                                  </p:stCondLst>
                                  <p:childTnLst>
                                    <p:set>
                                      <p:cBhvr>
                                        <p:cTn id="19" dur="1" fill="hold">
                                          <p:stCondLst>
                                            <p:cond delay="0"/>
                                          </p:stCondLst>
                                        </p:cTn>
                                        <p:tgtEl>
                                          <p:spTgt spid="27">
                                            <p:txEl>
                                              <p:pRg st="2" end="2"/>
                                            </p:txEl>
                                          </p:spTgt>
                                        </p:tgtEl>
                                        <p:attrNameLst>
                                          <p:attrName>style.visibility</p:attrName>
                                        </p:attrNameLst>
                                      </p:cBhvr>
                                      <p:to>
                                        <p:strVal val="visible"/>
                                      </p:to>
                                    </p:set>
                                    <p:animEffect transition="in" filter="fade">
                                      <p:cBhvr>
                                        <p:cTn id="20" dur="500"/>
                                        <p:tgtEl>
                                          <p:spTgt spid="27">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500"/>
                                        <p:tgtEl>
                                          <p:spTgt spid="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5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23"/>
                                        </p:tgtEl>
                                        <p:attrNameLst>
                                          <p:attrName>style.visibility</p:attrName>
                                        </p:attrNameLst>
                                      </p:cBhvr>
                                      <p:to>
                                        <p:strVal val="hidden"/>
                                      </p:to>
                                    </p:set>
                                  </p:childTnLst>
                                </p:cTn>
                              </p:par>
                              <p:par>
                                <p:cTn id="33" presetID="10" presetClass="entr" presetSubtype="0" fill="hold" nodeType="withEffect">
                                  <p:stCondLst>
                                    <p:cond delay="0"/>
                                  </p:stCondLst>
                                  <p:childTnLst>
                                    <p:set>
                                      <p:cBhvr>
                                        <p:cTn id="34" dur="1" fill="hold">
                                          <p:stCondLst>
                                            <p:cond delay="0"/>
                                          </p:stCondLst>
                                        </p:cTn>
                                        <p:tgtEl>
                                          <p:spTgt spid="28">
                                            <p:txEl>
                                              <p:pRg st="0" end="0"/>
                                            </p:txEl>
                                          </p:spTgt>
                                        </p:tgtEl>
                                        <p:attrNameLst>
                                          <p:attrName>style.visibility</p:attrName>
                                        </p:attrNameLst>
                                      </p:cBhvr>
                                      <p:to>
                                        <p:strVal val="visible"/>
                                      </p:to>
                                    </p:set>
                                    <p:animEffect transition="in" filter="fade">
                                      <p:cBhvr>
                                        <p:cTn id="35" dur="500"/>
                                        <p:tgtEl>
                                          <p:spTgt spid="28">
                                            <p:txEl>
                                              <p:pRg st="0" end="0"/>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28">
                                            <p:txEl>
                                              <p:pRg st="1" end="1"/>
                                            </p:txEl>
                                          </p:spTgt>
                                        </p:tgtEl>
                                        <p:attrNameLst>
                                          <p:attrName>style.visibility</p:attrName>
                                        </p:attrNameLst>
                                      </p:cBhvr>
                                      <p:to>
                                        <p:strVal val="visible"/>
                                      </p:to>
                                    </p:set>
                                    <p:animEffect transition="in" filter="fade">
                                      <p:cBhvr>
                                        <p:cTn id="38" dur="500"/>
                                        <p:tgtEl>
                                          <p:spTgt spid="28">
                                            <p:txEl>
                                              <p:pRg st="1" end="1"/>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00"/>
                                        <p:tgtEl>
                                          <p:spTgt spid="2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28">
                                            <p:txEl>
                                              <p:pRg st="2" end="2"/>
                                            </p:txEl>
                                          </p:spTgt>
                                        </p:tgtEl>
                                        <p:attrNameLst>
                                          <p:attrName>style.visibility</p:attrName>
                                        </p:attrNameLst>
                                      </p:cBhvr>
                                      <p:to>
                                        <p:strVal val="visible"/>
                                      </p:to>
                                    </p:set>
                                    <p:animEffect transition="in" filter="fade">
                                      <p:cBhvr>
                                        <p:cTn id="46" dur="500"/>
                                        <p:tgtEl>
                                          <p:spTgt spid="28">
                                            <p:txEl>
                                              <p:pRg st="2" end="2"/>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5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6" grpId="0" animBg="1"/>
      <p:bldP spid="23" grpId="0" animBg="1"/>
      <p:bldP spid="23" grpId="1" animBg="1"/>
      <p:bldP spid="26" grpId="0" animBg="1"/>
      <p:bldP spid="27" grpId="0"/>
      <p:bldP spid="29" grpId="0" animBg="1"/>
      <p:bldP spid="30" grpId="0" animBg="1"/>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The Von Neumann </a:t>
            </a:r>
            <a:r>
              <a:rPr lang="en-US" sz="2800" dirty="0" smtClean="0"/>
              <a:t>model</a:t>
            </a:r>
            <a:endParaRPr lang="en-US" sz="2800" dirty="0"/>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86200" y="1146823"/>
            <a:ext cx="5105400" cy="5025377"/>
          </a:xfrm>
        </p:spPr>
      </p:pic>
      <p:sp>
        <p:nvSpPr>
          <p:cNvPr id="15" name="TextBox 14"/>
          <p:cNvSpPr txBox="1"/>
          <p:nvPr/>
        </p:nvSpPr>
        <p:spPr>
          <a:xfrm>
            <a:off x="7454537" y="1282337"/>
            <a:ext cx="1371600" cy="307777"/>
          </a:xfrm>
          <a:prstGeom prst="rect">
            <a:avLst/>
          </a:prstGeom>
          <a:noFill/>
          <a:ln>
            <a:solidFill>
              <a:schemeClr val="tx2"/>
            </a:solidFill>
          </a:ln>
        </p:spPr>
        <p:txBody>
          <a:bodyPr wrap="square" rtlCol="0">
            <a:spAutoFit/>
          </a:bodyPr>
          <a:lstStyle/>
          <a:p>
            <a:pPr algn="ctr"/>
            <a:r>
              <a:rPr lang="en-US" sz="1400" dirty="0" smtClean="0">
                <a:solidFill>
                  <a:prstClr val="black"/>
                </a:solidFill>
              </a:rPr>
              <a:t>Instruction 1</a:t>
            </a:r>
            <a:endParaRPr lang="en-US" sz="1400" dirty="0">
              <a:solidFill>
                <a:prstClr val="black"/>
              </a:solidFill>
            </a:endParaRPr>
          </a:p>
        </p:txBody>
      </p:sp>
      <p:sp>
        <p:nvSpPr>
          <p:cNvPr id="16" name="TextBox 15"/>
          <p:cNvSpPr txBox="1"/>
          <p:nvPr/>
        </p:nvSpPr>
        <p:spPr>
          <a:xfrm>
            <a:off x="7454537" y="1600200"/>
            <a:ext cx="1371600" cy="307777"/>
          </a:xfrm>
          <a:prstGeom prst="rect">
            <a:avLst/>
          </a:prstGeom>
          <a:noFill/>
          <a:ln>
            <a:solidFill>
              <a:schemeClr val="tx2"/>
            </a:solidFill>
          </a:ln>
        </p:spPr>
        <p:txBody>
          <a:bodyPr wrap="square" rtlCol="0">
            <a:spAutoFit/>
          </a:bodyPr>
          <a:lstStyle/>
          <a:p>
            <a:pPr algn="ctr"/>
            <a:r>
              <a:rPr lang="en-US" sz="1400" dirty="0" smtClean="0">
                <a:solidFill>
                  <a:prstClr val="black"/>
                </a:solidFill>
              </a:rPr>
              <a:t>Instruction 2</a:t>
            </a:r>
            <a:endParaRPr lang="en-US" sz="1400" dirty="0">
              <a:solidFill>
                <a:prstClr val="black"/>
              </a:solidFill>
            </a:endParaRPr>
          </a:p>
        </p:txBody>
      </p:sp>
      <p:sp>
        <p:nvSpPr>
          <p:cNvPr id="17" name="TextBox 16"/>
          <p:cNvSpPr txBox="1"/>
          <p:nvPr/>
        </p:nvSpPr>
        <p:spPr>
          <a:xfrm>
            <a:off x="7454537" y="1902023"/>
            <a:ext cx="1371600" cy="307777"/>
          </a:xfrm>
          <a:prstGeom prst="rect">
            <a:avLst/>
          </a:prstGeom>
          <a:noFill/>
          <a:ln>
            <a:solidFill>
              <a:schemeClr val="tx2"/>
            </a:solidFill>
          </a:ln>
        </p:spPr>
        <p:txBody>
          <a:bodyPr wrap="square" rtlCol="0">
            <a:spAutoFit/>
          </a:bodyPr>
          <a:lstStyle/>
          <a:p>
            <a:pPr algn="ctr"/>
            <a:r>
              <a:rPr lang="en-US" sz="1400" dirty="0" smtClean="0">
                <a:solidFill>
                  <a:prstClr val="black"/>
                </a:solidFill>
              </a:rPr>
              <a:t>Instruction 3</a:t>
            </a:r>
            <a:endParaRPr lang="en-US" sz="1400" dirty="0">
              <a:solidFill>
                <a:prstClr val="black"/>
              </a:solidFill>
            </a:endParaRPr>
          </a:p>
        </p:txBody>
      </p:sp>
      <p:sp>
        <p:nvSpPr>
          <p:cNvPr id="18" name="TextBox 17"/>
          <p:cNvSpPr txBox="1"/>
          <p:nvPr/>
        </p:nvSpPr>
        <p:spPr>
          <a:xfrm>
            <a:off x="7454537" y="2219886"/>
            <a:ext cx="1371600" cy="307777"/>
          </a:xfrm>
          <a:prstGeom prst="rect">
            <a:avLst/>
          </a:prstGeom>
          <a:noFill/>
          <a:ln>
            <a:solidFill>
              <a:schemeClr val="tx2"/>
            </a:solidFill>
          </a:ln>
        </p:spPr>
        <p:txBody>
          <a:bodyPr wrap="square" rtlCol="0">
            <a:spAutoFit/>
          </a:bodyPr>
          <a:lstStyle/>
          <a:p>
            <a:pPr algn="ctr"/>
            <a:r>
              <a:rPr lang="en-US" sz="1400" dirty="0" smtClean="0">
                <a:solidFill>
                  <a:prstClr val="black"/>
                </a:solidFill>
              </a:rPr>
              <a:t>Instruction 4</a:t>
            </a:r>
            <a:endParaRPr lang="en-US" sz="1400" dirty="0">
              <a:solidFill>
                <a:prstClr val="black"/>
              </a:solidFill>
            </a:endParaRPr>
          </a:p>
        </p:txBody>
      </p:sp>
      <p:sp>
        <p:nvSpPr>
          <p:cNvPr id="19" name="TextBox 18"/>
          <p:cNvSpPr txBox="1"/>
          <p:nvPr/>
        </p:nvSpPr>
        <p:spPr>
          <a:xfrm>
            <a:off x="7467600" y="3187337"/>
            <a:ext cx="1371600" cy="307777"/>
          </a:xfrm>
          <a:prstGeom prst="rect">
            <a:avLst/>
          </a:prstGeom>
          <a:noFill/>
          <a:ln>
            <a:solidFill>
              <a:schemeClr val="tx2"/>
            </a:solidFill>
          </a:ln>
        </p:spPr>
        <p:txBody>
          <a:bodyPr wrap="square" rtlCol="0">
            <a:spAutoFit/>
          </a:bodyPr>
          <a:lstStyle/>
          <a:p>
            <a:pPr algn="ctr"/>
            <a:r>
              <a:rPr lang="en-US" sz="1400" dirty="0" smtClean="0">
                <a:solidFill>
                  <a:prstClr val="black"/>
                </a:solidFill>
              </a:rPr>
              <a:t>…</a:t>
            </a:r>
            <a:endParaRPr lang="en-US" sz="1400" dirty="0">
              <a:solidFill>
                <a:prstClr val="black"/>
              </a:solidFill>
            </a:endParaRPr>
          </a:p>
        </p:txBody>
      </p:sp>
      <p:sp>
        <p:nvSpPr>
          <p:cNvPr id="20" name="TextBox 19"/>
          <p:cNvSpPr txBox="1"/>
          <p:nvPr/>
        </p:nvSpPr>
        <p:spPr>
          <a:xfrm>
            <a:off x="7467600" y="3505200"/>
            <a:ext cx="1371600" cy="307777"/>
          </a:xfrm>
          <a:prstGeom prst="rect">
            <a:avLst/>
          </a:prstGeom>
          <a:noFill/>
          <a:ln>
            <a:solidFill>
              <a:schemeClr val="tx2"/>
            </a:solidFill>
          </a:ln>
        </p:spPr>
        <p:txBody>
          <a:bodyPr wrap="square" rtlCol="0">
            <a:spAutoFit/>
          </a:bodyPr>
          <a:lstStyle/>
          <a:p>
            <a:pPr algn="ctr"/>
            <a:r>
              <a:rPr lang="en-US" sz="1400" dirty="0" smtClean="0">
                <a:solidFill>
                  <a:prstClr val="black"/>
                </a:solidFill>
              </a:rPr>
              <a:t>…</a:t>
            </a:r>
            <a:endParaRPr lang="en-US" sz="1400" dirty="0">
              <a:solidFill>
                <a:prstClr val="black"/>
              </a:solidFill>
            </a:endParaRPr>
          </a:p>
        </p:txBody>
      </p:sp>
      <p:sp>
        <p:nvSpPr>
          <p:cNvPr id="21" name="TextBox 20"/>
          <p:cNvSpPr txBox="1"/>
          <p:nvPr/>
        </p:nvSpPr>
        <p:spPr>
          <a:xfrm>
            <a:off x="7467600" y="3807023"/>
            <a:ext cx="1371600" cy="307777"/>
          </a:xfrm>
          <a:prstGeom prst="rect">
            <a:avLst/>
          </a:prstGeom>
          <a:noFill/>
          <a:ln>
            <a:solidFill>
              <a:schemeClr val="tx2"/>
            </a:solidFill>
          </a:ln>
        </p:spPr>
        <p:txBody>
          <a:bodyPr wrap="square" rtlCol="0">
            <a:spAutoFit/>
          </a:bodyPr>
          <a:lstStyle/>
          <a:p>
            <a:pPr algn="ctr"/>
            <a:r>
              <a:rPr lang="en-US" sz="1400" dirty="0" smtClean="0">
                <a:solidFill>
                  <a:prstClr val="black"/>
                </a:solidFill>
              </a:rPr>
              <a:t>…</a:t>
            </a:r>
            <a:endParaRPr lang="en-US" sz="1400" dirty="0">
              <a:solidFill>
                <a:prstClr val="black"/>
              </a:solidFill>
            </a:endParaRPr>
          </a:p>
        </p:txBody>
      </p:sp>
      <p:sp>
        <p:nvSpPr>
          <p:cNvPr id="22" name="TextBox 21"/>
          <p:cNvSpPr txBox="1"/>
          <p:nvPr/>
        </p:nvSpPr>
        <p:spPr>
          <a:xfrm>
            <a:off x="7467600" y="4124886"/>
            <a:ext cx="1371600" cy="307777"/>
          </a:xfrm>
          <a:prstGeom prst="rect">
            <a:avLst/>
          </a:prstGeom>
          <a:noFill/>
          <a:ln>
            <a:solidFill>
              <a:schemeClr val="tx2"/>
            </a:solidFill>
          </a:ln>
        </p:spPr>
        <p:txBody>
          <a:bodyPr wrap="square" rtlCol="0">
            <a:spAutoFit/>
          </a:bodyPr>
          <a:lstStyle/>
          <a:p>
            <a:pPr algn="ctr"/>
            <a:r>
              <a:rPr lang="en-US" sz="1400" dirty="0" smtClean="0">
                <a:solidFill>
                  <a:prstClr val="black"/>
                </a:solidFill>
              </a:rPr>
              <a:t>Instruction N</a:t>
            </a:r>
            <a:endParaRPr lang="en-US" sz="1400" dirty="0">
              <a:solidFill>
                <a:prstClr val="black"/>
              </a:solidFill>
            </a:endParaRPr>
          </a:p>
        </p:txBody>
      </p:sp>
      <p:sp>
        <p:nvSpPr>
          <p:cNvPr id="26" name="TextBox 25"/>
          <p:cNvSpPr txBox="1"/>
          <p:nvPr/>
        </p:nvSpPr>
        <p:spPr>
          <a:xfrm>
            <a:off x="5512526" y="1791789"/>
            <a:ext cx="1143000" cy="307777"/>
          </a:xfrm>
          <a:prstGeom prst="rect">
            <a:avLst/>
          </a:prstGeom>
          <a:solidFill>
            <a:schemeClr val="bg1"/>
          </a:solidFill>
          <a:ln>
            <a:noFill/>
          </a:ln>
        </p:spPr>
        <p:txBody>
          <a:bodyPr wrap="square" rtlCol="0">
            <a:spAutoFit/>
          </a:bodyPr>
          <a:lstStyle/>
          <a:p>
            <a:pPr algn="ctr"/>
            <a:r>
              <a:rPr lang="en-US" sz="1400" b="1" dirty="0" smtClean="0">
                <a:solidFill>
                  <a:srgbClr val="FF0000"/>
                </a:solidFill>
              </a:rPr>
              <a:t>Instruction 3</a:t>
            </a:r>
            <a:endParaRPr lang="en-US" sz="1400" b="1" dirty="0">
              <a:solidFill>
                <a:srgbClr val="FF0000"/>
              </a:solidFill>
            </a:endParaRPr>
          </a:p>
        </p:txBody>
      </p:sp>
      <p:sp>
        <p:nvSpPr>
          <p:cNvPr id="28" name="TextBox 27"/>
          <p:cNvSpPr txBox="1"/>
          <p:nvPr/>
        </p:nvSpPr>
        <p:spPr>
          <a:xfrm>
            <a:off x="990600" y="1066800"/>
            <a:ext cx="2819400" cy="2677656"/>
          </a:xfrm>
          <a:prstGeom prst="rect">
            <a:avLst/>
          </a:prstGeom>
          <a:noFill/>
        </p:spPr>
        <p:txBody>
          <a:bodyPr wrap="square" rtlCol="0">
            <a:spAutoFit/>
          </a:bodyPr>
          <a:lstStyle/>
          <a:p>
            <a:r>
              <a:rPr lang="en-US" sz="2400" b="1" dirty="0" smtClean="0">
                <a:solidFill>
                  <a:prstClr val="black"/>
                </a:solidFill>
              </a:rPr>
              <a:t>3. Execute </a:t>
            </a:r>
          </a:p>
          <a:p>
            <a:pPr marL="800100" lvl="1" indent="-342900">
              <a:buFont typeface="Arial" pitchFamily="34" charset="0"/>
              <a:buChar char="•"/>
            </a:pPr>
            <a:r>
              <a:rPr lang="en-US" sz="2400" b="1" dirty="0" smtClean="0">
                <a:solidFill>
                  <a:prstClr val="black"/>
                </a:solidFill>
              </a:rPr>
              <a:t>Execute the instruction</a:t>
            </a:r>
          </a:p>
          <a:p>
            <a:pPr marL="800100" lvl="1" indent="-342900">
              <a:buFont typeface="Arial" pitchFamily="34" charset="0"/>
              <a:buChar char="•"/>
            </a:pPr>
            <a:r>
              <a:rPr lang="en-US" sz="2400" b="1" dirty="0" smtClean="0">
                <a:solidFill>
                  <a:prstClr val="black"/>
                </a:solidFill>
              </a:rPr>
              <a:t>Place </a:t>
            </a:r>
            <a:r>
              <a:rPr lang="en-US" sz="2400" b="1" dirty="0">
                <a:solidFill>
                  <a:prstClr val="black"/>
                </a:solidFill>
              </a:rPr>
              <a:t>the results in registers or memory</a:t>
            </a:r>
          </a:p>
        </p:txBody>
      </p:sp>
      <p:sp>
        <p:nvSpPr>
          <p:cNvPr id="29" name="Rectangle 28"/>
          <p:cNvSpPr/>
          <p:nvPr/>
        </p:nvSpPr>
        <p:spPr>
          <a:xfrm>
            <a:off x="4114800" y="3505199"/>
            <a:ext cx="1397726" cy="9274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0" name="TextBox 29"/>
          <p:cNvSpPr txBox="1"/>
          <p:nvPr/>
        </p:nvSpPr>
        <p:spPr>
          <a:xfrm>
            <a:off x="4191000" y="2206823"/>
            <a:ext cx="1143000" cy="307777"/>
          </a:xfrm>
          <a:prstGeom prst="rect">
            <a:avLst/>
          </a:prstGeom>
          <a:solidFill>
            <a:schemeClr val="bg1"/>
          </a:solidFill>
          <a:ln>
            <a:noFill/>
          </a:ln>
        </p:spPr>
        <p:txBody>
          <a:bodyPr wrap="square" rtlCol="0">
            <a:spAutoFit/>
          </a:bodyPr>
          <a:lstStyle/>
          <a:p>
            <a:pPr algn="ctr"/>
            <a:r>
              <a:rPr lang="en-US" sz="1400" b="1" dirty="0" smtClean="0">
                <a:solidFill>
                  <a:srgbClr val="FF0000"/>
                </a:solidFill>
              </a:rPr>
              <a:t>Data 1</a:t>
            </a:r>
            <a:endParaRPr lang="en-US" sz="1400" b="1" dirty="0">
              <a:solidFill>
                <a:srgbClr val="FF0000"/>
              </a:solidFill>
            </a:endParaRPr>
          </a:p>
        </p:txBody>
      </p:sp>
      <p:sp>
        <p:nvSpPr>
          <p:cNvPr id="31" name="TextBox 30"/>
          <p:cNvSpPr txBox="1"/>
          <p:nvPr/>
        </p:nvSpPr>
        <p:spPr>
          <a:xfrm>
            <a:off x="5486400" y="2206823"/>
            <a:ext cx="1143000" cy="307777"/>
          </a:xfrm>
          <a:prstGeom prst="rect">
            <a:avLst/>
          </a:prstGeom>
          <a:solidFill>
            <a:schemeClr val="bg1"/>
          </a:solidFill>
          <a:ln>
            <a:noFill/>
          </a:ln>
        </p:spPr>
        <p:txBody>
          <a:bodyPr wrap="square" rtlCol="0">
            <a:spAutoFit/>
          </a:bodyPr>
          <a:lstStyle/>
          <a:p>
            <a:pPr algn="ctr"/>
            <a:r>
              <a:rPr lang="en-US" sz="1400" b="1" dirty="0" smtClean="0">
                <a:solidFill>
                  <a:srgbClr val="FF0000"/>
                </a:solidFill>
              </a:rPr>
              <a:t>Data 2</a:t>
            </a:r>
            <a:endParaRPr lang="en-US" sz="1400" b="1" dirty="0">
              <a:solidFill>
                <a:srgbClr val="FF0000"/>
              </a:solidFill>
            </a:endParaRPr>
          </a:p>
        </p:txBody>
      </p:sp>
      <p:sp>
        <p:nvSpPr>
          <p:cNvPr id="24" name="TextBox 23"/>
          <p:cNvSpPr txBox="1"/>
          <p:nvPr/>
        </p:nvSpPr>
        <p:spPr>
          <a:xfrm>
            <a:off x="4191000" y="2587823"/>
            <a:ext cx="1143000" cy="307777"/>
          </a:xfrm>
          <a:prstGeom prst="rect">
            <a:avLst/>
          </a:prstGeom>
          <a:solidFill>
            <a:schemeClr val="bg1"/>
          </a:solidFill>
          <a:ln>
            <a:noFill/>
          </a:ln>
        </p:spPr>
        <p:txBody>
          <a:bodyPr wrap="square" rtlCol="0">
            <a:spAutoFit/>
          </a:bodyPr>
          <a:lstStyle/>
          <a:p>
            <a:pPr algn="ctr"/>
            <a:r>
              <a:rPr lang="en-US" sz="1400" b="1" dirty="0" smtClean="0">
                <a:solidFill>
                  <a:srgbClr val="FF0000"/>
                </a:solidFill>
              </a:rPr>
              <a:t>Result</a:t>
            </a:r>
            <a:endParaRPr lang="en-US" sz="1400" b="1" dirty="0">
              <a:solidFill>
                <a:srgbClr val="FF0000"/>
              </a:solidFill>
            </a:endParaRPr>
          </a:p>
        </p:txBody>
      </p:sp>
      <p:sp>
        <p:nvSpPr>
          <p:cNvPr id="4" name="Date Placeholder 3"/>
          <p:cNvSpPr>
            <a:spLocks noGrp="1"/>
          </p:cNvSpPr>
          <p:nvPr>
            <p:ph type="dt" sz="half" idx="10"/>
          </p:nvPr>
        </p:nvSpPr>
        <p:spPr/>
        <p:txBody>
          <a:bodyPr/>
          <a:lstStyle/>
          <a:p>
            <a:fld id="{5B0030B9-536D-4095-9C64-CB1D8185DE5E}" type="datetime3">
              <a:rPr lang="en-US" smtClean="0">
                <a:solidFill>
                  <a:prstClr val="black">
                    <a:tint val="75000"/>
                  </a:prstClr>
                </a:solidFill>
              </a:rPr>
              <a:t>14 February 2017</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11</a:t>
            </a:fld>
            <a:endParaRPr lang="en-US"/>
          </a:p>
        </p:txBody>
      </p:sp>
    </p:spTree>
    <p:extLst>
      <p:ext uri="{BB962C8B-B14F-4D97-AF65-F5344CB8AC3E}">
        <p14:creationId xmlns:p14="http://schemas.microsoft.com/office/powerpoint/2010/main" val="3573803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CPU Basics and Organization</a:t>
            </a:r>
          </a:p>
        </p:txBody>
      </p:sp>
      <p:sp>
        <p:nvSpPr>
          <p:cNvPr id="5" name="Rectangle 4"/>
          <p:cNvSpPr/>
          <p:nvPr/>
        </p:nvSpPr>
        <p:spPr>
          <a:xfrm>
            <a:off x="1136983" y="1066800"/>
            <a:ext cx="7696200" cy="4512646"/>
          </a:xfrm>
          <a:prstGeom prst="rect">
            <a:avLst/>
          </a:prstGeom>
        </p:spPr>
        <p:txBody>
          <a:bodyPr wrap="square">
            <a:spAutoFit/>
          </a:bodyPr>
          <a:lstStyle/>
          <a:p>
            <a:pPr>
              <a:lnSpc>
                <a:spcPct val="107000"/>
              </a:lnSpc>
              <a:spcBef>
                <a:spcPts val="1500"/>
              </a:spcBef>
              <a:spcAft>
                <a:spcPts val="1700"/>
              </a:spcAft>
            </a:pPr>
            <a:r>
              <a:rPr lang="en-US" sz="2800" b="1" dirty="0">
                <a:solidFill>
                  <a:srgbClr val="3C3C3C"/>
                </a:solidFill>
                <a:latin typeface="Calibri" panose="020F0502020204030204" pitchFamily="34" charset="0"/>
                <a:ea typeface="Times New Roman" panose="02020603050405020304" pitchFamily="18" charset="0"/>
                <a:cs typeface="Times New Roman" panose="02020603050405020304" pitchFamily="18" charset="0"/>
              </a:rPr>
              <a:t>What is inside the Box?</a:t>
            </a:r>
            <a:endParaRPr lang="en-US" sz="20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1500"/>
              </a:spcBef>
              <a:spcAft>
                <a:spcPts val="1700"/>
              </a:spcAft>
            </a:pPr>
            <a:r>
              <a:rPr lang="en-US" dirty="0">
                <a:solidFill>
                  <a:srgbClr val="3C3C3C"/>
                </a:solidFill>
                <a:latin typeface="Calibri" panose="020F0502020204030204" pitchFamily="34" charset="0"/>
                <a:ea typeface="Times New Roman" panose="02020603050405020304" pitchFamily="18" charset="0"/>
                <a:cs typeface="Times New Roman" panose="02020603050405020304" pitchFamily="18" charset="0"/>
              </a:rPr>
              <a:t>The</a:t>
            </a:r>
            <a:r>
              <a:rPr lang="en-US" b="1" dirty="0">
                <a:solidFill>
                  <a:srgbClr val="3C3C3C"/>
                </a:solidFill>
                <a:latin typeface="Calibri" panose="020F0502020204030204" pitchFamily="34" charset="0"/>
                <a:ea typeface="Times New Roman" panose="02020603050405020304" pitchFamily="18" charset="0"/>
                <a:cs typeface="Times New Roman" panose="02020603050405020304" pitchFamily="18" charset="0"/>
              </a:rPr>
              <a:t> central processing unit </a:t>
            </a:r>
            <a:r>
              <a:rPr lang="en-US" dirty="0">
                <a:solidFill>
                  <a:srgbClr val="3C3C3C"/>
                </a:solidFill>
                <a:latin typeface="Calibri" panose="020F0502020204030204" pitchFamily="34" charset="0"/>
                <a:ea typeface="Times New Roman" panose="02020603050405020304" pitchFamily="18" charset="0"/>
                <a:cs typeface="Times New Roman" panose="02020603050405020304" pitchFamily="18" charset="0"/>
              </a:rPr>
              <a:t>(</a:t>
            </a:r>
            <a:r>
              <a:rPr lang="en-US" b="1" dirty="0">
                <a:solidFill>
                  <a:srgbClr val="3C3C3C"/>
                </a:solidFill>
                <a:latin typeface="Calibri" panose="020F0502020204030204" pitchFamily="34" charset="0"/>
                <a:ea typeface="Times New Roman" panose="02020603050405020304" pitchFamily="18" charset="0"/>
                <a:cs typeface="Times New Roman" panose="02020603050405020304" pitchFamily="18" charset="0"/>
              </a:rPr>
              <a:t>CPU</a:t>
            </a:r>
            <a:r>
              <a:rPr lang="en-US" dirty="0">
                <a:solidFill>
                  <a:srgbClr val="3C3C3C"/>
                </a:solidFill>
                <a:latin typeface="Calibri" panose="020F0502020204030204" pitchFamily="34" charset="0"/>
                <a:ea typeface="Times New Roman" panose="02020603050405020304" pitchFamily="18" charset="0"/>
                <a:cs typeface="Times New Roman" panose="02020603050405020304" pitchFamily="18" charset="0"/>
              </a:rPr>
              <a:t>) is responsible for fetching program instructions, decoding each instruction that is fetched, and performing the indicated sequence on the correct data. </a:t>
            </a:r>
            <a:endParaRPr lang="en-US" dirty="0" smtClean="0">
              <a:solidFill>
                <a:srgbClr val="3C3C3C"/>
              </a:solidFill>
              <a:latin typeface="Calibri" panose="020F0502020204030204" pitchFamily="34" charset="0"/>
              <a:ea typeface="Times New Roman" panose="02020603050405020304" pitchFamily="18" charset="0"/>
              <a:cs typeface="Times New Roman" panose="02020603050405020304" pitchFamily="18" charset="0"/>
            </a:endParaRPr>
          </a:p>
          <a:p>
            <a:pPr lvl="0" eaLnBrk="0" fontAlgn="base" hangingPunct="0">
              <a:lnSpc>
                <a:spcPct val="90000"/>
              </a:lnSpc>
              <a:spcBef>
                <a:spcPct val="40000"/>
              </a:spcBef>
              <a:spcAft>
                <a:spcPct val="0"/>
              </a:spcAft>
              <a:defRPr/>
            </a:pPr>
            <a:r>
              <a:rPr lang="en-US" altLang="en-US" sz="2000" b="1" kern="0" dirty="0" smtClean="0">
                <a:solidFill>
                  <a:srgbClr val="000000"/>
                </a:solidFill>
              </a:rPr>
              <a:t>The </a:t>
            </a:r>
            <a:r>
              <a:rPr lang="en-US" altLang="en-US" sz="2000" b="1" kern="0" dirty="0">
                <a:solidFill>
                  <a:srgbClr val="000000"/>
                </a:solidFill>
              </a:rPr>
              <a:t>computer’s CPU or Processor</a:t>
            </a:r>
            <a:r>
              <a:rPr lang="en-US" altLang="en-US" sz="2000" kern="0" dirty="0">
                <a:solidFill>
                  <a:srgbClr val="000000"/>
                </a:solidFill>
              </a:rPr>
              <a:t> </a:t>
            </a:r>
          </a:p>
          <a:p>
            <a:pPr marL="742950" lvl="1" indent="-285750" eaLnBrk="0" fontAlgn="base" hangingPunct="0">
              <a:lnSpc>
                <a:spcPct val="90000"/>
              </a:lnSpc>
              <a:spcBef>
                <a:spcPct val="40000"/>
              </a:spcBef>
              <a:spcAft>
                <a:spcPct val="0"/>
              </a:spcAft>
              <a:buFontTx/>
              <a:buChar char="–"/>
              <a:defRPr/>
            </a:pPr>
            <a:r>
              <a:rPr lang="en-US" altLang="en-US" sz="1600" b="1" kern="0" dirty="0">
                <a:solidFill>
                  <a:srgbClr val="FF0000"/>
                </a:solidFill>
              </a:rPr>
              <a:t>Fetches</a:t>
            </a:r>
            <a:r>
              <a:rPr lang="en-US" altLang="en-US" sz="1600" kern="0" dirty="0">
                <a:solidFill>
                  <a:srgbClr val="000000"/>
                </a:solidFill>
              </a:rPr>
              <a:t> the program instructions, </a:t>
            </a:r>
          </a:p>
          <a:p>
            <a:pPr marL="742950" lvl="1" indent="-285750" eaLnBrk="0" fontAlgn="base" hangingPunct="0">
              <a:lnSpc>
                <a:spcPct val="90000"/>
              </a:lnSpc>
              <a:spcBef>
                <a:spcPct val="40000"/>
              </a:spcBef>
              <a:spcAft>
                <a:spcPct val="0"/>
              </a:spcAft>
              <a:buFontTx/>
              <a:buChar char="–"/>
              <a:defRPr/>
            </a:pPr>
            <a:r>
              <a:rPr lang="en-US" altLang="en-US" sz="1600" b="1" kern="0" dirty="0">
                <a:solidFill>
                  <a:srgbClr val="FF0000"/>
                </a:solidFill>
              </a:rPr>
              <a:t>Decodes</a:t>
            </a:r>
            <a:r>
              <a:rPr lang="en-US" altLang="en-US" sz="1600" kern="0" dirty="0">
                <a:solidFill>
                  <a:srgbClr val="000000"/>
                </a:solidFill>
              </a:rPr>
              <a:t> each instruction that is fetched , and </a:t>
            </a:r>
          </a:p>
          <a:p>
            <a:pPr marL="742950" lvl="1" indent="-285750" eaLnBrk="0" fontAlgn="base" hangingPunct="0">
              <a:lnSpc>
                <a:spcPct val="90000"/>
              </a:lnSpc>
              <a:spcBef>
                <a:spcPct val="40000"/>
              </a:spcBef>
              <a:spcAft>
                <a:spcPct val="0"/>
              </a:spcAft>
              <a:buFontTx/>
              <a:buChar char="–"/>
              <a:defRPr/>
            </a:pPr>
            <a:r>
              <a:rPr lang="en-US" altLang="en-US" sz="1600" b="1" kern="0" dirty="0">
                <a:solidFill>
                  <a:srgbClr val="FF0000"/>
                </a:solidFill>
              </a:rPr>
              <a:t>Executes</a:t>
            </a:r>
            <a:r>
              <a:rPr lang="en-US" altLang="en-US" sz="1600" kern="0" dirty="0">
                <a:solidFill>
                  <a:srgbClr val="000000"/>
                </a:solidFill>
              </a:rPr>
              <a:t> the indicated sequence of operations on the data </a:t>
            </a:r>
          </a:p>
          <a:p>
            <a:pPr>
              <a:lnSpc>
                <a:spcPct val="107000"/>
              </a:lnSpc>
              <a:spcBef>
                <a:spcPts val="1500"/>
              </a:spcBef>
              <a:spcAft>
                <a:spcPts val="1700"/>
              </a:spcAft>
            </a:pPr>
            <a:r>
              <a:rPr lang="en-US" dirty="0" smtClean="0">
                <a:solidFill>
                  <a:srgbClr val="3C3C3C"/>
                </a:solidFill>
                <a:latin typeface="Calibri" panose="020F0502020204030204" pitchFamily="34" charset="0"/>
                <a:ea typeface="Times New Roman" panose="02020603050405020304" pitchFamily="18" charset="0"/>
                <a:cs typeface="Times New Roman" panose="02020603050405020304" pitchFamily="18" charset="0"/>
              </a:rPr>
              <a:t>To </a:t>
            </a:r>
            <a:r>
              <a:rPr lang="en-US" dirty="0">
                <a:solidFill>
                  <a:srgbClr val="3C3C3C"/>
                </a:solidFill>
                <a:latin typeface="Calibri" panose="020F0502020204030204" pitchFamily="34" charset="0"/>
                <a:ea typeface="Times New Roman" panose="02020603050405020304" pitchFamily="18" charset="0"/>
                <a:cs typeface="Times New Roman" panose="02020603050405020304" pitchFamily="18" charset="0"/>
              </a:rPr>
              <a:t>introduce the simple architecture in the next section, we first examine, in general, the microarchitecture that exists at the control level of modern computers.</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
        <p:nvSpPr>
          <p:cNvPr id="6" name="Date Placeholder 5"/>
          <p:cNvSpPr>
            <a:spLocks noGrp="1"/>
          </p:cNvSpPr>
          <p:nvPr>
            <p:ph type="dt" sz="half" idx="10"/>
          </p:nvPr>
        </p:nvSpPr>
        <p:spPr/>
        <p:txBody>
          <a:bodyPr/>
          <a:lstStyle/>
          <a:p>
            <a:fld id="{A6ABE95E-218D-4FC5-B1E8-64CCC31772AE}" type="datetime3">
              <a:rPr lang="en-US" smtClean="0">
                <a:solidFill>
                  <a:prstClr val="black">
                    <a:tint val="75000"/>
                  </a:prstClr>
                </a:solidFill>
              </a:rPr>
              <a:t>14 February 2017</a:t>
            </a:fld>
            <a:endParaRPr lang="en-US">
              <a:solidFill>
                <a:prstClr val="black">
                  <a:tint val="75000"/>
                </a:prstClr>
              </a:solidFill>
            </a:endParaRPr>
          </a:p>
        </p:txBody>
      </p:sp>
      <p:sp>
        <p:nvSpPr>
          <p:cNvPr id="7" name="Footer Placeholder 6"/>
          <p:cNvSpPr>
            <a:spLocks noGrp="1"/>
          </p:cNvSpPr>
          <p:nvPr>
            <p:ph type="ftr" sz="quarter" idx="11"/>
          </p:nvPr>
        </p:nvSpPr>
        <p:spPr/>
        <p:txBody>
          <a:bodyPr/>
          <a:lstStyle/>
          <a:p>
            <a:r>
              <a:rPr lang="en-US" smtClean="0"/>
              <a:t>T103 - Arab open University</a:t>
            </a:r>
            <a:endParaRPr lang="en-US"/>
          </a:p>
        </p:txBody>
      </p:sp>
      <p:sp>
        <p:nvSpPr>
          <p:cNvPr id="8" name="Slide Number Placeholder 7"/>
          <p:cNvSpPr>
            <a:spLocks noGrp="1"/>
          </p:cNvSpPr>
          <p:nvPr>
            <p:ph type="sldNum" sz="quarter" idx="12"/>
          </p:nvPr>
        </p:nvSpPr>
        <p:spPr/>
        <p:txBody>
          <a:bodyPr/>
          <a:lstStyle/>
          <a:p>
            <a:fld id="{20042AC5-0839-4BB6-BBC0-636ECAAE7EE1}" type="slidenum">
              <a:rPr lang="en-US" smtClean="0"/>
              <a:pPr/>
              <a:t>12</a:t>
            </a:fld>
            <a:endParaRPr lang="en-US"/>
          </a:p>
        </p:txBody>
      </p:sp>
    </p:spTree>
    <p:extLst>
      <p:ext uri="{BB962C8B-B14F-4D97-AF65-F5344CB8AC3E}">
        <p14:creationId xmlns:p14="http://schemas.microsoft.com/office/powerpoint/2010/main" val="29023173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CPU Basics and Organization</a:t>
            </a:r>
          </a:p>
        </p:txBody>
      </p:sp>
      <p:sp>
        <p:nvSpPr>
          <p:cNvPr id="5" name="Rectangle 3"/>
          <p:cNvSpPr txBox="1">
            <a:spLocks noChangeArrowheads="1"/>
          </p:cNvSpPr>
          <p:nvPr/>
        </p:nvSpPr>
        <p:spPr bwMode="auto">
          <a:xfrm>
            <a:off x="841620" y="1066800"/>
            <a:ext cx="8149980" cy="5410200"/>
          </a:xfrm>
          <a:prstGeom prst="rect">
            <a:avLst/>
          </a:prstGeom>
          <a:noFill/>
          <a:ln>
            <a:noFill/>
          </a:ln>
          <a:extLst>
            <a:ext uri="{909E8E84-426E-40DD-AFC4-6F175D3DCCD1}">
              <a14:hiddenFill xmlns:a14="http://schemas.microsoft.com/office/drawing/2010/main">
                <a:solidFill>
                  <a:srgbClr val="E4F5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defRPr>
            </a:lvl2pPr>
            <a:lvl3pPr marL="1143000" indent="-228600" algn="l" rtl="0" eaLnBrk="0" fontAlgn="base" hangingPunct="0">
              <a:spcBef>
                <a:spcPct val="20000"/>
              </a:spcBef>
              <a:spcAft>
                <a:spcPct val="0"/>
              </a:spcAft>
              <a:buChar char="•"/>
              <a:defRPr>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457200" marR="0" lvl="1" indent="0" algn="l" defTabSz="914400" rtl="0" eaLnBrk="0" fontAlgn="base" latinLnBrk="0" hangingPunct="0">
              <a:lnSpc>
                <a:spcPct val="90000"/>
              </a:lnSpc>
              <a:spcBef>
                <a:spcPct val="40000"/>
              </a:spcBef>
              <a:spcAft>
                <a:spcPct val="0"/>
              </a:spcAft>
              <a:buClrTx/>
              <a:buSzTx/>
              <a:buNone/>
              <a:tabLst/>
              <a:defRPr/>
            </a:pPr>
            <a:endParaRPr kumimoji="0" lang="en-US" altLang="en-US" sz="1600" b="0" i="0" u="none" strike="noStrike" kern="0" cap="none" spc="0" normalizeH="0" baseline="0" noProof="0" dirty="0" smtClean="0">
              <a:ln>
                <a:noFill/>
              </a:ln>
              <a:solidFill>
                <a:srgbClr val="000000"/>
              </a:solidFill>
              <a:effectLst/>
              <a:uLnTx/>
              <a:uFillTx/>
            </a:endParaRPr>
          </a:p>
          <a:p>
            <a:pPr marL="0" marR="0" lvl="0" indent="0" algn="l" defTabSz="914400" rtl="0" eaLnBrk="0" fontAlgn="base" latinLnBrk="0" hangingPunct="0">
              <a:lnSpc>
                <a:spcPct val="90000"/>
              </a:lnSpc>
              <a:spcBef>
                <a:spcPct val="40000"/>
              </a:spcBef>
              <a:spcAft>
                <a:spcPct val="0"/>
              </a:spcAft>
              <a:buClrTx/>
              <a:buSzTx/>
              <a:buNone/>
              <a:tabLst/>
              <a:defRPr/>
            </a:pPr>
            <a:r>
              <a:rPr kumimoji="0" lang="en-US" altLang="en-US" b="1" i="0" u="none" strike="noStrike" kern="0" cap="none" spc="0" normalizeH="0" baseline="0" noProof="0" dirty="0" smtClean="0">
                <a:ln>
                  <a:noFill/>
                </a:ln>
                <a:solidFill>
                  <a:srgbClr val="000000"/>
                </a:solidFill>
                <a:effectLst/>
                <a:uLnTx/>
                <a:uFillTx/>
              </a:rPr>
              <a:t>The two principal parts of the CPU are the</a:t>
            </a:r>
            <a:r>
              <a:rPr kumimoji="0" lang="en-US" altLang="en-US" b="0" i="0" u="none" strike="noStrike" kern="0" cap="none" spc="0" normalizeH="0" baseline="0" noProof="0" dirty="0" smtClean="0">
                <a:ln>
                  <a:noFill/>
                </a:ln>
                <a:solidFill>
                  <a:srgbClr val="000000"/>
                </a:solidFill>
                <a:effectLst/>
                <a:uLnTx/>
                <a:uFillTx/>
              </a:rPr>
              <a:t> </a:t>
            </a:r>
            <a:r>
              <a:rPr kumimoji="0" lang="en-US" altLang="en-US" b="1" i="1" u="none" strike="noStrike" kern="0" cap="none" spc="0" normalizeH="0" baseline="0" noProof="0" dirty="0" err="1" smtClean="0">
                <a:ln>
                  <a:noFill/>
                </a:ln>
                <a:solidFill>
                  <a:srgbClr val="FF0000"/>
                </a:solidFill>
                <a:effectLst/>
                <a:uLnTx/>
                <a:uFillTx/>
              </a:rPr>
              <a:t>Datapath</a:t>
            </a:r>
            <a:r>
              <a:rPr kumimoji="0" lang="en-US" altLang="en-US" b="0" i="0" u="none" strike="noStrike" kern="0" cap="none" spc="0" normalizeH="0" baseline="0" noProof="0" dirty="0" smtClean="0">
                <a:ln>
                  <a:noFill/>
                </a:ln>
                <a:solidFill>
                  <a:srgbClr val="000000"/>
                </a:solidFill>
                <a:effectLst/>
                <a:uLnTx/>
                <a:uFillTx/>
              </a:rPr>
              <a:t> </a:t>
            </a:r>
            <a:r>
              <a:rPr kumimoji="0" lang="en-US" altLang="en-US" b="1" i="0" u="none" strike="noStrike" kern="0" cap="none" spc="0" normalizeH="0" baseline="0" noProof="0" dirty="0" smtClean="0">
                <a:ln>
                  <a:noFill/>
                </a:ln>
                <a:solidFill>
                  <a:srgbClr val="000000"/>
                </a:solidFill>
                <a:effectLst/>
                <a:uLnTx/>
                <a:uFillTx/>
              </a:rPr>
              <a:t>and the</a:t>
            </a:r>
            <a:r>
              <a:rPr kumimoji="0" lang="en-US" altLang="en-US" b="0" i="0" u="none" strike="noStrike" kern="0" cap="none" spc="0" normalizeH="0" baseline="0" noProof="0" dirty="0" smtClean="0">
                <a:ln>
                  <a:noFill/>
                </a:ln>
                <a:solidFill>
                  <a:srgbClr val="000000"/>
                </a:solidFill>
                <a:effectLst/>
                <a:uLnTx/>
                <a:uFillTx/>
              </a:rPr>
              <a:t> </a:t>
            </a:r>
            <a:r>
              <a:rPr kumimoji="0" lang="en-US" altLang="en-US" b="1" i="1" u="none" strike="noStrike" kern="0" cap="none" spc="0" normalizeH="0" baseline="0" noProof="0" dirty="0" smtClean="0">
                <a:ln>
                  <a:noFill/>
                </a:ln>
                <a:solidFill>
                  <a:srgbClr val="FF0000"/>
                </a:solidFill>
                <a:effectLst/>
                <a:uLnTx/>
                <a:uFillTx/>
              </a:rPr>
              <a:t>Control unit</a:t>
            </a:r>
            <a:r>
              <a:rPr kumimoji="0" lang="en-US" altLang="en-US" b="0" i="0" u="none" strike="noStrike" kern="0" cap="none" spc="0" normalizeH="0" baseline="0" noProof="0" dirty="0" smtClean="0">
                <a:ln>
                  <a:noFill/>
                </a:ln>
                <a:solidFill>
                  <a:srgbClr val="000000"/>
                </a:solidFill>
                <a:effectLst/>
                <a:uLnTx/>
                <a:uFillTx/>
              </a:rPr>
              <a:t>.</a:t>
            </a:r>
          </a:p>
          <a:p>
            <a:pPr marL="742950" marR="0" lvl="1" indent="-285750" algn="l" defTabSz="914400" rtl="0" eaLnBrk="0" fontAlgn="base" latinLnBrk="0" hangingPunct="0">
              <a:lnSpc>
                <a:spcPct val="90000"/>
              </a:lnSpc>
              <a:spcBef>
                <a:spcPct val="40000"/>
              </a:spcBef>
              <a:spcAft>
                <a:spcPct val="0"/>
              </a:spcAft>
              <a:buClrTx/>
              <a:buSzTx/>
              <a:buFontTx/>
              <a:buChar char="–"/>
              <a:tabLst/>
              <a:defRPr/>
            </a:pPr>
            <a:r>
              <a:rPr kumimoji="0" lang="en-US" altLang="en-US" b="1" i="0" u="none" strike="noStrike" kern="0" cap="none" spc="0" normalizeH="0" baseline="0" noProof="0" dirty="0" err="1" smtClean="0">
                <a:ln>
                  <a:noFill/>
                </a:ln>
                <a:solidFill>
                  <a:srgbClr val="FF0000"/>
                </a:solidFill>
                <a:effectLst/>
                <a:uLnTx/>
                <a:uFillTx/>
              </a:rPr>
              <a:t>Datapath</a:t>
            </a:r>
            <a:r>
              <a:rPr kumimoji="0" lang="en-US" altLang="en-US" b="0" i="0" u="none" strike="noStrike" kern="0" cap="none" spc="0" normalizeH="0" baseline="0" noProof="0" dirty="0" smtClean="0">
                <a:ln>
                  <a:noFill/>
                </a:ln>
                <a:solidFill>
                  <a:srgbClr val="000000"/>
                </a:solidFill>
                <a:effectLst/>
                <a:uLnTx/>
                <a:uFillTx/>
              </a:rPr>
              <a:t> - consists of an arithmetic-logic unit (ALU) and network of storage units (registers) that are interconnected by a data bus that is also connected to main memory.  </a:t>
            </a:r>
          </a:p>
          <a:p>
            <a:pPr marL="742950" marR="0" lvl="1" indent="-285750" algn="l" defTabSz="914400" rtl="0" eaLnBrk="0" fontAlgn="base" latinLnBrk="0" hangingPunct="0">
              <a:lnSpc>
                <a:spcPct val="90000"/>
              </a:lnSpc>
              <a:spcBef>
                <a:spcPct val="40000"/>
              </a:spcBef>
              <a:spcAft>
                <a:spcPct val="0"/>
              </a:spcAft>
              <a:buClrTx/>
              <a:buSzTx/>
              <a:buFontTx/>
              <a:buChar char="–"/>
              <a:tabLst/>
              <a:defRPr/>
            </a:pPr>
            <a:r>
              <a:rPr kumimoji="0" lang="en-US" altLang="en-US" b="1" i="0" u="none" strike="noStrike" kern="0" cap="none" spc="0" normalizeH="0" baseline="0" noProof="0" dirty="0" smtClean="0">
                <a:ln>
                  <a:noFill/>
                </a:ln>
                <a:solidFill>
                  <a:srgbClr val="FF0000"/>
                </a:solidFill>
                <a:effectLst/>
                <a:uLnTx/>
                <a:uFillTx/>
              </a:rPr>
              <a:t>Control Unit</a:t>
            </a:r>
            <a:r>
              <a:rPr kumimoji="0" lang="en-US" altLang="en-US" b="0" i="0" u="none" strike="noStrike" kern="0" cap="none" spc="0" normalizeH="0" baseline="0" noProof="0" dirty="0" smtClean="0">
                <a:ln>
                  <a:noFill/>
                </a:ln>
                <a:solidFill>
                  <a:srgbClr val="FF0000"/>
                </a:solidFill>
                <a:effectLst/>
                <a:uLnTx/>
                <a:uFillTx/>
              </a:rPr>
              <a:t> </a:t>
            </a:r>
            <a:r>
              <a:rPr kumimoji="0" lang="en-US" altLang="en-US" b="0" i="0" u="none" strike="noStrike" kern="0" cap="none" spc="0" normalizeH="0" baseline="0" noProof="0" dirty="0" smtClean="0">
                <a:ln>
                  <a:noFill/>
                </a:ln>
                <a:solidFill>
                  <a:srgbClr val="000000"/>
                </a:solidFill>
                <a:effectLst/>
                <a:uLnTx/>
                <a:uFillTx/>
              </a:rPr>
              <a:t>- responsible for sequencing the operations and making sure the correct data is in the correct place at the correct time.</a:t>
            </a:r>
          </a:p>
          <a:p>
            <a:pPr marL="742950" marR="0" lvl="1" indent="-285750" algn="l" defTabSz="914400" rtl="0" eaLnBrk="0" fontAlgn="base" latinLnBrk="0" hangingPunct="0">
              <a:lnSpc>
                <a:spcPct val="90000"/>
              </a:lnSpc>
              <a:spcBef>
                <a:spcPct val="40000"/>
              </a:spcBef>
              <a:spcAft>
                <a:spcPct val="0"/>
              </a:spcAft>
              <a:buClrTx/>
              <a:buSzTx/>
              <a:buFontTx/>
              <a:buChar char="–"/>
              <a:tabLst/>
              <a:defRPr/>
            </a:pPr>
            <a:endParaRPr lang="en-US" altLang="en-US" sz="1800" kern="0" dirty="0">
              <a:solidFill>
                <a:srgbClr val="000000"/>
              </a:solidFill>
            </a:endParaRPr>
          </a:p>
          <a:p>
            <a:pPr marL="57150" indent="0">
              <a:buNone/>
            </a:pPr>
            <a:r>
              <a:rPr lang="en-US" sz="2000" b="1" dirty="0"/>
              <a:t>Registers</a:t>
            </a:r>
            <a:r>
              <a:rPr lang="en-US" sz="2000" dirty="0"/>
              <a:t> </a:t>
            </a:r>
            <a:r>
              <a:rPr lang="en-US" sz="2000" dirty="0">
                <a:solidFill>
                  <a:srgbClr val="7030A0"/>
                </a:solidFill>
              </a:rPr>
              <a:t>hold data that can be readily accessed by the CPU. They are places to store a wide variety of </a:t>
            </a:r>
            <a:r>
              <a:rPr lang="en-US" sz="2000" dirty="0" smtClean="0">
                <a:solidFill>
                  <a:srgbClr val="7030A0"/>
                </a:solidFill>
              </a:rPr>
              <a:t>data </a:t>
            </a:r>
            <a:r>
              <a:rPr lang="en-US" sz="2000" dirty="0" smtClean="0"/>
              <a:t>(Numerical </a:t>
            </a:r>
            <a:r>
              <a:rPr lang="en-US" sz="2000" dirty="0"/>
              <a:t>data, Addresses, Control information</a:t>
            </a:r>
            <a:r>
              <a:rPr lang="en-US" sz="2000" dirty="0" smtClean="0"/>
              <a:t>,..). They </a:t>
            </a:r>
            <a:r>
              <a:rPr lang="en-US" sz="2000" dirty="0"/>
              <a:t>are located on the processor so information can be accessed very quickly</a:t>
            </a:r>
          </a:p>
          <a:p>
            <a:pPr lvl="1"/>
            <a:r>
              <a:rPr lang="en-US" dirty="0"/>
              <a:t>The control unit directly accesses data inside the registers</a:t>
            </a:r>
          </a:p>
          <a:p>
            <a:pPr marL="0" indent="0">
              <a:buNone/>
            </a:pPr>
            <a:endParaRPr lang="en-US" sz="1400" dirty="0"/>
          </a:p>
          <a:p>
            <a:pPr marL="457200" marR="0" lvl="1" indent="0" algn="l" defTabSz="914400" rtl="0" eaLnBrk="0" fontAlgn="base" latinLnBrk="0" hangingPunct="0">
              <a:lnSpc>
                <a:spcPct val="90000"/>
              </a:lnSpc>
              <a:spcBef>
                <a:spcPct val="40000"/>
              </a:spcBef>
              <a:spcAft>
                <a:spcPct val="0"/>
              </a:spcAft>
              <a:buClrTx/>
              <a:buSzTx/>
              <a:buNone/>
              <a:tabLst/>
              <a:defRPr/>
            </a:pPr>
            <a:endParaRPr kumimoji="0" lang="en-US" altLang="en-US" sz="1800" b="0" i="0" u="none" strike="noStrike" kern="0" cap="none" spc="0" normalizeH="0" baseline="0" noProof="0" dirty="0" smtClean="0">
              <a:ln>
                <a:noFill/>
              </a:ln>
              <a:solidFill>
                <a:srgbClr val="000000"/>
              </a:solidFill>
              <a:effectLst/>
              <a:uLnTx/>
              <a:uFillTx/>
            </a:endParaRPr>
          </a:p>
        </p:txBody>
      </p:sp>
      <p:sp>
        <p:nvSpPr>
          <p:cNvPr id="3" name="Date Placeholder 2"/>
          <p:cNvSpPr>
            <a:spLocks noGrp="1"/>
          </p:cNvSpPr>
          <p:nvPr>
            <p:ph type="dt" sz="half" idx="10"/>
          </p:nvPr>
        </p:nvSpPr>
        <p:spPr/>
        <p:txBody>
          <a:bodyPr/>
          <a:lstStyle/>
          <a:p>
            <a:fld id="{8C8B198C-CDBF-4AD1-B143-E73C08D57FF9}" type="datetime3">
              <a:rPr lang="en-US" smtClean="0"/>
              <a:t>14 February 2017</a:t>
            </a:fld>
            <a:endParaRPr lang="en-US"/>
          </a:p>
        </p:txBody>
      </p:sp>
      <p:sp>
        <p:nvSpPr>
          <p:cNvPr id="4" name="Footer Placeholder 3"/>
          <p:cNvSpPr>
            <a:spLocks noGrp="1"/>
          </p:cNvSpPr>
          <p:nvPr>
            <p:ph type="ftr" sz="quarter" idx="11"/>
          </p:nvPr>
        </p:nvSpPr>
        <p:spPr/>
        <p:txBody>
          <a:bodyPr/>
          <a:lstStyle/>
          <a:p>
            <a:r>
              <a:rPr lang="en-US" smtClean="0"/>
              <a:t>T103 - Arab open University</a:t>
            </a:r>
            <a:endParaRPr lang="en-US"/>
          </a:p>
        </p:txBody>
      </p:sp>
      <p:sp>
        <p:nvSpPr>
          <p:cNvPr id="6" name="Slide Number Placeholder 5"/>
          <p:cNvSpPr>
            <a:spLocks noGrp="1"/>
          </p:cNvSpPr>
          <p:nvPr>
            <p:ph type="sldNum" sz="quarter" idx="12"/>
          </p:nvPr>
        </p:nvSpPr>
        <p:spPr/>
        <p:txBody>
          <a:bodyPr/>
          <a:lstStyle/>
          <a:p>
            <a:fld id="{20042AC5-0839-4BB6-BBC0-636ECAAE7EE1}" type="slidenum">
              <a:rPr lang="en-US" smtClean="0"/>
              <a:pPr/>
              <a:t>13</a:t>
            </a:fld>
            <a:endParaRPr lang="en-US"/>
          </a:p>
        </p:txBody>
      </p:sp>
    </p:spTree>
    <p:extLst>
      <p:ext uri="{BB962C8B-B14F-4D97-AF65-F5344CB8AC3E}">
        <p14:creationId xmlns:p14="http://schemas.microsoft.com/office/powerpoint/2010/main" val="3996839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CPU Basics and </a:t>
            </a:r>
            <a:r>
              <a:rPr lang="en-US" sz="2800" dirty="0" smtClean="0"/>
              <a:t>Organization</a:t>
            </a:r>
            <a:endParaRPr lang="en-US" sz="2800" dirty="0"/>
          </a:p>
        </p:txBody>
      </p:sp>
      <p:sp>
        <p:nvSpPr>
          <p:cNvPr id="4" name="Content Placeholder 3"/>
          <p:cNvSpPr>
            <a:spLocks noGrp="1"/>
          </p:cNvSpPr>
          <p:nvPr>
            <p:ph idx="1"/>
          </p:nvPr>
        </p:nvSpPr>
        <p:spPr>
          <a:xfrm>
            <a:off x="914400" y="838200"/>
            <a:ext cx="8153400" cy="6019800"/>
          </a:xfrm>
        </p:spPr>
        <p:txBody>
          <a:bodyPr>
            <a:normAutofit fontScale="92500" lnSpcReduction="10000"/>
          </a:bodyPr>
          <a:lstStyle/>
          <a:p>
            <a:pPr marL="0" lvl="0" indent="0">
              <a:spcBef>
                <a:spcPts val="0"/>
              </a:spcBef>
              <a:buNone/>
            </a:pPr>
            <a:r>
              <a:rPr lang="en-US" sz="2200" dirty="0">
                <a:solidFill>
                  <a:prstClr val="black"/>
                </a:solidFill>
              </a:rPr>
              <a:t>“</a:t>
            </a:r>
            <a:r>
              <a:rPr lang="en-US" sz="2200" b="1" dirty="0">
                <a:solidFill>
                  <a:prstClr val="black"/>
                </a:solidFill>
              </a:rPr>
              <a:t>General Purpose registers</a:t>
            </a:r>
            <a:r>
              <a:rPr lang="en-US" sz="2200" dirty="0">
                <a:solidFill>
                  <a:prstClr val="black"/>
                </a:solidFill>
              </a:rPr>
              <a:t>” </a:t>
            </a:r>
            <a:r>
              <a:rPr lang="en-US" sz="2200" dirty="0">
                <a:solidFill>
                  <a:srgbClr val="7030A0"/>
                </a:solidFill>
              </a:rPr>
              <a:t>are </a:t>
            </a:r>
            <a:r>
              <a:rPr lang="en-US" sz="2200" dirty="0" smtClean="0">
                <a:solidFill>
                  <a:srgbClr val="7030A0"/>
                </a:solidFill>
              </a:rPr>
              <a:t>registers </a:t>
            </a:r>
            <a:r>
              <a:rPr lang="en-US" sz="2200" dirty="0">
                <a:solidFill>
                  <a:srgbClr val="7030A0"/>
                </a:solidFill>
              </a:rPr>
              <a:t>available to the programmer</a:t>
            </a:r>
            <a:r>
              <a:rPr lang="en-US" sz="2200" dirty="0">
                <a:solidFill>
                  <a:prstClr val="black"/>
                </a:solidFill>
              </a:rPr>
              <a:t>.</a:t>
            </a:r>
          </a:p>
          <a:p>
            <a:pPr marL="0" lvl="0" indent="0">
              <a:spcBef>
                <a:spcPts val="0"/>
              </a:spcBef>
              <a:buNone/>
            </a:pPr>
            <a:r>
              <a:rPr lang="en-US" sz="2200" dirty="0">
                <a:solidFill>
                  <a:prstClr val="black"/>
                </a:solidFill>
              </a:rPr>
              <a:t>“</a:t>
            </a:r>
            <a:r>
              <a:rPr lang="en-US" sz="2200" b="1" dirty="0">
                <a:solidFill>
                  <a:prstClr val="black"/>
                </a:solidFill>
              </a:rPr>
              <a:t>Special </a:t>
            </a:r>
            <a:r>
              <a:rPr lang="en-US" sz="2200" b="1" dirty="0" smtClean="0">
                <a:solidFill>
                  <a:prstClr val="black"/>
                </a:solidFill>
              </a:rPr>
              <a:t>Purpose</a:t>
            </a:r>
            <a:r>
              <a:rPr lang="en-US" sz="2200" dirty="0" smtClean="0">
                <a:solidFill>
                  <a:prstClr val="black"/>
                </a:solidFill>
              </a:rPr>
              <a:t> </a:t>
            </a:r>
            <a:r>
              <a:rPr lang="en-US" sz="2200" b="1" dirty="0" smtClean="0">
                <a:solidFill>
                  <a:prstClr val="black"/>
                </a:solidFill>
              </a:rPr>
              <a:t>registers</a:t>
            </a:r>
            <a:r>
              <a:rPr lang="en-US" sz="2200" dirty="0">
                <a:solidFill>
                  <a:prstClr val="black"/>
                </a:solidFill>
              </a:rPr>
              <a:t>”</a:t>
            </a:r>
            <a:r>
              <a:rPr lang="en-US" sz="2200" dirty="0" smtClean="0">
                <a:solidFill>
                  <a:prstClr val="black"/>
                </a:solidFill>
              </a:rPr>
              <a:t> </a:t>
            </a:r>
            <a:r>
              <a:rPr lang="en-US" sz="2200" dirty="0" smtClean="0">
                <a:solidFill>
                  <a:srgbClr val="7030A0"/>
                </a:solidFill>
              </a:rPr>
              <a:t>always </a:t>
            </a:r>
            <a:r>
              <a:rPr lang="en-US" sz="2200" dirty="0">
                <a:solidFill>
                  <a:srgbClr val="7030A0"/>
                </a:solidFill>
              </a:rPr>
              <a:t>stores the same type of data</a:t>
            </a:r>
          </a:p>
          <a:p>
            <a:pPr marL="0" lvl="0" indent="0">
              <a:spcBef>
                <a:spcPts val="0"/>
              </a:spcBef>
              <a:buNone/>
            </a:pPr>
            <a:r>
              <a:rPr lang="en-US" sz="2200" dirty="0">
                <a:solidFill>
                  <a:prstClr val="black"/>
                </a:solidFill>
              </a:rPr>
              <a:t>      Examples: Index registers, status registers, etc.</a:t>
            </a:r>
          </a:p>
          <a:p>
            <a:pPr marL="0" lvl="0" indent="0">
              <a:spcBef>
                <a:spcPts val="0"/>
              </a:spcBef>
              <a:buNone/>
            </a:pPr>
            <a:endParaRPr lang="en-US" sz="2200" dirty="0" smtClean="0">
              <a:solidFill>
                <a:prstClr val="black"/>
              </a:solidFill>
            </a:endParaRPr>
          </a:p>
          <a:p>
            <a:pPr marL="0" lvl="0" indent="0">
              <a:spcBef>
                <a:spcPts val="0"/>
              </a:spcBef>
              <a:buNone/>
            </a:pPr>
            <a:r>
              <a:rPr lang="en-US" sz="2200" dirty="0" smtClean="0">
                <a:solidFill>
                  <a:prstClr val="black"/>
                </a:solidFill>
              </a:rPr>
              <a:t>Registers </a:t>
            </a:r>
            <a:r>
              <a:rPr lang="en-US" sz="2200" dirty="0">
                <a:solidFill>
                  <a:prstClr val="black"/>
                </a:solidFill>
              </a:rPr>
              <a:t>can be implemented using D flip-flops (recall that A D flip-flop could be used as a storage element). </a:t>
            </a:r>
            <a:endParaRPr lang="en-US" sz="2200" dirty="0" smtClean="0">
              <a:solidFill>
                <a:prstClr val="black"/>
              </a:solidFill>
            </a:endParaRPr>
          </a:p>
          <a:p>
            <a:pPr marL="0" lvl="0" indent="0">
              <a:spcBef>
                <a:spcPts val="0"/>
              </a:spcBef>
              <a:buNone/>
            </a:pPr>
            <a:r>
              <a:rPr lang="en-US" sz="2200" dirty="0" smtClean="0">
                <a:solidFill>
                  <a:prstClr val="black"/>
                </a:solidFill>
              </a:rPr>
              <a:t>For example, a </a:t>
            </a:r>
            <a:r>
              <a:rPr lang="en-US" sz="2200" dirty="0">
                <a:solidFill>
                  <a:prstClr val="black"/>
                </a:solidFill>
              </a:rPr>
              <a:t>32-bit register requires 32 D flip-flops.</a:t>
            </a:r>
          </a:p>
          <a:p>
            <a:pPr lvl="2"/>
            <a:r>
              <a:rPr lang="en-US" sz="2200" dirty="0" smtClean="0"/>
              <a:t>The size of the registers fixes the “word size”</a:t>
            </a:r>
            <a:endParaRPr lang="en-US" sz="2200" dirty="0"/>
          </a:p>
          <a:p>
            <a:pPr marL="0" indent="0">
              <a:buNone/>
            </a:pPr>
            <a:endParaRPr lang="en-US" sz="2300" b="1" dirty="0" smtClean="0"/>
          </a:p>
          <a:p>
            <a:pPr marL="0" indent="0">
              <a:buNone/>
            </a:pPr>
            <a:r>
              <a:rPr lang="en-US" sz="2200" b="1" dirty="0" smtClean="0"/>
              <a:t>The </a:t>
            </a:r>
            <a:r>
              <a:rPr lang="en-US" sz="2200" b="1" dirty="0"/>
              <a:t>arithmetic-logic unit (ALU)</a:t>
            </a:r>
            <a:r>
              <a:rPr lang="en-US" sz="2200" dirty="0"/>
              <a:t> </a:t>
            </a:r>
            <a:r>
              <a:rPr lang="en-US" sz="2200" dirty="0">
                <a:solidFill>
                  <a:srgbClr val="7030A0"/>
                </a:solidFill>
              </a:rPr>
              <a:t>carries out logical and arithmetic operations as directed by the control unit.</a:t>
            </a:r>
          </a:p>
          <a:p>
            <a:pPr marL="0" indent="0">
              <a:buNone/>
            </a:pPr>
            <a:endParaRPr lang="en-US" sz="2200" b="1" dirty="0" smtClean="0"/>
          </a:p>
          <a:p>
            <a:pPr marL="0" indent="0">
              <a:buNone/>
            </a:pPr>
            <a:r>
              <a:rPr lang="en-US" sz="2200" b="1" dirty="0" smtClean="0"/>
              <a:t>The </a:t>
            </a:r>
            <a:r>
              <a:rPr lang="en-US" sz="2200" b="1" dirty="0"/>
              <a:t>control unit</a:t>
            </a:r>
            <a:r>
              <a:rPr lang="en-US" sz="2200" dirty="0"/>
              <a:t> </a:t>
            </a:r>
            <a:r>
              <a:rPr lang="en-US" sz="2200" b="1" dirty="0"/>
              <a:t>(CU)</a:t>
            </a:r>
            <a:r>
              <a:rPr lang="en-US" sz="2200" dirty="0"/>
              <a:t> </a:t>
            </a:r>
            <a:r>
              <a:rPr lang="en-US" sz="2200" dirty="0">
                <a:solidFill>
                  <a:srgbClr val="7030A0"/>
                </a:solidFill>
              </a:rPr>
              <a:t>determines which actions to carry out according to the values in a program counter register and a status register.</a:t>
            </a:r>
          </a:p>
          <a:p>
            <a:pPr lvl="1"/>
            <a:r>
              <a:rPr lang="en-US" sz="2200" dirty="0"/>
              <a:t>It fetches and decodes sequentially the instructions stocked in the main memory.</a:t>
            </a:r>
          </a:p>
          <a:p>
            <a:pPr lvl="1"/>
            <a:r>
              <a:rPr lang="en-US" sz="2200" dirty="0"/>
              <a:t>It also monitors the execution of these instructions and the transfer of all information.</a:t>
            </a:r>
          </a:p>
          <a:p>
            <a:pPr marL="914400" lvl="2" indent="0">
              <a:buNone/>
            </a:pPr>
            <a:endParaRPr lang="en-US" sz="2000" dirty="0" smtClean="0"/>
          </a:p>
        </p:txBody>
      </p:sp>
      <p:sp>
        <p:nvSpPr>
          <p:cNvPr id="5" name="Date Placeholder 4"/>
          <p:cNvSpPr>
            <a:spLocks noGrp="1"/>
          </p:cNvSpPr>
          <p:nvPr>
            <p:ph type="dt" sz="half" idx="10"/>
          </p:nvPr>
        </p:nvSpPr>
        <p:spPr/>
        <p:txBody>
          <a:bodyPr/>
          <a:lstStyle/>
          <a:p>
            <a:fld id="{DE707CC7-1DBA-481E-A6AE-501C985AD03D}"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14</a:t>
            </a:fld>
            <a:endParaRPr lang="en-US"/>
          </a:p>
        </p:txBody>
      </p:sp>
    </p:spTree>
    <p:extLst>
      <p:ext uri="{BB962C8B-B14F-4D97-AF65-F5344CB8AC3E}">
        <p14:creationId xmlns:p14="http://schemas.microsoft.com/office/powerpoint/2010/main" val="5917274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Computer Buses and Clocks </a:t>
            </a:r>
          </a:p>
        </p:txBody>
      </p:sp>
      <p:sp>
        <p:nvSpPr>
          <p:cNvPr id="4" name="Content Placeholder 3"/>
          <p:cNvSpPr>
            <a:spLocks noGrp="1"/>
          </p:cNvSpPr>
          <p:nvPr>
            <p:ph idx="1"/>
          </p:nvPr>
        </p:nvSpPr>
        <p:spPr>
          <a:xfrm>
            <a:off x="908383" y="1143000"/>
            <a:ext cx="8153400" cy="4678363"/>
          </a:xfrm>
        </p:spPr>
        <p:txBody>
          <a:bodyPr>
            <a:noAutofit/>
          </a:bodyPr>
          <a:lstStyle/>
          <a:p>
            <a:pPr marL="0" marR="0" indent="0">
              <a:lnSpc>
                <a:spcPct val="107000"/>
              </a:lnSpc>
              <a:spcBef>
                <a:spcPts val="0"/>
              </a:spcBef>
              <a:spcAft>
                <a:spcPts val="800"/>
              </a:spcAft>
              <a:buNone/>
            </a:pPr>
            <a:r>
              <a:rPr lang="en-US" sz="2000" dirty="0">
                <a:latin typeface="Calibri" panose="020F0502020204030204" pitchFamily="34" charset="0"/>
                <a:ea typeface="Calibri" panose="020F0502020204030204" pitchFamily="34" charset="0"/>
                <a:cs typeface="Arial" panose="020B0604020202020204" pitchFamily="34" charset="0"/>
              </a:rPr>
              <a:t>The CPU communicates with the other components via a </a:t>
            </a:r>
            <a:r>
              <a:rPr lang="en-US" sz="2000" b="1" dirty="0">
                <a:latin typeface="Calibri" panose="020F0502020204030204" pitchFamily="34" charset="0"/>
                <a:ea typeface="Calibri" panose="020F0502020204030204" pitchFamily="34" charset="0"/>
                <a:cs typeface="Arial" panose="020B0604020202020204" pitchFamily="34" charset="0"/>
              </a:rPr>
              <a:t>Bus</a:t>
            </a:r>
            <a:r>
              <a:rPr lang="en-US" sz="2000" dirty="0">
                <a:latin typeface="Calibri" panose="020F0502020204030204" pitchFamily="34" charset="0"/>
                <a:ea typeface="Calibri" panose="020F0502020204030204" pitchFamily="34" charset="0"/>
                <a:cs typeface="Arial" panose="020B0604020202020204" pitchFamily="34" charset="0"/>
              </a:rPr>
              <a:t>. Moreover, and in order to maintain synchronization of the activities, the computer contains at least one </a:t>
            </a:r>
            <a:r>
              <a:rPr lang="en-US" sz="2000" b="1" dirty="0">
                <a:latin typeface="Calibri" panose="020F0502020204030204" pitchFamily="34" charset="0"/>
                <a:ea typeface="Calibri" panose="020F0502020204030204" pitchFamily="34" charset="0"/>
                <a:cs typeface="Arial" panose="020B0604020202020204" pitchFamily="34" charset="0"/>
              </a:rPr>
              <a:t>clock</a:t>
            </a:r>
            <a:r>
              <a:rPr lang="en-US" sz="2000" dirty="0" smtClean="0">
                <a:latin typeface="Calibri" panose="020F0502020204030204" pitchFamily="34" charset="0"/>
                <a:ea typeface="Calibri" panose="020F0502020204030204" pitchFamily="34" charset="0"/>
                <a:cs typeface="Arial" panose="020B0604020202020204" pitchFamily="34" charset="0"/>
              </a:rPr>
              <a:t>.</a:t>
            </a:r>
          </a:p>
          <a:p>
            <a:pPr marL="0" marR="0" indent="0">
              <a:lnSpc>
                <a:spcPct val="107000"/>
              </a:lnSpc>
              <a:spcBef>
                <a:spcPts val="0"/>
              </a:spcBef>
              <a:spcAft>
                <a:spcPts val="800"/>
              </a:spcAft>
              <a:buNone/>
            </a:pPr>
            <a:endParaRPr lang="en-US" sz="2000" dirty="0" smtClean="0">
              <a:latin typeface="Calibri" panose="020F0502020204030204" pitchFamily="34" charset="0"/>
              <a:ea typeface="Calibri" panose="020F0502020204030204" pitchFamily="34" charset="0"/>
              <a:cs typeface="Arial" panose="020B0604020202020204" pitchFamily="34" charset="0"/>
            </a:endParaRPr>
          </a:p>
          <a:p>
            <a:pPr marL="0" indent="0">
              <a:buNone/>
            </a:pPr>
            <a:r>
              <a:rPr lang="en-US" sz="2400" b="1" dirty="0" smtClean="0">
                <a:solidFill>
                  <a:srgbClr val="FF0000"/>
                </a:solidFill>
              </a:rPr>
              <a:t>Buses:</a:t>
            </a:r>
            <a:endParaRPr lang="en-US" sz="2400" dirty="0">
              <a:solidFill>
                <a:srgbClr val="FF0000"/>
              </a:solidFill>
            </a:endParaRPr>
          </a:p>
          <a:p>
            <a:pPr marL="0" indent="0">
              <a:buNone/>
            </a:pPr>
            <a:r>
              <a:rPr lang="en-US" sz="2000" dirty="0"/>
              <a:t>A </a:t>
            </a:r>
            <a:r>
              <a:rPr lang="en-US" sz="2000" b="1" dirty="0"/>
              <a:t>Bus</a:t>
            </a:r>
            <a:r>
              <a:rPr lang="en-US" sz="2000" dirty="0"/>
              <a:t> is a set of wires that simultaneously convey a single bit along each line (parallel movement). It connects multiple subsystems within the system.</a:t>
            </a:r>
          </a:p>
          <a:p>
            <a:pPr marL="0" indent="0">
              <a:buNone/>
            </a:pPr>
            <a:endParaRPr lang="en-US" sz="2000" dirty="0" smtClean="0"/>
          </a:p>
          <a:p>
            <a:pPr marL="0" indent="0">
              <a:buNone/>
            </a:pPr>
            <a:r>
              <a:rPr lang="en-US" sz="2000" dirty="0" smtClean="0"/>
              <a:t>A</a:t>
            </a:r>
            <a:r>
              <a:rPr lang="en-US" sz="2000" b="1" dirty="0" smtClean="0"/>
              <a:t> Bus </a:t>
            </a:r>
            <a:r>
              <a:rPr lang="en-US" sz="2000" dirty="0" smtClean="0"/>
              <a:t>could be “</a:t>
            </a:r>
            <a:r>
              <a:rPr lang="en-US" sz="2000" b="1" dirty="0" smtClean="0"/>
              <a:t>Point-to-Point</a:t>
            </a:r>
            <a:r>
              <a:rPr lang="en-US" sz="2000" dirty="0" smtClean="0"/>
              <a:t>” or “</a:t>
            </a:r>
            <a:r>
              <a:rPr lang="en-US" sz="2000" b="1" dirty="0" smtClean="0"/>
              <a:t>Multipoint</a:t>
            </a:r>
            <a:r>
              <a:rPr lang="en-US" sz="2000" dirty="0" smtClean="0"/>
              <a:t>” (also referred to as “</a:t>
            </a:r>
            <a:r>
              <a:rPr lang="en-US" sz="2000" dirty="0">
                <a:solidFill>
                  <a:prstClr val="black"/>
                </a:solidFill>
              </a:rPr>
              <a:t>Common Pathway</a:t>
            </a:r>
            <a:r>
              <a:rPr lang="en-US" sz="2000" dirty="0" smtClean="0"/>
              <a:t>”) </a:t>
            </a:r>
          </a:p>
          <a:p>
            <a:endParaRPr lang="en-US" sz="2400" dirty="0"/>
          </a:p>
        </p:txBody>
      </p:sp>
      <p:sp>
        <p:nvSpPr>
          <p:cNvPr id="6" name="Date Placeholder 5"/>
          <p:cNvSpPr>
            <a:spLocks noGrp="1"/>
          </p:cNvSpPr>
          <p:nvPr>
            <p:ph type="dt" sz="half" idx="10"/>
          </p:nvPr>
        </p:nvSpPr>
        <p:spPr/>
        <p:txBody>
          <a:bodyPr/>
          <a:lstStyle/>
          <a:p>
            <a:fld id="{621051EF-30D7-4D70-9593-C13C14AC9C10}" type="datetime3">
              <a:rPr lang="en-US" smtClean="0"/>
              <a:t>14 February 2017</a:t>
            </a:fld>
            <a:endParaRPr lang="en-US"/>
          </a:p>
        </p:txBody>
      </p:sp>
      <p:sp>
        <p:nvSpPr>
          <p:cNvPr id="7" name="Footer Placeholder 6"/>
          <p:cNvSpPr>
            <a:spLocks noGrp="1"/>
          </p:cNvSpPr>
          <p:nvPr>
            <p:ph type="ftr" sz="quarter" idx="11"/>
          </p:nvPr>
        </p:nvSpPr>
        <p:spPr/>
        <p:txBody>
          <a:bodyPr/>
          <a:lstStyle/>
          <a:p>
            <a:r>
              <a:rPr lang="en-US" smtClean="0"/>
              <a:t>T103 - Arab open University</a:t>
            </a:r>
            <a:endParaRPr lang="en-US"/>
          </a:p>
        </p:txBody>
      </p:sp>
      <p:sp>
        <p:nvSpPr>
          <p:cNvPr id="8" name="Slide Number Placeholder 7"/>
          <p:cNvSpPr>
            <a:spLocks noGrp="1"/>
          </p:cNvSpPr>
          <p:nvPr>
            <p:ph type="sldNum" sz="quarter" idx="12"/>
          </p:nvPr>
        </p:nvSpPr>
        <p:spPr/>
        <p:txBody>
          <a:bodyPr/>
          <a:lstStyle/>
          <a:p>
            <a:fld id="{20042AC5-0839-4BB6-BBC0-636ECAAE7EE1}" type="slidenum">
              <a:rPr lang="en-US" smtClean="0"/>
              <a:pPr/>
              <a:t>15</a:t>
            </a:fld>
            <a:endParaRPr lang="en-US"/>
          </a:p>
        </p:txBody>
      </p:sp>
    </p:spTree>
    <p:extLst>
      <p:ext uri="{BB962C8B-B14F-4D97-AF65-F5344CB8AC3E}">
        <p14:creationId xmlns:p14="http://schemas.microsoft.com/office/powerpoint/2010/main" val="351600420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Computer Buses and Clocks </a:t>
            </a:r>
          </a:p>
        </p:txBody>
      </p:sp>
      <p:sp>
        <p:nvSpPr>
          <p:cNvPr id="4" name="Content Placeholder 3"/>
          <p:cNvSpPr>
            <a:spLocks noGrp="1"/>
          </p:cNvSpPr>
          <p:nvPr>
            <p:ph idx="1"/>
          </p:nvPr>
        </p:nvSpPr>
        <p:spPr>
          <a:xfrm>
            <a:off x="838200" y="1143000"/>
            <a:ext cx="4419600" cy="1676400"/>
          </a:xfrm>
        </p:spPr>
        <p:txBody>
          <a:bodyPr>
            <a:normAutofit/>
          </a:bodyPr>
          <a:lstStyle/>
          <a:p>
            <a:r>
              <a:rPr lang="en-US" sz="2400" b="1" dirty="0" smtClean="0"/>
              <a:t>A point-to-point bus</a:t>
            </a:r>
            <a:r>
              <a:rPr lang="en-US" sz="2400" dirty="0" smtClean="0"/>
              <a:t> connects </a:t>
            </a:r>
            <a:r>
              <a:rPr lang="en-US" sz="2400" dirty="0"/>
              <a:t>two specific </a:t>
            </a:r>
            <a:r>
              <a:rPr lang="en-US" sz="2400" dirty="0" smtClean="0"/>
              <a:t>components</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400" y="915558"/>
            <a:ext cx="3276600" cy="1751442"/>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6800" y="4058943"/>
            <a:ext cx="5409464" cy="2226161"/>
          </a:xfrm>
          <a:prstGeom prst="rect">
            <a:avLst/>
          </a:prstGeom>
        </p:spPr>
      </p:pic>
      <p:sp>
        <p:nvSpPr>
          <p:cNvPr id="7" name="Rectangle 6"/>
          <p:cNvSpPr/>
          <p:nvPr/>
        </p:nvSpPr>
        <p:spPr>
          <a:xfrm>
            <a:off x="914400" y="3038424"/>
            <a:ext cx="7848600" cy="1077218"/>
          </a:xfrm>
          <a:prstGeom prst="rect">
            <a:avLst/>
          </a:prstGeom>
        </p:spPr>
        <p:txBody>
          <a:bodyPr wrap="square">
            <a:spAutoFit/>
          </a:bodyPr>
          <a:lstStyle/>
          <a:p>
            <a:pPr marL="457200" indent="-457200">
              <a:buFont typeface="Wingdings" pitchFamily="2" charset="2"/>
              <a:buChar char="§"/>
            </a:pPr>
            <a:r>
              <a:rPr lang="en-US" sz="2400" b="1" dirty="0"/>
              <a:t>A multipoint bus </a:t>
            </a:r>
            <a:r>
              <a:rPr lang="en-US" sz="2400" dirty="0"/>
              <a:t>is shared by several devices</a:t>
            </a:r>
          </a:p>
          <a:p>
            <a:pPr marL="914400" lvl="1" indent="-457200">
              <a:buFont typeface="Arial" pitchFamily="34" charset="0"/>
              <a:buChar char="•"/>
            </a:pPr>
            <a:r>
              <a:rPr lang="en-US" sz="2000" dirty="0"/>
              <a:t>Bus protocols are used to manage the bus access by these devices</a:t>
            </a:r>
          </a:p>
        </p:txBody>
      </p:sp>
      <p:cxnSp>
        <p:nvCxnSpPr>
          <p:cNvPr id="9" name="Straight Arrow Connector 8"/>
          <p:cNvCxnSpPr/>
          <p:nvPr/>
        </p:nvCxnSpPr>
        <p:spPr>
          <a:xfrm>
            <a:off x="4648200" y="1752600"/>
            <a:ext cx="819150" cy="0"/>
          </a:xfrm>
          <a:prstGeom prst="straightConnector1">
            <a:avLst/>
          </a:prstGeom>
          <a:ln w="381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6" idx="3"/>
          </p:cNvCxnSpPr>
          <p:nvPr/>
        </p:nvCxnSpPr>
        <p:spPr>
          <a:xfrm flipV="1">
            <a:off x="6476264" y="5172023"/>
            <a:ext cx="648436" cy="1"/>
          </a:xfrm>
          <a:prstGeom prst="straightConnector1">
            <a:avLst/>
          </a:prstGeom>
          <a:ln w="38100">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7133665" y="4957154"/>
            <a:ext cx="1752600" cy="400110"/>
          </a:xfrm>
          <a:prstGeom prst="rect">
            <a:avLst/>
          </a:prstGeom>
          <a:noFill/>
        </p:spPr>
        <p:txBody>
          <a:bodyPr wrap="square" rtlCol="0">
            <a:spAutoFit/>
          </a:bodyPr>
          <a:lstStyle/>
          <a:p>
            <a:pPr algn="ctr"/>
            <a:r>
              <a:rPr lang="en-US" sz="2000" b="1" dirty="0" smtClean="0">
                <a:solidFill>
                  <a:schemeClr val="tx2">
                    <a:lumMod val="75000"/>
                  </a:schemeClr>
                </a:solidFill>
              </a:rPr>
              <a:t>Multipoint Bus</a:t>
            </a:r>
            <a:endParaRPr lang="en-US" sz="2000" b="1" dirty="0">
              <a:solidFill>
                <a:schemeClr val="tx2">
                  <a:lumMod val="75000"/>
                </a:schemeClr>
              </a:solidFill>
            </a:endParaRPr>
          </a:p>
        </p:txBody>
      </p:sp>
      <p:sp>
        <p:nvSpPr>
          <p:cNvPr id="11" name="Rectangle 10"/>
          <p:cNvSpPr/>
          <p:nvPr/>
        </p:nvSpPr>
        <p:spPr>
          <a:xfrm>
            <a:off x="6193996" y="2582500"/>
            <a:ext cx="2010679" cy="276999"/>
          </a:xfrm>
          <a:prstGeom prst="rect">
            <a:avLst/>
          </a:prstGeom>
        </p:spPr>
        <p:txBody>
          <a:bodyPr wrap="none">
            <a:spAutoFit/>
          </a:bodyPr>
          <a:lstStyle/>
          <a:p>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Figure </a:t>
            </a:r>
            <a:r>
              <a:rPr lang="ar-SA" sz="1200" i="1" dirty="0" smtClean="0">
                <a:solidFill>
                  <a:schemeClr val="tx2">
                    <a:lumMod val="75000"/>
                  </a:schemeClr>
                </a:solidFill>
                <a:latin typeface="Calibri" panose="020F0502020204030204" pitchFamily="34" charset="0"/>
                <a:ea typeface="Calibri" panose="020F0502020204030204" pitchFamily="34" charset="0"/>
              </a:rPr>
              <a:t>‎</a:t>
            </a:r>
            <a:r>
              <a:rPr lang="en-US" sz="12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4.1</a:t>
            </a:r>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 Point-to-point bus</a:t>
            </a:r>
            <a:endParaRPr lang="en-US" sz="2000" i="1" dirty="0">
              <a:solidFill>
                <a:schemeClr val="tx2">
                  <a:lumMod val="75000"/>
                </a:schemeClr>
              </a:solidFill>
            </a:endParaRPr>
          </a:p>
        </p:txBody>
      </p:sp>
      <p:sp>
        <p:nvSpPr>
          <p:cNvPr id="12" name="Rectangle 11"/>
          <p:cNvSpPr/>
          <p:nvPr/>
        </p:nvSpPr>
        <p:spPr>
          <a:xfrm>
            <a:off x="3262347" y="6146604"/>
            <a:ext cx="1795428" cy="276999"/>
          </a:xfrm>
          <a:prstGeom prst="rect">
            <a:avLst/>
          </a:prstGeom>
        </p:spPr>
        <p:txBody>
          <a:bodyPr wrap="none">
            <a:spAutoFit/>
          </a:bodyPr>
          <a:lstStyle/>
          <a:p>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Figure </a:t>
            </a:r>
            <a:r>
              <a:rPr lang="en-US" sz="12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4.2</a:t>
            </a:r>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 Multipoint bus</a:t>
            </a:r>
            <a:endParaRPr lang="en-US" sz="2000" i="1" dirty="0">
              <a:solidFill>
                <a:schemeClr val="tx2">
                  <a:lumMod val="75000"/>
                </a:schemeClr>
              </a:solidFill>
            </a:endParaRPr>
          </a:p>
        </p:txBody>
      </p:sp>
      <p:sp>
        <p:nvSpPr>
          <p:cNvPr id="13" name="Date Placeholder 12"/>
          <p:cNvSpPr>
            <a:spLocks noGrp="1"/>
          </p:cNvSpPr>
          <p:nvPr>
            <p:ph type="dt" sz="half" idx="10"/>
          </p:nvPr>
        </p:nvSpPr>
        <p:spPr/>
        <p:txBody>
          <a:bodyPr/>
          <a:lstStyle/>
          <a:p>
            <a:fld id="{DEE61F78-FDD8-4D64-8868-A43D28E2FB0E}" type="datetime3">
              <a:rPr lang="en-US" smtClean="0"/>
              <a:t>14 February 2017</a:t>
            </a:fld>
            <a:endParaRPr lang="en-US"/>
          </a:p>
        </p:txBody>
      </p:sp>
      <p:sp>
        <p:nvSpPr>
          <p:cNvPr id="14" name="Footer Placeholder 13"/>
          <p:cNvSpPr>
            <a:spLocks noGrp="1"/>
          </p:cNvSpPr>
          <p:nvPr>
            <p:ph type="ftr" sz="quarter" idx="11"/>
          </p:nvPr>
        </p:nvSpPr>
        <p:spPr/>
        <p:txBody>
          <a:bodyPr/>
          <a:lstStyle/>
          <a:p>
            <a:r>
              <a:rPr lang="en-US" smtClean="0"/>
              <a:t>T103 - Arab open University</a:t>
            </a:r>
            <a:endParaRPr lang="en-US"/>
          </a:p>
        </p:txBody>
      </p:sp>
      <p:sp>
        <p:nvSpPr>
          <p:cNvPr id="15" name="Slide Number Placeholder 14"/>
          <p:cNvSpPr>
            <a:spLocks noGrp="1"/>
          </p:cNvSpPr>
          <p:nvPr>
            <p:ph type="sldNum" sz="quarter" idx="12"/>
          </p:nvPr>
        </p:nvSpPr>
        <p:spPr/>
        <p:txBody>
          <a:bodyPr/>
          <a:lstStyle/>
          <a:p>
            <a:fld id="{20042AC5-0839-4BB6-BBC0-636ECAAE7EE1}" type="slidenum">
              <a:rPr lang="en-US" smtClean="0"/>
              <a:pPr/>
              <a:t>16</a:t>
            </a:fld>
            <a:endParaRPr lang="en-US"/>
          </a:p>
        </p:txBody>
      </p:sp>
    </p:spTree>
    <p:extLst>
      <p:ext uri="{BB962C8B-B14F-4D97-AF65-F5344CB8AC3E}">
        <p14:creationId xmlns:p14="http://schemas.microsoft.com/office/powerpoint/2010/main" val="2049760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Computer Buses and Clocks </a:t>
            </a:r>
          </a:p>
        </p:txBody>
      </p:sp>
      <p:sp>
        <p:nvSpPr>
          <p:cNvPr id="4" name="Content Placeholder 3"/>
          <p:cNvSpPr>
            <a:spLocks noGrp="1"/>
          </p:cNvSpPr>
          <p:nvPr>
            <p:ph idx="1"/>
          </p:nvPr>
        </p:nvSpPr>
        <p:spPr>
          <a:xfrm>
            <a:off x="908383" y="762000"/>
            <a:ext cx="8153400" cy="4525963"/>
          </a:xfrm>
        </p:spPr>
        <p:txBody>
          <a:bodyPr>
            <a:normAutofit/>
          </a:bodyPr>
          <a:lstStyle/>
          <a:p>
            <a:pPr marL="0" indent="0">
              <a:buNone/>
            </a:pPr>
            <a:r>
              <a:rPr lang="en-US" sz="2400" dirty="0" smtClean="0"/>
              <a:t>A typical bus consists of three main components</a:t>
            </a:r>
          </a:p>
          <a:p>
            <a:pPr lvl="1"/>
            <a:r>
              <a:rPr lang="en-US" sz="2000" b="1" dirty="0" smtClean="0"/>
              <a:t>Data </a:t>
            </a:r>
            <a:r>
              <a:rPr lang="en-US" sz="2000" b="1" dirty="0"/>
              <a:t>lines: </a:t>
            </a:r>
            <a:r>
              <a:rPr lang="en-US" sz="2000" dirty="0"/>
              <a:t>are dedicated to moving data </a:t>
            </a:r>
            <a:r>
              <a:rPr lang="en-US" sz="2000" dirty="0" smtClean="0"/>
              <a:t>(the </a:t>
            </a:r>
            <a:r>
              <a:rPr lang="en-US" sz="2000" dirty="0"/>
              <a:t>actual information that must be </a:t>
            </a:r>
            <a:r>
              <a:rPr lang="en-US" sz="2000" dirty="0" smtClean="0"/>
              <a:t>moved).</a:t>
            </a:r>
            <a:endParaRPr lang="en-US" sz="2000" dirty="0"/>
          </a:p>
          <a:p>
            <a:pPr lvl="1"/>
            <a:r>
              <a:rPr lang="en-US" sz="2000" b="1" dirty="0"/>
              <a:t>Control </a:t>
            </a:r>
            <a:r>
              <a:rPr lang="en-US" sz="2000" b="1" dirty="0" smtClean="0"/>
              <a:t>lines: </a:t>
            </a:r>
            <a:r>
              <a:rPr lang="en-US" sz="2000" dirty="0"/>
              <a:t>indicate which device has </a:t>
            </a:r>
            <a:r>
              <a:rPr lang="en-US" sz="2000" dirty="0" smtClean="0"/>
              <a:t>permission to </a:t>
            </a:r>
            <a:r>
              <a:rPr lang="en-US" sz="2000" dirty="0"/>
              <a:t>use the bus and for what purpose (reading or writing from memory </a:t>
            </a:r>
            <a:r>
              <a:rPr lang="en-US" sz="2000" dirty="0" smtClean="0"/>
              <a:t>or from </a:t>
            </a:r>
            <a:r>
              <a:rPr lang="en-US" sz="2000" dirty="0"/>
              <a:t>an I/O device, </a:t>
            </a:r>
            <a:r>
              <a:rPr lang="en-US" sz="2000" dirty="0" smtClean="0"/>
              <a:t>…)</a:t>
            </a:r>
          </a:p>
          <a:p>
            <a:pPr lvl="1"/>
            <a:r>
              <a:rPr lang="en-US" sz="2000" b="1" dirty="0" smtClean="0"/>
              <a:t>Address lines: </a:t>
            </a:r>
            <a:r>
              <a:rPr lang="en-US" sz="2000" dirty="0" smtClean="0"/>
              <a:t>indicate the </a:t>
            </a:r>
            <a:r>
              <a:rPr lang="en-US" sz="2000" dirty="0"/>
              <a:t>location (in memory, for example) that the data should be either </a:t>
            </a:r>
            <a:r>
              <a:rPr lang="en-US" sz="2000" dirty="0" smtClean="0"/>
              <a:t>read from </a:t>
            </a:r>
            <a:r>
              <a:rPr lang="en-US" sz="2000" dirty="0"/>
              <a:t>or written </a:t>
            </a:r>
            <a:r>
              <a:rPr lang="en-US" sz="2000" dirty="0" smtClean="0"/>
              <a:t>to.</a:t>
            </a:r>
          </a:p>
          <a:p>
            <a:pPr marL="457200" lvl="1" indent="0">
              <a:buNone/>
            </a:pPr>
            <a:r>
              <a:rPr lang="en-US" sz="2000" dirty="0" smtClean="0"/>
              <a:t>Power </a:t>
            </a:r>
            <a:r>
              <a:rPr lang="en-US" sz="2000" dirty="0"/>
              <a:t>lines are also required to provide the electrical power necessary</a:t>
            </a:r>
          </a:p>
          <a:p>
            <a:pPr marL="457200" lvl="1" indent="0">
              <a:buNone/>
            </a:pPr>
            <a:endParaRPr lang="en-US" sz="2000" dirty="0" smtClean="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38400" y="3810000"/>
            <a:ext cx="4343400" cy="2663074"/>
          </a:xfrm>
          <a:prstGeom prst="rect">
            <a:avLst/>
          </a:prstGeom>
        </p:spPr>
      </p:pic>
      <p:sp>
        <p:nvSpPr>
          <p:cNvPr id="7" name="Rectangle 6"/>
          <p:cNvSpPr/>
          <p:nvPr/>
        </p:nvSpPr>
        <p:spPr>
          <a:xfrm>
            <a:off x="3388451" y="6211464"/>
            <a:ext cx="2651752" cy="276999"/>
          </a:xfrm>
          <a:prstGeom prst="rect">
            <a:avLst/>
          </a:prstGeom>
          <a:solidFill>
            <a:schemeClr val="bg1"/>
          </a:solidFill>
        </p:spPr>
        <p:txBody>
          <a:bodyPr wrap="none">
            <a:spAutoFit/>
          </a:bodyPr>
          <a:lstStyle/>
          <a:p>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Figure </a:t>
            </a:r>
            <a:r>
              <a:rPr lang="ar-SA" sz="1200" i="1" dirty="0" smtClean="0">
                <a:solidFill>
                  <a:schemeClr val="tx2">
                    <a:lumMod val="75000"/>
                  </a:schemeClr>
                </a:solidFill>
                <a:latin typeface="Calibri" panose="020F0502020204030204" pitchFamily="34" charset="0"/>
                <a:ea typeface="Calibri" panose="020F0502020204030204" pitchFamily="34" charset="0"/>
              </a:rPr>
              <a:t>‎</a:t>
            </a:r>
            <a:r>
              <a:rPr lang="en-US" sz="1200" i="1" dirty="0" smtClean="0">
                <a:solidFill>
                  <a:schemeClr val="tx2">
                    <a:lumMod val="75000"/>
                  </a:schemeClr>
                </a:solidFill>
                <a:latin typeface="Calibri" panose="020F0502020204030204" pitchFamily="34" charset="0"/>
                <a:ea typeface="Calibri" panose="020F0502020204030204" pitchFamily="34" charset="0"/>
              </a:rPr>
              <a:t>4</a:t>
            </a:r>
            <a:r>
              <a:rPr lang="en-US" sz="12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.3</a:t>
            </a:r>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 Components of a typical Bus</a:t>
            </a:r>
            <a:endParaRPr lang="en-US" sz="2000" i="1" dirty="0">
              <a:solidFill>
                <a:schemeClr val="tx2">
                  <a:lumMod val="75000"/>
                </a:schemeClr>
              </a:solidFill>
            </a:endParaRPr>
          </a:p>
        </p:txBody>
      </p:sp>
      <p:sp>
        <p:nvSpPr>
          <p:cNvPr id="8" name="Date Placeholder 7"/>
          <p:cNvSpPr>
            <a:spLocks noGrp="1"/>
          </p:cNvSpPr>
          <p:nvPr>
            <p:ph type="dt" sz="half" idx="10"/>
          </p:nvPr>
        </p:nvSpPr>
        <p:spPr/>
        <p:txBody>
          <a:bodyPr/>
          <a:lstStyle/>
          <a:p>
            <a:fld id="{F2DAB575-AF37-455D-AA0B-18ADCA82CB13}" type="datetime3">
              <a:rPr lang="en-US" smtClean="0"/>
              <a:t>14 February 2017</a:t>
            </a:fld>
            <a:endParaRPr lang="en-US"/>
          </a:p>
        </p:txBody>
      </p:sp>
      <p:sp>
        <p:nvSpPr>
          <p:cNvPr id="9" name="Footer Placeholder 8"/>
          <p:cNvSpPr>
            <a:spLocks noGrp="1"/>
          </p:cNvSpPr>
          <p:nvPr>
            <p:ph type="ftr" sz="quarter" idx="11"/>
          </p:nvPr>
        </p:nvSpPr>
        <p:spPr/>
        <p:txBody>
          <a:bodyPr/>
          <a:lstStyle/>
          <a:p>
            <a:r>
              <a:rPr lang="en-US" smtClean="0"/>
              <a:t>T103 - Arab open University</a:t>
            </a:r>
            <a:endParaRPr lang="en-US"/>
          </a:p>
        </p:txBody>
      </p:sp>
      <p:sp>
        <p:nvSpPr>
          <p:cNvPr id="10" name="Slide Number Placeholder 9"/>
          <p:cNvSpPr>
            <a:spLocks noGrp="1"/>
          </p:cNvSpPr>
          <p:nvPr>
            <p:ph type="sldNum" sz="quarter" idx="12"/>
          </p:nvPr>
        </p:nvSpPr>
        <p:spPr/>
        <p:txBody>
          <a:bodyPr/>
          <a:lstStyle/>
          <a:p>
            <a:fld id="{20042AC5-0839-4BB6-BBC0-636ECAAE7EE1}" type="slidenum">
              <a:rPr lang="en-US" smtClean="0"/>
              <a:pPr/>
              <a:t>17</a:t>
            </a:fld>
            <a:endParaRPr lang="en-US"/>
          </a:p>
        </p:txBody>
      </p:sp>
    </p:spTree>
    <p:extLst>
      <p:ext uri="{BB962C8B-B14F-4D97-AF65-F5344CB8AC3E}">
        <p14:creationId xmlns:p14="http://schemas.microsoft.com/office/powerpoint/2010/main" val="8274467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Computer Buses and Clocks </a:t>
            </a:r>
          </a:p>
        </p:txBody>
      </p:sp>
      <p:sp>
        <p:nvSpPr>
          <p:cNvPr id="6" name="Rectangle 5"/>
          <p:cNvSpPr/>
          <p:nvPr/>
        </p:nvSpPr>
        <p:spPr>
          <a:xfrm>
            <a:off x="990600" y="923365"/>
            <a:ext cx="7848600" cy="5209503"/>
          </a:xfrm>
          <a:prstGeom prst="rect">
            <a:avLst/>
          </a:prstGeom>
        </p:spPr>
        <p:txBody>
          <a:bodyPr wrap="square">
            <a:spAutoFit/>
          </a:bodyPr>
          <a:lstStyle/>
          <a:p>
            <a:pPr>
              <a:lnSpc>
                <a:spcPct val="107000"/>
              </a:lnSpc>
              <a:spcBef>
                <a:spcPts val="1500"/>
              </a:spcBef>
              <a:spcAft>
                <a:spcPts val="1700"/>
              </a:spcAft>
            </a:pPr>
            <a:r>
              <a:rPr lang="en-US" sz="2800" b="1" dirty="0" smtClean="0">
                <a:solidFill>
                  <a:srgbClr val="FF0000"/>
                </a:solidFill>
                <a:latin typeface="Calibri" panose="020F0502020204030204" pitchFamily="34" charset="0"/>
                <a:ea typeface="Times New Roman" panose="02020603050405020304" pitchFamily="18" charset="0"/>
                <a:cs typeface="Times New Roman" panose="02020603050405020304" pitchFamily="18" charset="0"/>
              </a:rPr>
              <a:t>Clocks:</a:t>
            </a:r>
            <a:endParaRPr lang="en-US" sz="2000" b="1" dirty="0">
              <a:solidFill>
                <a:srgbClr val="FF000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Every computer contains at least one clock that synchronizes the activities of its components.</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The CPU requires a fixed number of clock ticks to execute each instruction.</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Moreover, instruction performance is often measured in clock cycles instead of seconds.</a:t>
            </a:r>
            <a:endParaRPr lang="en-US" dirty="0">
              <a:latin typeface="Calibri" panose="020F0502020204030204" pitchFamily="34" charset="0"/>
              <a:ea typeface="Calibri" panose="020F0502020204030204" pitchFamily="34" charset="0"/>
              <a:cs typeface="Arial" panose="020B0604020202020204" pitchFamily="34" charset="0"/>
            </a:endParaRPr>
          </a:p>
          <a:p>
            <a:pPr>
              <a:spcAft>
                <a:spcPts val="0"/>
              </a:spcAft>
            </a:pPr>
            <a:r>
              <a:rPr lang="en-US" sz="2000" dirty="0">
                <a:solidFill>
                  <a:srgbClr val="000000"/>
                </a:solidFill>
                <a:latin typeface="Calibri" panose="020F0502020204030204" pitchFamily="34" charset="0"/>
              </a:rPr>
              <a:t>The </a:t>
            </a:r>
            <a:r>
              <a:rPr lang="en-US" sz="2000" b="1" dirty="0">
                <a:solidFill>
                  <a:srgbClr val="000000"/>
                </a:solidFill>
                <a:latin typeface="Calibri" panose="020F0502020204030204" pitchFamily="34" charset="0"/>
              </a:rPr>
              <a:t>clock frequency</a:t>
            </a:r>
            <a:r>
              <a:rPr lang="en-US" sz="2000" dirty="0">
                <a:solidFill>
                  <a:srgbClr val="000000"/>
                </a:solidFill>
                <a:latin typeface="Calibri" panose="020F0502020204030204" pitchFamily="34" charset="0"/>
              </a:rPr>
              <a:t>, measured in megahertz or gigahertz, determines the speed with which all operations are carried out.</a:t>
            </a:r>
            <a:endParaRPr lang="en-US" sz="3200" dirty="0"/>
          </a:p>
          <a:p>
            <a:pPr>
              <a:spcAft>
                <a:spcPts val="0"/>
              </a:spcAft>
            </a:pPr>
            <a:r>
              <a:rPr lang="en-US" sz="2000" b="1" dirty="0">
                <a:solidFill>
                  <a:srgbClr val="000000"/>
                </a:solidFill>
                <a:latin typeface="Calibri" panose="020F0502020204030204" pitchFamily="34" charset="0"/>
              </a:rPr>
              <a:t> </a:t>
            </a:r>
            <a:endParaRPr lang="en-US" sz="3200" dirty="0"/>
          </a:p>
          <a:p>
            <a:pPr>
              <a:spcAft>
                <a:spcPts val="0"/>
              </a:spcAft>
            </a:pPr>
            <a:r>
              <a:rPr lang="en-US" sz="2000" b="1" dirty="0">
                <a:solidFill>
                  <a:srgbClr val="000000"/>
                </a:solidFill>
                <a:latin typeface="Calibri" panose="020F0502020204030204" pitchFamily="34" charset="0"/>
              </a:rPr>
              <a:t>Clock cycle time </a:t>
            </a:r>
            <a:r>
              <a:rPr lang="en-US" sz="2000" dirty="0">
                <a:solidFill>
                  <a:srgbClr val="000000"/>
                </a:solidFill>
                <a:latin typeface="Calibri" panose="020F0502020204030204" pitchFamily="34" charset="0"/>
              </a:rPr>
              <a:t>is the reciprocal of clock frequency: </a:t>
            </a:r>
            <a:r>
              <a:rPr lang="en-US" sz="2000" b="1" dirty="0">
                <a:solidFill>
                  <a:srgbClr val="000000"/>
                </a:solidFill>
                <a:latin typeface="Calibri" panose="020F0502020204030204" pitchFamily="34" charset="0"/>
              </a:rPr>
              <a:t>T= 1/F</a:t>
            </a:r>
            <a:endParaRPr lang="en-US" sz="3200" dirty="0"/>
          </a:p>
          <a:p>
            <a:pPr marL="109855" marR="0">
              <a:spcBef>
                <a:spcPts val="0"/>
              </a:spcBef>
              <a:spcAft>
                <a:spcPts val="0"/>
              </a:spcAft>
            </a:pPr>
            <a:r>
              <a:rPr lang="en-US" sz="2000" b="1" dirty="0">
                <a:solidFill>
                  <a:srgbClr val="00B050"/>
                </a:solidFill>
                <a:latin typeface="Calibri" panose="020F0502020204030204" pitchFamily="34" charset="0"/>
              </a:rPr>
              <a:t>Example 1</a:t>
            </a:r>
            <a:r>
              <a:rPr lang="en-US" sz="2000" b="1" dirty="0">
                <a:solidFill>
                  <a:srgbClr val="000000"/>
                </a:solidFill>
                <a:latin typeface="Calibri" panose="020F0502020204030204" pitchFamily="34" charset="0"/>
              </a:rPr>
              <a:t>: </a:t>
            </a:r>
            <a:r>
              <a:rPr lang="en-US" sz="2000" dirty="0">
                <a:solidFill>
                  <a:srgbClr val="000000"/>
                </a:solidFill>
                <a:latin typeface="Calibri" panose="020F0502020204030204" pitchFamily="34" charset="0"/>
              </a:rPr>
              <a:t>An 800 MHz clock has a cycle time of 1/(800x 10</a:t>
            </a:r>
            <a:r>
              <a:rPr lang="en-US" sz="2000" baseline="30000" dirty="0">
                <a:solidFill>
                  <a:srgbClr val="000000"/>
                </a:solidFill>
                <a:latin typeface="Calibri" panose="020F0502020204030204" pitchFamily="34" charset="0"/>
              </a:rPr>
              <a:t>6</a:t>
            </a:r>
            <a:r>
              <a:rPr lang="en-US" sz="2000" dirty="0">
                <a:solidFill>
                  <a:srgbClr val="000000"/>
                </a:solidFill>
                <a:latin typeface="Calibri" panose="020F0502020204030204" pitchFamily="34" charset="0"/>
              </a:rPr>
              <a:t>) seconds = 1.25 ns.</a:t>
            </a:r>
            <a:endParaRPr lang="en-US" sz="3200" dirty="0"/>
          </a:p>
          <a:p>
            <a:pPr marL="109855" marR="0">
              <a:spcBef>
                <a:spcPts val="0"/>
              </a:spcBef>
              <a:spcAft>
                <a:spcPts val="0"/>
              </a:spcAft>
            </a:pPr>
            <a:r>
              <a:rPr lang="en-US" sz="2000" b="1" dirty="0">
                <a:solidFill>
                  <a:srgbClr val="00B050"/>
                </a:solidFill>
                <a:latin typeface="Calibri" panose="020F0502020204030204" pitchFamily="34" charset="0"/>
              </a:rPr>
              <a:t>Example 2</a:t>
            </a:r>
            <a:r>
              <a:rPr lang="en-US" sz="2000" b="1" dirty="0">
                <a:solidFill>
                  <a:srgbClr val="000000"/>
                </a:solidFill>
                <a:latin typeface="Calibri" panose="020F0502020204030204" pitchFamily="34" charset="0"/>
              </a:rPr>
              <a:t>:</a:t>
            </a:r>
            <a:r>
              <a:rPr lang="en-US" sz="2000" dirty="0">
                <a:solidFill>
                  <a:srgbClr val="000000"/>
                </a:solidFill>
                <a:latin typeface="Calibri" panose="020F0502020204030204" pitchFamily="34" charset="0"/>
              </a:rPr>
              <a:t> </a:t>
            </a:r>
            <a:r>
              <a:rPr lang="en-US" sz="1900" dirty="0">
                <a:solidFill>
                  <a:srgbClr val="000000"/>
                </a:solidFill>
                <a:latin typeface="Calibri" panose="020F0502020204030204" pitchFamily="34" charset="0"/>
              </a:rPr>
              <a:t>If a machine has a 2ns cycle time, then it is a 500MHz machine.</a:t>
            </a:r>
            <a:endParaRPr lang="en-US" sz="1900" dirty="0">
              <a:effectLst/>
            </a:endParaRPr>
          </a:p>
        </p:txBody>
      </p:sp>
      <p:sp>
        <p:nvSpPr>
          <p:cNvPr id="7" name="Date Placeholder 6"/>
          <p:cNvSpPr>
            <a:spLocks noGrp="1"/>
          </p:cNvSpPr>
          <p:nvPr>
            <p:ph type="dt" sz="half" idx="10"/>
          </p:nvPr>
        </p:nvSpPr>
        <p:spPr/>
        <p:txBody>
          <a:bodyPr/>
          <a:lstStyle/>
          <a:p>
            <a:fld id="{DEF880F4-4F45-477D-B3D5-5F7794CBD645}" type="datetime3">
              <a:rPr lang="en-US" smtClean="0"/>
              <a:t>14 February 2017</a:t>
            </a:fld>
            <a:endParaRPr lang="en-US"/>
          </a:p>
        </p:txBody>
      </p:sp>
      <p:sp>
        <p:nvSpPr>
          <p:cNvPr id="8" name="Footer Placeholder 7"/>
          <p:cNvSpPr>
            <a:spLocks noGrp="1"/>
          </p:cNvSpPr>
          <p:nvPr>
            <p:ph type="ftr" sz="quarter" idx="11"/>
          </p:nvPr>
        </p:nvSpPr>
        <p:spPr/>
        <p:txBody>
          <a:bodyPr/>
          <a:lstStyle/>
          <a:p>
            <a:r>
              <a:rPr lang="en-US" smtClean="0"/>
              <a:t>T103 - Arab open University</a:t>
            </a:r>
            <a:endParaRPr lang="en-US"/>
          </a:p>
        </p:txBody>
      </p:sp>
      <p:sp>
        <p:nvSpPr>
          <p:cNvPr id="9" name="Slide Number Placeholder 8"/>
          <p:cNvSpPr>
            <a:spLocks noGrp="1"/>
          </p:cNvSpPr>
          <p:nvPr>
            <p:ph type="sldNum" sz="quarter" idx="12"/>
          </p:nvPr>
        </p:nvSpPr>
        <p:spPr/>
        <p:txBody>
          <a:bodyPr/>
          <a:lstStyle/>
          <a:p>
            <a:fld id="{20042AC5-0839-4BB6-BBC0-636ECAAE7EE1}" type="slidenum">
              <a:rPr lang="en-US" smtClean="0"/>
              <a:pPr/>
              <a:t>18</a:t>
            </a:fld>
            <a:endParaRPr lang="en-US"/>
          </a:p>
        </p:txBody>
      </p:sp>
    </p:spTree>
    <p:extLst>
      <p:ext uri="{BB962C8B-B14F-4D97-AF65-F5344CB8AC3E}">
        <p14:creationId xmlns:p14="http://schemas.microsoft.com/office/powerpoint/2010/main" val="32632178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Memory Addressing and Organization </a:t>
            </a:r>
          </a:p>
        </p:txBody>
      </p:sp>
      <p:sp>
        <p:nvSpPr>
          <p:cNvPr id="4" name="Content Placeholder 3"/>
          <p:cNvSpPr>
            <a:spLocks noGrp="1"/>
          </p:cNvSpPr>
          <p:nvPr>
            <p:ph idx="1"/>
          </p:nvPr>
        </p:nvSpPr>
        <p:spPr>
          <a:xfrm>
            <a:off x="914400" y="1143000"/>
            <a:ext cx="8153400" cy="1752600"/>
          </a:xfrm>
        </p:spPr>
        <p:txBody>
          <a:bodyPr>
            <a:normAutofit/>
          </a:bodyPr>
          <a:lstStyle/>
          <a:p>
            <a:r>
              <a:rPr lang="en-US" sz="2400" dirty="0"/>
              <a:t>Computer memory consists of a linear array of addressable storage cells that are similar to registers. It can be seen as a matrix of bits, with each row having a length typically equivalent to the </a:t>
            </a:r>
            <a:r>
              <a:rPr lang="en-US" sz="2400" b="1" dirty="0"/>
              <a:t>word size</a:t>
            </a:r>
            <a:r>
              <a:rPr lang="en-US" sz="2400" dirty="0"/>
              <a:t> of the machine (figure </a:t>
            </a:r>
            <a:r>
              <a:rPr lang="en-US" sz="2400" dirty="0" smtClean="0"/>
              <a:t>4.4</a:t>
            </a:r>
            <a:r>
              <a:rPr lang="en-US" sz="2400" dirty="0"/>
              <a:t>).</a:t>
            </a:r>
          </a:p>
          <a:p>
            <a:endParaRPr lang="en-US" dirty="0" smtClean="0"/>
          </a:p>
          <a:p>
            <a:endParaRPr lang="en-US" dirty="0"/>
          </a:p>
          <a:p>
            <a:pPr marL="0" indent="0">
              <a:buNone/>
            </a:pPr>
            <a:endParaRPr lang="en-US" dirty="0" smtClean="0"/>
          </a:p>
        </p:txBody>
      </p:sp>
      <p:pic>
        <p:nvPicPr>
          <p:cNvPr id="6" name="Picture 5"/>
          <p:cNvPicPr/>
          <p:nvPr/>
        </p:nvPicPr>
        <p:blipFill>
          <a:blip r:embed="rId2"/>
          <a:stretch>
            <a:fillRect/>
          </a:stretch>
        </p:blipFill>
        <p:spPr>
          <a:xfrm>
            <a:off x="1905000" y="2859741"/>
            <a:ext cx="5334000" cy="2245659"/>
          </a:xfrm>
          <a:prstGeom prst="rect">
            <a:avLst/>
          </a:prstGeom>
        </p:spPr>
      </p:pic>
      <p:sp>
        <p:nvSpPr>
          <p:cNvPr id="7" name="Rectangle 6"/>
          <p:cNvSpPr/>
          <p:nvPr/>
        </p:nvSpPr>
        <p:spPr>
          <a:xfrm>
            <a:off x="2652147" y="5105400"/>
            <a:ext cx="3839705" cy="307777"/>
          </a:xfrm>
          <a:prstGeom prst="rect">
            <a:avLst/>
          </a:prstGeom>
        </p:spPr>
        <p:txBody>
          <a:bodyPr wrap="none">
            <a:spAutoFit/>
          </a:bodyPr>
          <a:lstStyle/>
          <a:p>
            <a:r>
              <a:rPr lang="en-US" sz="14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Figure </a:t>
            </a:r>
            <a:r>
              <a:rPr lang="ar-SA" sz="1400" i="1" dirty="0" smtClean="0">
                <a:solidFill>
                  <a:schemeClr val="tx2">
                    <a:lumMod val="75000"/>
                  </a:schemeClr>
                </a:solidFill>
                <a:latin typeface="Calibri" panose="020F0502020204030204" pitchFamily="34" charset="0"/>
                <a:ea typeface="Calibri" panose="020F0502020204030204" pitchFamily="34" charset="0"/>
              </a:rPr>
              <a:t>‎</a:t>
            </a:r>
            <a:r>
              <a:rPr lang="en-US" sz="14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4.4</a:t>
            </a:r>
            <a:r>
              <a:rPr lang="en-US" sz="14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 M 8-bit and N 16-bit Memory locations</a:t>
            </a:r>
            <a:endParaRPr lang="en-US" sz="2400" i="1" dirty="0">
              <a:solidFill>
                <a:schemeClr val="tx2">
                  <a:lumMod val="75000"/>
                </a:schemeClr>
              </a:solidFill>
            </a:endParaRPr>
          </a:p>
        </p:txBody>
      </p:sp>
      <p:sp>
        <p:nvSpPr>
          <p:cNvPr id="8" name="Date Placeholder 7"/>
          <p:cNvSpPr>
            <a:spLocks noGrp="1"/>
          </p:cNvSpPr>
          <p:nvPr>
            <p:ph type="dt" sz="half" idx="10"/>
          </p:nvPr>
        </p:nvSpPr>
        <p:spPr/>
        <p:txBody>
          <a:bodyPr/>
          <a:lstStyle/>
          <a:p>
            <a:fld id="{1A06B698-ABC1-4EE7-B9D8-2C008A8DD241}" type="datetime3">
              <a:rPr lang="en-US" smtClean="0"/>
              <a:t>14 February 2017</a:t>
            </a:fld>
            <a:endParaRPr lang="en-US"/>
          </a:p>
        </p:txBody>
      </p:sp>
      <p:sp>
        <p:nvSpPr>
          <p:cNvPr id="9" name="Footer Placeholder 8"/>
          <p:cNvSpPr>
            <a:spLocks noGrp="1"/>
          </p:cNvSpPr>
          <p:nvPr>
            <p:ph type="ftr" sz="quarter" idx="11"/>
          </p:nvPr>
        </p:nvSpPr>
        <p:spPr/>
        <p:txBody>
          <a:bodyPr/>
          <a:lstStyle/>
          <a:p>
            <a:r>
              <a:rPr lang="en-US" smtClean="0"/>
              <a:t>T103 - Arab open University</a:t>
            </a:r>
            <a:endParaRPr lang="en-US"/>
          </a:p>
        </p:txBody>
      </p:sp>
      <p:sp>
        <p:nvSpPr>
          <p:cNvPr id="10" name="Slide Number Placeholder 9"/>
          <p:cNvSpPr>
            <a:spLocks noGrp="1"/>
          </p:cNvSpPr>
          <p:nvPr>
            <p:ph type="sldNum" sz="quarter" idx="12"/>
          </p:nvPr>
        </p:nvSpPr>
        <p:spPr/>
        <p:txBody>
          <a:bodyPr/>
          <a:lstStyle/>
          <a:p>
            <a:fld id="{20042AC5-0839-4BB6-BBC0-636ECAAE7EE1}" type="slidenum">
              <a:rPr lang="en-US" smtClean="0"/>
              <a:pPr/>
              <a:t>19</a:t>
            </a:fld>
            <a:endParaRPr lang="en-US"/>
          </a:p>
        </p:txBody>
      </p:sp>
    </p:spTree>
    <p:extLst>
      <p:ext uri="{BB962C8B-B14F-4D97-AF65-F5344CB8AC3E}">
        <p14:creationId xmlns:p14="http://schemas.microsoft.com/office/powerpoint/2010/main" val="100092223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Memory Addressing and Organization </a:t>
            </a:r>
          </a:p>
        </p:txBody>
      </p:sp>
      <p:sp>
        <p:nvSpPr>
          <p:cNvPr id="4" name="Content Placeholder 3"/>
          <p:cNvSpPr>
            <a:spLocks noGrp="1"/>
          </p:cNvSpPr>
          <p:nvPr>
            <p:ph idx="1"/>
          </p:nvPr>
        </p:nvSpPr>
        <p:spPr>
          <a:xfrm>
            <a:off x="908383" y="945776"/>
            <a:ext cx="8153400" cy="4525963"/>
          </a:xfrm>
        </p:spPr>
        <p:txBody>
          <a:bodyPr>
            <a:normAutofit fontScale="70000" lnSpcReduction="20000"/>
          </a:bodyPr>
          <a:lstStyle/>
          <a:p>
            <a:pPr marL="0" indent="0">
              <a:buNone/>
            </a:pPr>
            <a:r>
              <a:rPr lang="en-US" sz="3400" b="1" dirty="0">
                <a:solidFill>
                  <a:srgbClr val="FF0000"/>
                </a:solidFill>
              </a:rPr>
              <a:t>Memory Addressing</a:t>
            </a:r>
            <a:endParaRPr lang="en-US" sz="3400" dirty="0">
              <a:solidFill>
                <a:srgbClr val="FF0000"/>
              </a:solidFill>
            </a:endParaRPr>
          </a:p>
          <a:p>
            <a:pPr marL="0" indent="0" eaLnBrk="0" fontAlgn="base" hangingPunct="0">
              <a:buNone/>
            </a:pPr>
            <a:r>
              <a:rPr lang="en-US" dirty="0"/>
              <a:t> </a:t>
            </a:r>
          </a:p>
          <a:p>
            <a:pPr marL="0" indent="0" eaLnBrk="0" fontAlgn="base" hangingPunct="0">
              <a:buNone/>
            </a:pPr>
            <a:r>
              <a:rPr lang="en-US" dirty="0"/>
              <a:t>Memory can be byte-addressable, or word-addressable, where a word typically consists of two or more bytes.</a:t>
            </a:r>
          </a:p>
          <a:p>
            <a:pPr marL="0" indent="0" eaLnBrk="0" fontAlgn="base" hangingPunct="0">
              <a:buNone/>
            </a:pPr>
            <a:r>
              <a:rPr lang="en-US" dirty="0"/>
              <a:t> </a:t>
            </a:r>
          </a:p>
          <a:p>
            <a:pPr marL="0" indent="0" eaLnBrk="0" fontAlgn="base" hangingPunct="0">
              <a:buNone/>
            </a:pPr>
            <a:r>
              <a:rPr lang="en-US" b="1" dirty="0"/>
              <a:t>Byte addressable</a:t>
            </a:r>
            <a:r>
              <a:rPr lang="en-US" dirty="0"/>
              <a:t>: Each byte has its own address (each memory row contains 8 bits only)</a:t>
            </a:r>
          </a:p>
          <a:p>
            <a:pPr marL="0" indent="0" eaLnBrk="0" fontAlgn="base" hangingPunct="0">
              <a:buNone/>
            </a:pPr>
            <a:endParaRPr lang="en-US" b="1" dirty="0" smtClean="0"/>
          </a:p>
          <a:p>
            <a:pPr marL="0" indent="0" eaLnBrk="0" fontAlgn="base" hangingPunct="0">
              <a:buNone/>
            </a:pPr>
            <a:r>
              <a:rPr lang="en-US" b="1" dirty="0" smtClean="0"/>
              <a:t>Word </a:t>
            </a:r>
            <a:r>
              <a:rPr lang="en-US" b="1" dirty="0"/>
              <a:t>addressable</a:t>
            </a:r>
            <a:r>
              <a:rPr lang="en-US" dirty="0"/>
              <a:t>: Each word has a unique address (each memory row contains one word that can be larger than 8 bits).</a:t>
            </a:r>
          </a:p>
          <a:p>
            <a:pPr marL="0" indent="0" eaLnBrk="0" fontAlgn="base" hangingPunct="0">
              <a:buNone/>
            </a:pPr>
            <a:r>
              <a:rPr lang="en-US" dirty="0"/>
              <a:t> </a:t>
            </a:r>
          </a:p>
          <a:p>
            <a:pPr marL="0" indent="0">
              <a:buNone/>
            </a:pPr>
            <a:r>
              <a:rPr lang="en-US" dirty="0"/>
              <a:t>Now, how many addresses, and how many address bits do we have in a given memory?</a:t>
            </a:r>
          </a:p>
          <a:p>
            <a:pPr marL="0" indent="0">
              <a:buNone/>
            </a:pPr>
            <a:endParaRPr lang="en-US" dirty="0">
              <a:effectLst/>
            </a:endParaRPr>
          </a:p>
        </p:txBody>
      </p:sp>
      <p:sp>
        <p:nvSpPr>
          <p:cNvPr id="5" name="Date Placeholder 4"/>
          <p:cNvSpPr>
            <a:spLocks noGrp="1"/>
          </p:cNvSpPr>
          <p:nvPr>
            <p:ph type="dt" sz="half" idx="10"/>
          </p:nvPr>
        </p:nvSpPr>
        <p:spPr/>
        <p:txBody>
          <a:bodyPr/>
          <a:lstStyle/>
          <a:p>
            <a:fld id="{E489B1A8-652B-4324-AB6B-E4AF51009FA9}"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20</a:t>
            </a:fld>
            <a:endParaRPr lang="en-US"/>
          </a:p>
        </p:txBody>
      </p:sp>
    </p:spTree>
    <p:extLst>
      <p:ext uri="{BB962C8B-B14F-4D97-AF65-F5344CB8AC3E}">
        <p14:creationId xmlns:p14="http://schemas.microsoft.com/office/powerpoint/2010/main" val="337787776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Memory Addressing and Organization </a:t>
            </a:r>
          </a:p>
        </p:txBody>
      </p:sp>
      <p:sp>
        <p:nvSpPr>
          <p:cNvPr id="6" name="Rectangle 5"/>
          <p:cNvSpPr/>
          <p:nvPr/>
        </p:nvSpPr>
        <p:spPr>
          <a:xfrm>
            <a:off x="1066800" y="1143000"/>
            <a:ext cx="7467600" cy="2554545"/>
          </a:xfrm>
          <a:prstGeom prst="rect">
            <a:avLst/>
          </a:prstGeom>
        </p:spPr>
        <p:txBody>
          <a:bodyPr wrap="square">
            <a:spAutoFit/>
          </a:bodyPr>
          <a:lstStyle/>
          <a:p>
            <a:pPr>
              <a:spcAft>
                <a:spcPts val="0"/>
              </a:spcAft>
            </a:pPr>
            <a:r>
              <a:rPr lang="en-US" sz="2000" dirty="0">
                <a:solidFill>
                  <a:srgbClr val="000000"/>
                </a:solidFill>
              </a:rPr>
              <a:t>To answer this question, you should be aware of:</a:t>
            </a:r>
            <a:endParaRPr lang="en-US" sz="3200" dirty="0"/>
          </a:p>
          <a:p>
            <a:pPr marL="342900" lvl="0" indent="-342900">
              <a:spcBef>
                <a:spcPts val="0"/>
              </a:spcBef>
              <a:spcAft>
                <a:spcPts val="0"/>
              </a:spcAft>
              <a:buFont typeface="Wingdings" panose="05000000000000000000" pitchFamily="2" charset="2"/>
              <a:buChar char=""/>
              <a:tabLst>
                <a:tab pos="457200" algn="l"/>
              </a:tabLst>
            </a:pPr>
            <a:r>
              <a:rPr lang="en-US" sz="2000" dirty="0">
                <a:solidFill>
                  <a:srgbClr val="000000"/>
                </a:solidFill>
              </a:rPr>
              <a:t>The </a:t>
            </a:r>
            <a:r>
              <a:rPr lang="en-US" sz="2000" u="sng" dirty="0">
                <a:solidFill>
                  <a:srgbClr val="000000"/>
                </a:solidFill>
              </a:rPr>
              <a:t>type of addressing</a:t>
            </a:r>
            <a:r>
              <a:rPr lang="en-US" sz="2000" dirty="0">
                <a:solidFill>
                  <a:srgbClr val="000000"/>
                </a:solidFill>
              </a:rPr>
              <a:t>, whether word addressable or byte addressable.</a:t>
            </a:r>
            <a:endParaRPr lang="en-US" sz="3200" dirty="0"/>
          </a:p>
          <a:p>
            <a:pPr marL="342900" lvl="0" indent="-342900">
              <a:spcBef>
                <a:spcPts val="0"/>
              </a:spcBef>
              <a:spcAft>
                <a:spcPts val="0"/>
              </a:spcAft>
              <a:buFont typeface="Wingdings" panose="05000000000000000000" pitchFamily="2" charset="2"/>
              <a:buChar char=""/>
              <a:tabLst>
                <a:tab pos="457200" algn="l"/>
              </a:tabLst>
            </a:pPr>
            <a:r>
              <a:rPr lang="en-US" sz="2000" dirty="0">
                <a:solidFill>
                  <a:srgbClr val="000000"/>
                </a:solidFill>
              </a:rPr>
              <a:t>The </a:t>
            </a:r>
            <a:r>
              <a:rPr lang="en-US" sz="2000" u="sng" dirty="0">
                <a:solidFill>
                  <a:srgbClr val="000000"/>
                </a:solidFill>
              </a:rPr>
              <a:t>word size</a:t>
            </a:r>
            <a:r>
              <a:rPr lang="en-US" sz="2000" dirty="0">
                <a:solidFill>
                  <a:srgbClr val="000000"/>
                </a:solidFill>
              </a:rPr>
              <a:t>. For example, 8, 16, 32, 64 bits.</a:t>
            </a:r>
            <a:endParaRPr lang="en-US" sz="3200" dirty="0"/>
          </a:p>
          <a:p>
            <a:pPr marL="342900" marR="0" lvl="0" indent="-342900">
              <a:spcBef>
                <a:spcPts val="0"/>
              </a:spcBef>
              <a:spcAft>
                <a:spcPts val="0"/>
              </a:spcAft>
              <a:buFont typeface="Wingdings" panose="05000000000000000000" pitchFamily="2" charset="2"/>
              <a:buChar char=""/>
              <a:tabLst>
                <a:tab pos="457200" algn="l"/>
              </a:tabLst>
            </a:pPr>
            <a:r>
              <a:rPr lang="en-US" sz="2000" dirty="0">
                <a:solidFill>
                  <a:srgbClr val="000000"/>
                </a:solidFill>
              </a:rPr>
              <a:t>The </a:t>
            </a:r>
            <a:r>
              <a:rPr lang="en-US" sz="2000" u="sng" dirty="0">
                <a:solidFill>
                  <a:srgbClr val="000000"/>
                </a:solidFill>
              </a:rPr>
              <a:t>storage capacity</a:t>
            </a:r>
            <a:r>
              <a:rPr lang="en-US" sz="2000" dirty="0">
                <a:solidFill>
                  <a:srgbClr val="000000"/>
                </a:solidFill>
              </a:rPr>
              <a:t> of the memory. Memory is often referred to using the notation L x W (length x Width). </a:t>
            </a:r>
            <a:r>
              <a:rPr lang="en-US" sz="2000" dirty="0" smtClean="0">
                <a:solidFill>
                  <a:srgbClr val="000000"/>
                </a:solidFill>
              </a:rPr>
              <a:t>   For </a:t>
            </a:r>
            <a:r>
              <a:rPr lang="en-US" sz="2000" dirty="0">
                <a:solidFill>
                  <a:srgbClr val="000000"/>
                </a:solidFill>
              </a:rPr>
              <a:t>example, 4M x 16 means the memory is 4M long (number of words) and it is 16 bits wide (word size)</a:t>
            </a:r>
            <a:endParaRPr lang="en-US" sz="3200" dirty="0">
              <a:effectLst/>
            </a:endParaRPr>
          </a:p>
        </p:txBody>
      </p:sp>
      <p:sp>
        <p:nvSpPr>
          <p:cNvPr id="7" name="Rectangle 6"/>
          <p:cNvSpPr/>
          <p:nvPr/>
        </p:nvSpPr>
        <p:spPr>
          <a:xfrm>
            <a:off x="850585" y="3886200"/>
            <a:ext cx="8011027" cy="2103012"/>
          </a:xfrm>
          <a:prstGeom prst="rect">
            <a:avLst/>
          </a:prstGeom>
        </p:spPr>
        <p:txBody>
          <a:bodyPr wrap="square">
            <a:spAutoFit/>
          </a:bodyPr>
          <a:lstStyle/>
          <a:p>
            <a:pPr marL="228600" marR="0">
              <a:lnSpc>
                <a:spcPct val="107000"/>
              </a:lnSpc>
              <a:spcBef>
                <a:spcPts val="0"/>
              </a:spcBef>
              <a:spcAft>
                <a:spcPts val="0"/>
              </a:spcAft>
            </a:pPr>
            <a:r>
              <a:rPr lang="en-US" sz="2000" b="1" dirty="0">
                <a:solidFill>
                  <a:srgbClr val="00B050"/>
                </a:solidFill>
              </a:rPr>
              <a:t>Example 1</a:t>
            </a:r>
            <a:r>
              <a:rPr lang="en-US" sz="2000" b="1" dirty="0">
                <a:solidFill>
                  <a:srgbClr val="000000"/>
                </a:solidFill>
              </a:rPr>
              <a:t>: </a:t>
            </a:r>
            <a:r>
              <a:rPr lang="en-US" sz="2000" dirty="0">
                <a:solidFill>
                  <a:srgbClr val="000000"/>
                </a:solidFill>
              </a:rPr>
              <a:t>How is a </a:t>
            </a:r>
            <a:r>
              <a:rPr lang="en-US" sz="2000" b="1" dirty="0">
                <a:solidFill>
                  <a:srgbClr val="000000"/>
                </a:solidFill>
              </a:rPr>
              <a:t>4</a:t>
            </a:r>
            <a:r>
              <a:rPr lang="en-US" sz="2000" b="1" dirty="0">
                <a:solidFill>
                  <a:srgbClr val="0070C0"/>
                </a:solidFill>
              </a:rPr>
              <a:t>M</a:t>
            </a:r>
            <a:r>
              <a:rPr lang="en-US" sz="2000" b="1" dirty="0">
                <a:solidFill>
                  <a:srgbClr val="000000"/>
                </a:solidFill>
              </a:rPr>
              <a:t> x </a:t>
            </a:r>
            <a:r>
              <a:rPr lang="en-US" sz="2000" b="1" dirty="0">
                <a:solidFill>
                  <a:srgbClr val="00B050"/>
                </a:solidFill>
              </a:rPr>
              <a:t>16</a:t>
            </a:r>
            <a:r>
              <a:rPr lang="en-US" sz="2000" b="1" dirty="0">
                <a:solidFill>
                  <a:srgbClr val="000000"/>
                </a:solidFill>
              </a:rPr>
              <a:t> </a:t>
            </a:r>
            <a:r>
              <a:rPr lang="en-US" sz="2000" u="sng" dirty="0">
                <a:solidFill>
                  <a:srgbClr val="000000"/>
                </a:solidFill>
              </a:rPr>
              <a:t>word addressable </a:t>
            </a:r>
            <a:r>
              <a:rPr lang="en-US" sz="2000" dirty="0">
                <a:solidFill>
                  <a:srgbClr val="000000"/>
                </a:solidFill>
              </a:rPr>
              <a:t>memory organized</a:t>
            </a:r>
            <a:r>
              <a:rPr lang="en-US" sz="2000" dirty="0" smtClean="0">
                <a:solidFill>
                  <a:srgbClr val="000000"/>
                </a:solidFill>
              </a:rPr>
              <a:t>?</a:t>
            </a:r>
          </a:p>
          <a:p>
            <a:pPr marL="228600" marR="0">
              <a:lnSpc>
                <a:spcPct val="107000"/>
              </a:lnSpc>
              <a:spcBef>
                <a:spcPts val="0"/>
              </a:spcBef>
              <a:spcAft>
                <a:spcPts val="0"/>
              </a:spcAft>
            </a:pPr>
            <a:endParaRPr lang="en-US" dirty="0">
              <a:ea typeface="Calibri" panose="020F0502020204030204" pitchFamily="34" charset="0"/>
              <a:cs typeface="Arial" panose="020B0604020202020204" pitchFamily="34" charset="0"/>
            </a:endParaRPr>
          </a:p>
          <a:p>
            <a:pPr marL="742950" marR="0" lvl="1" indent="-285750">
              <a:spcBef>
                <a:spcPts val="0"/>
              </a:spcBef>
              <a:spcAft>
                <a:spcPts val="0"/>
              </a:spcAft>
              <a:buFont typeface="Arial" panose="020B0604020202020204" pitchFamily="34" charset="0"/>
              <a:buChar char="•"/>
              <a:tabLst>
                <a:tab pos="914400" algn="l"/>
              </a:tabLst>
            </a:pPr>
            <a:r>
              <a:rPr lang="en-US" dirty="0"/>
              <a:t>The word size is</a:t>
            </a:r>
            <a:r>
              <a:rPr lang="en-US" b="1" dirty="0"/>
              <a:t> </a:t>
            </a:r>
            <a:r>
              <a:rPr lang="en-US" b="1" dirty="0">
                <a:solidFill>
                  <a:srgbClr val="00B050"/>
                </a:solidFill>
              </a:rPr>
              <a:t>16 </a:t>
            </a:r>
            <a:r>
              <a:rPr lang="en-US" dirty="0">
                <a:solidFill>
                  <a:srgbClr val="000000"/>
                </a:solidFill>
              </a:rPr>
              <a:t>bits.</a:t>
            </a:r>
            <a:endParaRPr lang="en-US" sz="2800" dirty="0">
              <a:cs typeface="Times New Roman" panose="02020603050405020304" pitchFamily="18" charset="0"/>
            </a:endParaRPr>
          </a:p>
          <a:p>
            <a:pPr marL="742950" marR="0" lvl="1" indent="-285750">
              <a:spcBef>
                <a:spcPts val="0"/>
              </a:spcBef>
              <a:spcAft>
                <a:spcPts val="0"/>
              </a:spcAft>
              <a:buFont typeface="Arial" panose="020B0604020202020204" pitchFamily="34" charset="0"/>
              <a:buChar char="•"/>
              <a:tabLst>
                <a:tab pos="914400" algn="l"/>
              </a:tabLst>
            </a:pPr>
            <a:r>
              <a:rPr lang="en-US" b="1" dirty="0">
                <a:solidFill>
                  <a:srgbClr val="000000"/>
                </a:solidFill>
              </a:rPr>
              <a:t>4</a:t>
            </a:r>
            <a:r>
              <a:rPr lang="en-US" b="1" dirty="0">
                <a:solidFill>
                  <a:srgbClr val="0070C0"/>
                </a:solidFill>
              </a:rPr>
              <a:t>M</a:t>
            </a:r>
            <a:r>
              <a:rPr lang="en-US" dirty="0">
                <a:solidFill>
                  <a:srgbClr val="000000"/>
                </a:solidFill>
              </a:rPr>
              <a:t> means that we have 4 x </a:t>
            </a:r>
            <a:r>
              <a:rPr lang="en-US" b="1" dirty="0">
                <a:solidFill>
                  <a:srgbClr val="0070C0"/>
                </a:solidFill>
              </a:rPr>
              <a:t>2</a:t>
            </a:r>
            <a:r>
              <a:rPr lang="en-US" b="1" baseline="30000" dirty="0">
                <a:solidFill>
                  <a:srgbClr val="0070C0"/>
                </a:solidFill>
              </a:rPr>
              <a:t>20</a:t>
            </a:r>
            <a:r>
              <a:rPr lang="en-US" dirty="0">
                <a:solidFill>
                  <a:srgbClr val="000000"/>
                </a:solidFill>
              </a:rPr>
              <a:t> = 2</a:t>
            </a:r>
            <a:r>
              <a:rPr lang="en-US" baseline="30000" dirty="0">
                <a:solidFill>
                  <a:srgbClr val="000000"/>
                </a:solidFill>
              </a:rPr>
              <a:t>2</a:t>
            </a:r>
            <a:r>
              <a:rPr lang="en-US" dirty="0">
                <a:solidFill>
                  <a:srgbClr val="000000"/>
                </a:solidFill>
              </a:rPr>
              <a:t> x 2</a:t>
            </a:r>
            <a:r>
              <a:rPr lang="en-US" baseline="30000" dirty="0">
                <a:solidFill>
                  <a:srgbClr val="000000"/>
                </a:solidFill>
              </a:rPr>
              <a:t>20</a:t>
            </a:r>
            <a:r>
              <a:rPr lang="en-US" dirty="0">
                <a:solidFill>
                  <a:srgbClr val="000000"/>
                </a:solidFill>
              </a:rPr>
              <a:t> = 2</a:t>
            </a:r>
            <a:r>
              <a:rPr lang="en-US" baseline="30000" dirty="0">
                <a:solidFill>
                  <a:srgbClr val="000000"/>
                </a:solidFill>
              </a:rPr>
              <a:t>22</a:t>
            </a:r>
            <a:r>
              <a:rPr lang="en-US" dirty="0">
                <a:solidFill>
                  <a:srgbClr val="000000"/>
                </a:solidFill>
              </a:rPr>
              <a:t> different words.</a:t>
            </a:r>
            <a:endParaRPr lang="en-US" sz="2800" dirty="0">
              <a:cs typeface="Times New Roman" panose="02020603050405020304" pitchFamily="18" charset="0"/>
            </a:endParaRPr>
          </a:p>
          <a:p>
            <a:pPr marL="742950" marR="0" lvl="1" indent="-285750">
              <a:spcBef>
                <a:spcPts val="0"/>
              </a:spcBef>
              <a:spcAft>
                <a:spcPts val="0"/>
              </a:spcAft>
              <a:buFont typeface="Arial" panose="020B0604020202020204" pitchFamily="34" charset="0"/>
              <a:buChar char="•"/>
              <a:tabLst>
                <a:tab pos="914400" algn="l"/>
              </a:tabLst>
            </a:pPr>
            <a:r>
              <a:rPr lang="en-US" dirty="0">
                <a:solidFill>
                  <a:srgbClr val="000000"/>
                </a:solidFill>
              </a:rPr>
              <a:t>These 2</a:t>
            </a:r>
            <a:r>
              <a:rPr lang="en-US" baseline="30000" dirty="0">
                <a:solidFill>
                  <a:srgbClr val="000000"/>
                </a:solidFill>
              </a:rPr>
              <a:t>22</a:t>
            </a:r>
            <a:r>
              <a:rPr lang="en-US" dirty="0">
                <a:solidFill>
                  <a:srgbClr val="000000"/>
                </a:solidFill>
              </a:rPr>
              <a:t> words are numbered from 0 to 2</a:t>
            </a:r>
            <a:r>
              <a:rPr lang="en-US" baseline="30000" dirty="0">
                <a:solidFill>
                  <a:srgbClr val="000000"/>
                </a:solidFill>
              </a:rPr>
              <a:t>22</a:t>
            </a:r>
            <a:r>
              <a:rPr lang="en-US" dirty="0">
                <a:solidFill>
                  <a:srgbClr val="000000"/>
                </a:solidFill>
              </a:rPr>
              <a:t> -1; each number represents the address of only one word.</a:t>
            </a:r>
            <a:endParaRPr lang="en-US" sz="2800" dirty="0">
              <a:cs typeface="Times New Roman" panose="02020603050405020304" pitchFamily="18" charset="0"/>
            </a:endParaRPr>
          </a:p>
          <a:p>
            <a:pPr marL="742950" marR="0" lvl="1" indent="-285750">
              <a:spcBef>
                <a:spcPts val="0"/>
              </a:spcBef>
              <a:spcAft>
                <a:spcPts val="0"/>
              </a:spcAft>
              <a:buFont typeface="Arial" panose="020B0604020202020204" pitchFamily="34" charset="0"/>
              <a:buChar char="•"/>
              <a:tabLst>
                <a:tab pos="914400" algn="l"/>
              </a:tabLst>
            </a:pPr>
            <a:r>
              <a:rPr lang="en-US" dirty="0">
                <a:solidFill>
                  <a:srgbClr val="000000"/>
                </a:solidFill>
              </a:rPr>
              <a:t>So, each address is represented with at least 22 bits</a:t>
            </a:r>
            <a:endParaRPr lang="en-US" sz="3600" dirty="0">
              <a:effectLst/>
              <a:cs typeface="Times New Roman" panose="02020603050405020304" pitchFamily="18" charset="0"/>
            </a:endParaRPr>
          </a:p>
        </p:txBody>
      </p:sp>
      <p:sp>
        <p:nvSpPr>
          <p:cNvPr id="8" name="Date Placeholder 7"/>
          <p:cNvSpPr>
            <a:spLocks noGrp="1"/>
          </p:cNvSpPr>
          <p:nvPr>
            <p:ph type="dt" sz="half" idx="10"/>
          </p:nvPr>
        </p:nvSpPr>
        <p:spPr/>
        <p:txBody>
          <a:bodyPr/>
          <a:lstStyle/>
          <a:p>
            <a:fld id="{86E57EF5-24B4-4689-9C73-2137CE73A931}" type="datetime3">
              <a:rPr lang="en-US" smtClean="0"/>
              <a:t>14 February 2017</a:t>
            </a:fld>
            <a:endParaRPr lang="en-US"/>
          </a:p>
        </p:txBody>
      </p:sp>
      <p:sp>
        <p:nvSpPr>
          <p:cNvPr id="9" name="Footer Placeholder 8"/>
          <p:cNvSpPr>
            <a:spLocks noGrp="1"/>
          </p:cNvSpPr>
          <p:nvPr>
            <p:ph type="ftr" sz="quarter" idx="11"/>
          </p:nvPr>
        </p:nvSpPr>
        <p:spPr/>
        <p:txBody>
          <a:bodyPr/>
          <a:lstStyle/>
          <a:p>
            <a:r>
              <a:rPr lang="en-US" smtClean="0"/>
              <a:t>T103 - Arab open University</a:t>
            </a:r>
            <a:endParaRPr lang="en-US"/>
          </a:p>
        </p:txBody>
      </p:sp>
      <p:sp>
        <p:nvSpPr>
          <p:cNvPr id="10" name="Slide Number Placeholder 9"/>
          <p:cNvSpPr>
            <a:spLocks noGrp="1"/>
          </p:cNvSpPr>
          <p:nvPr>
            <p:ph type="sldNum" sz="quarter" idx="12"/>
          </p:nvPr>
        </p:nvSpPr>
        <p:spPr/>
        <p:txBody>
          <a:bodyPr/>
          <a:lstStyle/>
          <a:p>
            <a:fld id="{20042AC5-0839-4BB6-BBC0-636ECAAE7EE1}" type="slidenum">
              <a:rPr lang="en-US" smtClean="0"/>
              <a:pPr/>
              <a:t>21</a:t>
            </a:fld>
            <a:endParaRPr lang="en-US"/>
          </a:p>
        </p:txBody>
      </p:sp>
    </p:spTree>
    <p:extLst>
      <p:ext uri="{BB962C8B-B14F-4D97-AF65-F5344CB8AC3E}">
        <p14:creationId xmlns:p14="http://schemas.microsoft.com/office/powerpoint/2010/main" val="1658614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Memory Addressing and Organization </a:t>
            </a:r>
          </a:p>
        </p:txBody>
      </p:sp>
      <p:sp>
        <p:nvSpPr>
          <p:cNvPr id="6" name="Rectangle 5"/>
          <p:cNvSpPr/>
          <p:nvPr/>
        </p:nvSpPr>
        <p:spPr>
          <a:xfrm>
            <a:off x="914400" y="1143000"/>
            <a:ext cx="8077200" cy="1323439"/>
          </a:xfrm>
          <a:prstGeom prst="rect">
            <a:avLst/>
          </a:prstGeom>
        </p:spPr>
        <p:txBody>
          <a:bodyPr wrap="square">
            <a:spAutoFit/>
          </a:bodyPr>
          <a:lstStyle/>
          <a:p>
            <a:pPr>
              <a:spcAft>
                <a:spcPts val="0"/>
              </a:spcAft>
            </a:pPr>
            <a:r>
              <a:rPr lang="en-US" sz="2000" b="1" dirty="0">
                <a:solidFill>
                  <a:srgbClr val="00B050"/>
                </a:solidFill>
              </a:rPr>
              <a:t>Example 2</a:t>
            </a:r>
            <a:r>
              <a:rPr lang="en-US" sz="2000" b="1" dirty="0">
                <a:solidFill>
                  <a:srgbClr val="000000"/>
                </a:solidFill>
              </a:rPr>
              <a:t>: </a:t>
            </a:r>
            <a:r>
              <a:rPr lang="en-US" sz="2000" dirty="0">
                <a:solidFill>
                  <a:srgbClr val="000000"/>
                </a:solidFill>
              </a:rPr>
              <a:t>How many bits would you need to address a 2M × 32 memory if:</a:t>
            </a:r>
            <a:endParaRPr lang="en-US" sz="2000" dirty="0"/>
          </a:p>
          <a:p>
            <a:pPr marL="742950" marR="0" lvl="1" indent="-285750">
              <a:spcBef>
                <a:spcPts val="0"/>
              </a:spcBef>
              <a:spcAft>
                <a:spcPts val="0"/>
              </a:spcAft>
              <a:buFont typeface="+mj-lt"/>
              <a:buAutoNum type="alphaLcParenR"/>
              <a:tabLst>
                <a:tab pos="914400" algn="l"/>
              </a:tabLst>
            </a:pPr>
            <a:r>
              <a:rPr lang="en-US" sz="2000" dirty="0">
                <a:solidFill>
                  <a:srgbClr val="000000"/>
                </a:solidFill>
              </a:rPr>
              <a:t>The memory is byte-addressable?</a:t>
            </a:r>
            <a:endParaRPr lang="en-US" sz="2000" dirty="0"/>
          </a:p>
          <a:p>
            <a:pPr marL="742950" marR="0" lvl="1" indent="-285750">
              <a:spcBef>
                <a:spcPts val="0"/>
              </a:spcBef>
              <a:spcAft>
                <a:spcPts val="0"/>
              </a:spcAft>
              <a:buFont typeface="+mj-lt"/>
              <a:buAutoNum type="alphaLcParenR"/>
              <a:tabLst>
                <a:tab pos="914400" algn="l"/>
              </a:tabLst>
            </a:pPr>
            <a:r>
              <a:rPr lang="en-US" sz="2000" dirty="0">
                <a:solidFill>
                  <a:srgbClr val="000000"/>
                </a:solidFill>
              </a:rPr>
              <a:t>The memory is word-addressable?</a:t>
            </a:r>
            <a:endParaRPr lang="en-US" sz="2000" dirty="0"/>
          </a:p>
          <a:p>
            <a:pPr>
              <a:spcAft>
                <a:spcPts val="0"/>
              </a:spcAft>
            </a:pPr>
            <a:r>
              <a:rPr lang="en-US" sz="2000" b="1" dirty="0">
                <a:solidFill>
                  <a:srgbClr val="000000"/>
                </a:solidFill>
              </a:rPr>
              <a:t>        </a:t>
            </a:r>
            <a:endParaRPr lang="en-US" sz="2000" dirty="0">
              <a:effectLst/>
            </a:endParaRPr>
          </a:p>
        </p:txBody>
      </p:sp>
      <p:sp>
        <p:nvSpPr>
          <p:cNvPr id="4" name="Rectangle 3"/>
          <p:cNvSpPr/>
          <p:nvPr/>
        </p:nvSpPr>
        <p:spPr>
          <a:xfrm>
            <a:off x="1066800" y="2466439"/>
            <a:ext cx="7772400" cy="2554545"/>
          </a:xfrm>
          <a:prstGeom prst="rect">
            <a:avLst/>
          </a:prstGeom>
        </p:spPr>
        <p:txBody>
          <a:bodyPr wrap="square">
            <a:spAutoFit/>
          </a:bodyPr>
          <a:lstStyle/>
          <a:p>
            <a:pPr lvl="0"/>
            <a:r>
              <a:rPr lang="en-US" sz="2000" b="1" dirty="0">
                <a:solidFill>
                  <a:srgbClr val="FF0000"/>
                </a:solidFill>
              </a:rPr>
              <a:t>Solution:</a:t>
            </a:r>
            <a:endParaRPr lang="en-US" sz="2000" dirty="0">
              <a:solidFill>
                <a:srgbClr val="FF0000"/>
              </a:solidFill>
            </a:endParaRPr>
          </a:p>
          <a:p>
            <a:pPr marL="342900" lvl="0" indent="-342900">
              <a:buFont typeface="+mj-lt"/>
              <a:buAutoNum type="alphaLcParenR"/>
              <a:tabLst>
                <a:tab pos="914400" algn="l"/>
              </a:tabLst>
            </a:pPr>
            <a:r>
              <a:rPr lang="en-US" sz="2000" dirty="0">
                <a:solidFill>
                  <a:srgbClr val="000000"/>
                </a:solidFill>
              </a:rPr>
              <a:t>There are 2M × 4 </a:t>
            </a:r>
            <a:r>
              <a:rPr lang="en-US" sz="2000" b="1" dirty="0">
                <a:solidFill>
                  <a:srgbClr val="000000"/>
                </a:solidFill>
              </a:rPr>
              <a:t>bytes </a:t>
            </a:r>
            <a:r>
              <a:rPr lang="en-US" sz="2000" dirty="0">
                <a:solidFill>
                  <a:srgbClr val="000000"/>
                </a:solidFill>
              </a:rPr>
              <a:t>(recall that 32 bits =4 bytes), which equals </a:t>
            </a:r>
            <a:r>
              <a:rPr lang="en-US" sz="2000" dirty="0" smtClean="0">
                <a:solidFill>
                  <a:srgbClr val="000000"/>
                </a:solidFill>
              </a:rPr>
              <a:t>     2</a:t>
            </a:r>
            <a:r>
              <a:rPr lang="en-US" sz="2000" baseline="30000" dirty="0" smtClean="0">
                <a:solidFill>
                  <a:srgbClr val="000000"/>
                </a:solidFill>
              </a:rPr>
              <a:t>1</a:t>
            </a:r>
            <a:r>
              <a:rPr lang="en-US" sz="2000" dirty="0" smtClean="0">
                <a:solidFill>
                  <a:srgbClr val="000000"/>
                </a:solidFill>
              </a:rPr>
              <a:t> </a:t>
            </a:r>
            <a:r>
              <a:rPr lang="en-US" sz="2000" dirty="0">
                <a:solidFill>
                  <a:srgbClr val="000000"/>
                </a:solidFill>
              </a:rPr>
              <a:t>* 2</a:t>
            </a:r>
            <a:r>
              <a:rPr lang="en-US" sz="2000" baseline="30000" dirty="0">
                <a:solidFill>
                  <a:srgbClr val="000000"/>
                </a:solidFill>
              </a:rPr>
              <a:t>20</a:t>
            </a:r>
            <a:r>
              <a:rPr lang="en-US" sz="2000" dirty="0">
                <a:solidFill>
                  <a:srgbClr val="000000"/>
                </a:solidFill>
              </a:rPr>
              <a:t>* 2</a:t>
            </a:r>
            <a:r>
              <a:rPr lang="en-US" sz="2000" baseline="30000" dirty="0">
                <a:solidFill>
                  <a:srgbClr val="000000"/>
                </a:solidFill>
              </a:rPr>
              <a:t>2 </a:t>
            </a:r>
            <a:r>
              <a:rPr lang="en-US" sz="2000" b="1" dirty="0">
                <a:solidFill>
                  <a:srgbClr val="000000"/>
                </a:solidFill>
              </a:rPr>
              <a:t>bytes </a:t>
            </a:r>
            <a:r>
              <a:rPr lang="en-US" sz="2000" dirty="0">
                <a:solidFill>
                  <a:srgbClr val="000000"/>
                </a:solidFill>
              </a:rPr>
              <a:t>= 2</a:t>
            </a:r>
            <a:r>
              <a:rPr lang="en-US" sz="2000" baseline="30000" dirty="0">
                <a:solidFill>
                  <a:srgbClr val="000000"/>
                </a:solidFill>
              </a:rPr>
              <a:t>23</a:t>
            </a:r>
            <a:r>
              <a:rPr lang="en-US" sz="2000" dirty="0">
                <a:solidFill>
                  <a:srgbClr val="000000"/>
                </a:solidFill>
              </a:rPr>
              <a:t> </a:t>
            </a:r>
            <a:r>
              <a:rPr lang="en-US" sz="2000" b="1" dirty="0">
                <a:solidFill>
                  <a:srgbClr val="000000"/>
                </a:solidFill>
              </a:rPr>
              <a:t>bytes</a:t>
            </a:r>
            <a:r>
              <a:rPr lang="en-US" sz="2000" dirty="0">
                <a:solidFill>
                  <a:srgbClr val="000000"/>
                </a:solidFill>
              </a:rPr>
              <a:t>. Hence, 23 bits are needed for an </a:t>
            </a:r>
            <a:r>
              <a:rPr lang="en-US" sz="2000" dirty="0" smtClean="0">
                <a:solidFill>
                  <a:srgbClr val="000000"/>
                </a:solidFill>
              </a:rPr>
              <a:t>address.</a:t>
            </a:r>
          </a:p>
          <a:p>
            <a:pPr marL="342900" lvl="0" indent="-342900">
              <a:buFont typeface="+mj-lt"/>
              <a:buAutoNum type="alphaLcParenR"/>
              <a:tabLst>
                <a:tab pos="914400" algn="l"/>
              </a:tabLst>
            </a:pPr>
            <a:endParaRPr lang="en-US" sz="2000" dirty="0" smtClean="0">
              <a:solidFill>
                <a:srgbClr val="000000"/>
              </a:solidFill>
            </a:endParaRPr>
          </a:p>
          <a:p>
            <a:pPr marL="342900" lvl="0" indent="-342900">
              <a:buFont typeface="+mj-lt"/>
              <a:buAutoNum type="alphaLcParenR"/>
              <a:tabLst>
                <a:tab pos="914400" algn="l"/>
              </a:tabLst>
            </a:pPr>
            <a:r>
              <a:rPr lang="en-US" sz="2000" dirty="0" smtClean="0">
                <a:solidFill>
                  <a:srgbClr val="000000"/>
                </a:solidFill>
              </a:rPr>
              <a:t>There </a:t>
            </a:r>
            <a:r>
              <a:rPr lang="en-US" sz="2000" dirty="0">
                <a:solidFill>
                  <a:srgbClr val="000000"/>
                </a:solidFill>
              </a:rPr>
              <a:t>are 2M </a:t>
            </a:r>
            <a:r>
              <a:rPr lang="en-US" sz="2000" b="1" dirty="0">
                <a:solidFill>
                  <a:srgbClr val="000000"/>
                </a:solidFill>
              </a:rPr>
              <a:t>words</a:t>
            </a:r>
            <a:r>
              <a:rPr lang="en-US" sz="2000" dirty="0">
                <a:solidFill>
                  <a:srgbClr val="000000"/>
                </a:solidFill>
              </a:rPr>
              <a:t> (32 bits are considered as 1 word, since the memory is word addressable), which equals 2</a:t>
            </a:r>
            <a:r>
              <a:rPr lang="en-US" sz="2000" baseline="30000" dirty="0">
                <a:solidFill>
                  <a:srgbClr val="000000"/>
                </a:solidFill>
              </a:rPr>
              <a:t>1</a:t>
            </a:r>
            <a:r>
              <a:rPr lang="en-US" sz="2000" dirty="0">
                <a:solidFill>
                  <a:srgbClr val="000000"/>
                </a:solidFill>
              </a:rPr>
              <a:t> × 2</a:t>
            </a:r>
            <a:r>
              <a:rPr lang="en-US" sz="2000" baseline="30000" dirty="0">
                <a:solidFill>
                  <a:srgbClr val="000000"/>
                </a:solidFill>
              </a:rPr>
              <a:t>20</a:t>
            </a:r>
            <a:r>
              <a:rPr lang="en-US" sz="2000" dirty="0">
                <a:solidFill>
                  <a:srgbClr val="000000"/>
                </a:solidFill>
              </a:rPr>
              <a:t> </a:t>
            </a:r>
            <a:r>
              <a:rPr lang="en-US" sz="2000" b="1" dirty="0">
                <a:solidFill>
                  <a:srgbClr val="000000"/>
                </a:solidFill>
              </a:rPr>
              <a:t>words</a:t>
            </a:r>
            <a:r>
              <a:rPr lang="en-US" sz="2000" dirty="0">
                <a:solidFill>
                  <a:srgbClr val="000000"/>
                </a:solidFill>
              </a:rPr>
              <a:t> = 2</a:t>
            </a:r>
            <a:r>
              <a:rPr lang="en-US" sz="2000" baseline="30000" dirty="0">
                <a:solidFill>
                  <a:srgbClr val="000000"/>
                </a:solidFill>
              </a:rPr>
              <a:t>21</a:t>
            </a:r>
            <a:r>
              <a:rPr lang="en-US" sz="2000" dirty="0">
                <a:solidFill>
                  <a:srgbClr val="000000"/>
                </a:solidFill>
              </a:rPr>
              <a:t> </a:t>
            </a:r>
            <a:r>
              <a:rPr lang="en-US" sz="2000" b="1" dirty="0">
                <a:solidFill>
                  <a:srgbClr val="000000"/>
                </a:solidFill>
              </a:rPr>
              <a:t>words</a:t>
            </a:r>
            <a:r>
              <a:rPr lang="en-US" sz="2000" dirty="0">
                <a:solidFill>
                  <a:srgbClr val="000000"/>
                </a:solidFill>
              </a:rPr>
              <a:t>. Hence, 21 bits are required for an address.</a:t>
            </a:r>
            <a:endParaRPr lang="en-US" sz="2000" dirty="0">
              <a:solidFill>
                <a:prstClr val="black"/>
              </a:solidFill>
            </a:endParaRPr>
          </a:p>
        </p:txBody>
      </p:sp>
      <p:sp>
        <p:nvSpPr>
          <p:cNvPr id="5" name="Date Placeholder 4"/>
          <p:cNvSpPr>
            <a:spLocks noGrp="1"/>
          </p:cNvSpPr>
          <p:nvPr>
            <p:ph type="dt" sz="half" idx="10"/>
          </p:nvPr>
        </p:nvSpPr>
        <p:spPr/>
        <p:txBody>
          <a:bodyPr/>
          <a:lstStyle/>
          <a:p>
            <a:fld id="{78DB5074-3060-49F8-875B-4213C4E57979}" type="datetime3">
              <a:rPr lang="en-US" smtClean="0"/>
              <a:t>14 February 2017</a:t>
            </a:fld>
            <a:endParaRPr lang="en-US"/>
          </a:p>
        </p:txBody>
      </p:sp>
      <p:sp>
        <p:nvSpPr>
          <p:cNvPr id="8" name="Footer Placeholder 7"/>
          <p:cNvSpPr>
            <a:spLocks noGrp="1"/>
          </p:cNvSpPr>
          <p:nvPr>
            <p:ph type="ftr" sz="quarter" idx="11"/>
          </p:nvPr>
        </p:nvSpPr>
        <p:spPr/>
        <p:txBody>
          <a:bodyPr/>
          <a:lstStyle/>
          <a:p>
            <a:r>
              <a:rPr lang="en-US" smtClean="0"/>
              <a:t>T103 - Arab open University</a:t>
            </a:r>
            <a:endParaRPr lang="en-US"/>
          </a:p>
        </p:txBody>
      </p:sp>
      <p:sp>
        <p:nvSpPr>
          <p:cNvPr id="9" name="Slide Number Placeholder 8"/>
          <p:cNvSpPr>
            <a:spLocks noGrp="1"/>
          </p:cNvSpPr>
          <p:nvPr>
            <p:ph type="sldNum" sz="quarter" idx="12"/>
          </p:nvPr>
        </p:nvSpPr>
        <p:spPr/>
        <p:txBody>
          <a:bodyPr/>
          <a:lstStyle/>
          <a:p>
            <a:fld id="{20042AC5-0839-4BB6-BBC0-636ECAAE7EE1}" type="slidenum">
              <a:rPr lang="en-US" smtClean="0"/>
              <a:pPr/>
              <a:t>22</a:t>
            </a:fld>
            <a:endParaRPr lang="en-US"/>
          </a:p>
        </p:txBody>
      </p:sp>
    </p:spTree>
    <p:extLst>
      <p:ext uri="{BB962C8B-B14F-4D97-AF65-F5344CB8AC3E}">
        <p14:creationId xmlns:p14="http://schemas.microsoft.com/office/powerpoint/2010/main" val="876906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Memory Addressing and Organization </a:t>
            </a:r>
          </a:p>
        </p:txBody>
      </p:sp>
      <p:sp>
        <p:nvSpPr>
          <p:cNvPr id="6" name="Rectangle 5"/>
          <p:cNvSpPr/>
          <p:nvPr/>
        </p:nvSpPr>
        <p:spPr>
          <a:xfrm>
            <a:off x="946483" y="905435"/>
            <a:ext cx="8077200" cy="5322163"/>
          </a:xfrm>
          <a:prstGeom prst="rect">
            <a:avLst/>
          </a:prstGeom>
        </p:spPr>
        <p:txBody>
          <a:bodyPr wrap="square">
            <a:spAutoFit/>
          </a:bodyPr>
          <a:lstStyle/>
          <a:p>
            <a:pPr>
              <a:lnSpc>
                <a:spcPct val="107000"/>
              </a:lnSpc>
              <a:spcBef>
                <a:spcPts val="1500"/>
              </a:spcBef>
              <a:spcAft>
                <a:spcPts val="1700"/>
              </a:spcAft>
            </a:pPr>
            <a:r>
              <a:rPr lang="en-US" sz="2400" b="1" dirty="0">
                <a:solidFill>
                  <a:srgbClr val="FF0000"/>
                </a:solidFill>
                <a:latin typeface="Calibri" panose="020F0502020204030204" pitchFamily="34" charset="0"/>
                <a:ea typeface="Times New Roman" panose="02020603050405020304" pitchFamily="18" charset="0"/>
                <a:cs typeface="Times New Roman" panose="02020603050405020304" pitchFamily="18" charset="0"/>
              </a:rPr>
              <a:t>Memory Organization</a:t>
            </a:r>
            <a:endParaRPr lang="en-US" sz="2000" dirty="0">
              <a:solidFill>
                <a:srgbClr val="FF0000"/>
              </a:solidFill>
              <a:latin typeface="Calibri" panose="020F0502020204030204" pitchFamily="34" charset="0"/>
              <a:ea typeface="Calibri" panose="020F0502020204030204" pitchFamily="34" charset="0"/>
              <a:cs typeface="Arial" panose="020B0604020202020204" pitchFamily="34" charset="0"/>
            </a:endParaRPr>
          </a:p>
          <a:p>
            <a:pPr>
              <a:spcAft>
                <a:spcPts val="0"/>
              </a:spcAft>
            </a:pPr>
            <a:r>
              <a:rPr lang="en-US" sz="2000" dirty="0">
                <a:solidFill>
                  <a:srgbClr val="000000"/>
                </a:solidFill>
                <a:latin typeface="Calibri" panose="020F0502020204030204" pitchFamily="34" charset="0"/>
              </a:rPr>
              <a:t>Usually, computers’ physical Memory (RAM) is not made from a single high capacity chip, but a group of lower capacities chips.</a:t>
            </a:r>
            <a:endParaRPr lang="en-US" sz="2000" dirty="0"/>
          </a:p>
          <a:p>
            <a:pPr>
              <a:spcAft>
                <a:spcPts val="0"/>
              </a:spcAft>
            </a:pPr>
            <a:r>
              <a:rPr lang="en-US" sz="2000" dirty="0">
                <a:solidFill>
                  <a:srgbClr val="000000"/>
                </a:solidFill>
                <a:latin typeface="Calibri" panose="020F0502020204030204" pitchFamily="34" charset="0"/>
              </a:rPr>
              <a:t> </a:t>
            </a:r>
            <a:endParaRPr lang="en-US" sz="2000" dirty="0"/>
          </a:p>
          <a:p>
            <a:pPr>
              <a:spcAft>
                <a:spcPts val="0"/>
              </a:spcAft>
            </a:pPr>
            <a:r>
              <a:rPr lang="en-US" sz="2000" dirty="0">
                <a:solidFill>
                  <a:srgbClr val="000000"/>
                </a:solidFill>
                <a:latin typeface="Calibri" panose="020F0502020204030204" pitchFamily="34" charset="0"/>
              </a:rPr>
              <a:t>Access is more efficient when memory is organized into banks of chips with the addresses interleaved across the chips.</a:t>
            </a:r>
            <a:endParaRPr lang="en-US" sz="2000" dirty="0"/>
          </a:p>
          <a:p>
            <a:pPr>
              <a:spcAft>
                <a:spcPts val="0"/>
              </a:spcAft>
            </a:pPr>
            <a:r>
              <a:rPr lang="en-US" sz="2000" dirty="0">
                <a:solidFill>
                  <a:srgbClr val="000000"/>
                </a:solidFill>
                <a:latin typeface="Calibri" panose="020F0502020204030204" pitchFamily="34" charset="0"/>
              </a:rPr>
              <a:t> </a:t>
            </a:r>
            <a:endParaRPr lang="en-US" sz="2000" dirty="0"/>
          </a:p>
          <a:p>
            <a:pPr>
              <a:spcAft>
                <a:spcPts val="0"/>
              </a:spcAft>
            </a:pPr>
            <a:r>
              <a:rPr lang="en-US" sz="2000" dirty="0">
                <a:solidFill>
                  <a:srgbClr val="000000"/>
                </a:solidFill>
                <a:latin typeface="Calibri" panose="020F0502020204030204" pitchFamily="34" charset="0"/>
              </a:rPr>
              <a:t>The best way to explain how memory is organized, is found in the following example.</a:t>
            </a:r>
            <a:endParaRPr lang="en-US" sz="2000" dirty="0"/>
          </a:p>
          <a:p>
            <a:pPr>
              <a:spcAft>
                <a:spcPts val="0"/>
              </a:spcAft>
            </a:pPr>
            <a:r>
              <a:rPr lang="en-US" sz="2000" dirty="0">
                <a:solidFill>
                  <a:srgbClr val="000000"/>
                </a:solidFill>
                <a:latin typeface="Calibri" panose="020F0502020204030204" pitchFamily="34" charset="0"/>
              </a:rPr>
              <a:t> </a:t>
            </a:r>
            <a:endParaRPr lang="en-US" sz="2000" dirty="0"/>
          </a:p>
          <a:p>
            <a:pPr>
              <a:spcAft>
                <a:spcPts val="0"/>
              </a:spcAft>
            </a:pPr>
            <a:r>
              <a:rPr lang="en-US" sz="2000" b="1" dirty="0">
                <a:solidFill>
                  <a:srgbClr val="00B050"/>
                </a:solidFill>
                <a:latin typeface="Calibri" panose="020F0502020204030204" pitchFamily="34" charset="0"/>
              </a:rPr>
              <a:t>Example:</a:t>
            </a:r>
            <a:r>
              <a:rPr lang="en-US" sz="2000" dirty="0">
                <a:solidFill>
                  <a:srgbClr val="000000"/>
                </a:solidFill>
                <a:latin typeface="Calibri" panose="020F0502020204030204" pitchFamily="34" charset="0"/>
              </a:rPr>
              <a:t> How to build a </a:t>
            </a:r>
            <a:r>
              <a:rPr lang="en-US" sz="2000" b="1" dirty="0">
                <a:solidFill>
                  <a:srgbClr val="000000"/>
                </a:solidFill>
                <a:latin typeface="Calibri" panose="020F0502020204030204" pitchFamily="34" charset="0"/>
              </a:rPr>
              <a:t>32Kx16</a:t>
            </a:r>
            <a:r>
              <a:rPr lang="en-US" sz="2000" dirty="0">
                <a:solidFill>
                  <a:srgbClr val="000000"/>
                </a:solidFill>
                <a:latin typeface="Calibri" panose="020F0502020204030204" pitchFamily="34" charset="0"/>
              </a:rPr>
              <a:t> word addressable RAM memory with only </a:t>
            </a:r>
            <a:r>
              <a:rPr lang="en-US" sz="2000" b="1" dirty="0">
                <a:solidFill>
                  <a:srgbClr val="000000"/>
                </a:solidFill>
                <a:latin typeface="Calibri" panose="020F0502020204030204" pitchFamily="34" charset="0"/>
              </a:rPr>
              <a:t>2Kx8 RAM</a:t>
            </a:r>
            <a:r>
              <a:rPr lang="en-US" sz="2000" dirty="0">
                <a:solidFill>
                  <a:srgbClr val="000000"/>
                </a:solidFill>
                <a:latin typeface="Calibri" panose="020F0502020204030204" pitchFamily="34" charset="0"/>
              </a:rPr>
              <a:t> chips.</a:t>
            </a:r>
            <a:endParaRPr lang="en-US" sz="2000" dirty="0"/>
          </a:p>
          <a:p>
            <a:pPr>
              <a:spcAft>
                <a:spcPts val="0"/>
              </a:spcAft>
            </a:pPr>
            <a:r>
              <a:rPr lang="en-US" sz="2000" dirty="0">
                <a:solidFill>
                  <a:srgbClr val="000000"/>
                </a:solidFill>
                <a:latin typeface="Calibri" panose="020F0502020204030204" pitchFamily="34" charset="0"/>
              </a:rPr>
              <a:t> </a:t>
            </a:r>
            <a:endParaRPr lang="en-US" sz="2000" dirty="0"/>
          </a:p>
          <a:p>
            <a:pPr>
              <a:spcAft>
                <a:spcPts val="0"/>
              </a:spcAft>
            </a:pPr>
            <a:r>
              <a:rPr lang="en-US" sz="2000" dirty="0">
                <a:solidFill>
                  <a:srgbClr val="000000"/>
                </a:solidFill>
                <a:latin typeface="Calibri" panose="020F0502020204030204" pitchFamily="34" charset="0"/>
              </a:rPr>
              <a:t>A 32Kx16 word addressable RAM memory can be created with 32 different 2Kx8 RAM chips. You could connect 16 rows and 2 columns of chips together as shown in figure </a:t>
            </a:r>
            <a:r>
              <a:rPr lang="en-US" sz="2000" dirty="0" smtClean="0">
                <a:solidFill>
                  <a:srgbClr val="000000"/>
                </a:solidFill>
                <a:latin typeface="Calibri" panose="020F0502020204030204" pitchFamily="34" charset="0"/>
              </a:rPr>
              <a:t>4.5</a:t>
            </a:r>
            <a:r>
              <a:rPr lang="en-US" sz="2000" dirty="0">
                <a:solidFill>
                  <a:srgbClr val="000000"/>
                </a:solidFill>
                <a:latin typeface="Calibri" panose="020F0502020204030204" pitchFamily="34" charset="0"/>
              </a:rPr>
              <a:t>.</a:t>
            </a:r>
            <a:endParaRPr lang="en-US" sz="2000" dirty="0">
              <a:effectLst/>
            </a:endParaRPr>
          </a:p>
        </p:txBody>
      </p:sp>
      <p:sp>
        <p:nvSpPr>
          <p:cNvPr id="5" name="Date Placeholder 4"/>
          <p:cNvSpPr>
            <a:spLocks noGrp="1"/>
          </p:cNvSpPr>
          <p:nvPr>
            <p:ph type="dt" sz="half" idx="10"/>
          </p:nvPr>
        </p:nvSpPr>
        <p:spPr/>
        <p:txBody>
          <a:bodyPr/>
          <a:lstStyle/>
          <a:p>
            <a:fld id="{458196B8-BFE5-42A3-BFD6-4271ED49479F}" type="datetime3">
              <a:rPr lang="en-US" smtClean="0"/>
              <a:t>14 February 2017</a:t>
            </a:fld>
            <a:endParaRPr lang="en-US"/>
          </a:p>
        </p:txBody>
      </p:sp>
      <p:sp>
        <p:nvSpPr>
          <p:cNvPr id="7" name="Footer Placeholder 6"/>
          <p:cNvSpPr>
            <a:spLocks noGrp="1"/>
          </p:cNvSpPr>
          <p:nvPr>
            <p:ph type="ftr" sz="quarter" idx="11"/>
          </p:nvPr>
        </p:nvSpPr>
        <p:spPr/>
        <p:txBody>
          <a:bodyPr/>
          <a:lstStyle/>
          <a:p>
            <a:r>
              <a:rPr lang="en-US" smtClean="0"/>
              <a:t>T103 - Arab open University</a:t>
            </a:r>
            <a:endParaRPr lang="en-US"/>
          </a:p>
        </p:txBody>
      </p:sp>
      <p:sp>
        <p:nvSpPr>
          <p:cNvPr id="8" name="Slide Number Placeholder 7"/>
          <p:cNvSpPr>
            <a:spLocks noGrp="1"/>
          </p:cNvSpPr>
          <p:nvPr>
            <p:ph type="sldNum" sz="quarter" idx="12"/>
          </p:nvPr>
        </p:nvSpPr>
        <p:spPr/>
        <p:txBody>
          <a:bodyPr/>
          <a:lstStyle/>
          <a:p>
            <a:fld id="{20042AC5-0839-4BB6-BBC0-636ECAAE7EE1}" type="slidenum">
              <a:rPr lang="en-US" smtClean="0"/>
              <a:pPr/>
              <a:t>23</a:t>
            </a:fld>
            <a:endParaRPr lang="en-US"/>
          </a:p>
        </p:txBody>
      </p:sp>
    </p:spTree>
    <p:extLst>
      <p:ext uri="{BB962C8B-B14F-4D97-AF65-F5344CB8AC3E}">
        <p14:creationId xmlns:p14="http://schemas.microsoft.com/office/powerpoint/2010/main" val="3754353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Memory Addressing and Organization </a:t>
            </a:r>
          </a:p>
        </p:txBody>
      </p:sp>
      <p:sp>
        <p:nvSpPr>
          <p:cNvPr id="6" name="Rectangle 5"/>
          <p:cNvSpPr/>
          <p:nvPr/>
        </p:nvSpPr>
        <p:spPr>
          <a:xfrm>
            <a:off x="1066800" y="4443680"/>
            <a:ext cx="8077200" cy="1323439"/>
          </a:xfrm>
          <a:prstGeom prst="rect">
            <a:avLst/>
          </a:prstGeom>
        </p:spPr>
        <p:txBody>
          <a:bodyPr wrap="square">
            <a:spAutoFit/>
          </a:bodyPr>
          <a:lstStyle/>
          <a:p>
            <a:pPr>
              <a:spcAft>
                <a:spcPts val="0"/>
              </a:spcAft>
            </a:pPr>
            <a:r>
              <a:rPr lang="en-US" sz="2000" dirty="0" smtClean="0">
                <a:solidFill>
                  <a:srgbClr val="000000"/>
                </a:solidFill>
                <a:latin typeface="Calibri" panose="020F0502020204030204" pitchFamily="34" charset="0"/>
              </a:rPr>
              <a:t>The </a:t>
            </a:r>
            <a:r>
              <a:rPr lang="en-US" sz="2000" dirty="0">
                <a:solidFill>
                  <a:srgbClr val="000000"/>
                </a:solidFill>
                <a:latin typeface="Calibri" panose="020F0502020204030204" pitchFamily="34" charset="0"/>
              </a:rPr>
              <a:t>word size is now: 8x2=16 bits</a:t>
            </a:r>
            <a:endParaRPr lang="en-US" sz="2000" dirty="0"/>
          </a:p>
          <a:p>
            <a:pPr>
              <a:spcAft>
                <a:spcPts val="0"/>
              </a:spcAft>
            </a:pPr>
            <a:r>
              <a:rPr lang="en-US" sz="2000" dirty="0">
                <a:solidFill>
                  <a:srgbClr val="000000"/>
                </a:solidFill>
                <a:latin typeface="Calibri" panose="020F0502020204030204" pitchFamily="34" charset="0"/>
              </a:rPr>
              <a:t>The number of addresses (rows) is now: 2Kx16= 32K.</a:t>
            </a:r>
            <a:endParaRPr lang="en-US" sz="2000" dirty="0"/>
          </a:p>
          <a:p>
            <a:pPr>
              <a:spcAft>
                <a:spcPts val="0"/>
              </a:spcAft>
            </a:pPr>
            <a:r>
              <a:rPr lang="en-US" sz="2000" dirty="0">
                <a:solidFill>
                  <a:srgbClr val="000000"/>
                </a:solidFill>
                <a:latin typeface="Calibri" panose="020F0502020204030204" pitchFamily="34" charset="0"/>
              </a:rPr>
              <a:t>Therefore, what we have now is a memory module that has the size of </a:t>
            </a:r>
            <a:r>
              <a:rPr lang="en-US" sz="2000" b="1" dirty="0">
                <a:solidFill>
                  <a:srgbClr val="000000"/>
                </a:solidFill>
                <a:latin typeface="Calibri" panose="020F0502020204030204" pitchFamily="34" charset="0"/>
              </a:rPr>
              <a:t>32Kx16.</a:t>
            </a:r>
            <a:endParaRPr lang="en-US" sz="2000" dirty="0">
              <a:effectLst/>
            </a:endParaRPr>
          </a:p>
        </p:txBody>
      </p:sp>
      <p:pic>
        <p:nvPicPr>
          <p:cNvPr id="5" name="Picture 4"/>
          <p:cNvPicPr/>
          <p:nvPr/>
        </p:nvPicPr>
        <p:blipFill>
          <a:blip r:embed="rId2"/>
          <a:stretch>
            <a:fillRect/>
          </a:stretch>
        </p:blipFill>
        <p:spPr>
          <a:xfrm>
            <a:off x="2667000" y="1237964"/>
            <a:ext cx="2667000" cy="2590800"/>
          </a:xfrm>
          <a:prstGeom prst="rect">
            <a:avLst/>
          </a:prstGeom>
        </p:spPr>
      </p:pic>
      <p:sp>
        <p:nvSpPr>
          <p:cNvPr id="4" name="Rectangle 3"/>
          <p:cNvSpPr/>
          <p:nvPr/>
        </p:nvSpPr>
        <p:spPr>
          <a:xfrm>
            <a:off x="2305639" y="3828764"/>
            <a:ext cx="3404586" cy="276999"/>
          </a:xfrm>
          <a:prstGeom prst="rect">
            <a:avLst/>
          </a:prstGeom>
        </p:spPr>
        <p:txBody>
          <a:bodyPr wrap="none">
            <a:spAutoFit/>
          </a:bodyPr>
          <a:lstStyle/>
          <a:p>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Figure </a:t>
            </a:r>
            <a:r>
              <a:rPr lang="ar-SA" sz="1200" i="1" dirty="0" smtClean="0">
                <a:solidFill>
                  <a:schemeClr val="tx2">
                    <a:lumMod val="75000"/>
                  </a:schemeClr>
                </a:solidFill>
                <a:latin typeface="Calibri" panose="020F0502020204030204" pitchFamily="34" charset="0"/>
                <a:ea typeface="Calibri" panose="020F0502020204030204" pitchFamily="34" charset="0"/>
              </a:rPr>
              <a:t>‎</a:t>
            </a:r>
            <a:r>
              <a:rPr lang="en-US" sz="12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4.5</a:t>
            </a:r>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 Building 32kx16 module from 2kx8 chips</a:t>
            </a:r>
            <a:endParaRPr lang="en-US" sz="2000" i="1" dirty="0">
              <a:solidFill>
                <a:schemeClr val="tx2">
                  <a:lumMod val="75000"/>
                </a:schemeClr>
              </a:solidFill>
            </a:endParaRPr>
          </a:p>
        </p:txBody>
      </p:sp>
      <p:sp>
        <p:nvSpPr>
          <p:cNvPr id="7" name="Date Placeholder 6"/>
          <p:cNvSpPr>
            <a:spLocks noGrp="1"/>
          </p:cNvSpPr>
          <p:nvPr>
            <p:ph type="dt" sz="half" idx="10"/>
          </p:nvPr>
        </p:nvSpPr>
        <p:spPr/>
        <p:txBody>
          <a:bodyPr/>
          <a:lstStyle/>
          <a:p>
            <a:fld id="{DA1CFD65-BB93-4F73-8CC3-184986DFBEED}" type="datetime3">
              <a:rPr lang="en-US" smtClean="0"/>
              <a:t>14 February 2017</a:t>
            </a:fld>
            <a:endParaRPr lang="en-US"/>
          </a:p>
        </p:txBody>
      </p:sp>
      <p:sp>
        <p:nvSpPr>
          <p:cNvPr id="8" name="Footer Placeholder 7"/>
          <p:cNvSpPr>
            <a:spLocks noGrp="1"/>
          </p:cNvSpPr>
          <p:nvPr>
            <p:ph type="ftr" sz="quarter" idx="11"/>
          </p:nvPr>
        </p:nvSpPr>
        <p:spPr/>
        <p:txBody>
          <a:bodyPr/>
          <a:lstStyle/>
          <a:p>
            <a:r>
              <a:rPr lang="en-US" smtClean="0"/>
              <a:t>T103 - Arab open University</a:t>
            </a:r>
            <a:endParaRPr lang="en-US"/>
          </a:p>
        </p:txBody>
      </p:sp>
      <p:sp>
        <p:nvSpPr>
          <p:cNvPr id="9" name="Slide Number Placeholder 8"/>
          <p:cNvSpPr>
            <a:spLocks noGrp="1"/>
          </p:cNvSpPr>
          <p:nvPr>
            <p:ph type="sldNum" sz="quarter" idx="12"/>
          </p:nvPr>
        </p:nvSpPr>
        <p:spPr/>
        <p:txBody>
          <a:bodyPr/>
          <a:lstStyle/>
          <a:p>
            <a:fld id="{20042AC5-0839-4BB6-BBC0-636ECAAE7EE1}" type="slidenum">
              <a:rPr lang="en-US" smtClean="0"/>
              <a:pPr/>
              <a:t>24</a:t>
            </a:fld>
            <a:endParaRPr lang="en-US"/>
          </a:p>
        </p:txBody>
      </p:sp>
    </p:spTree>
    <p:extLst>
      <p:ext uri="{BB962C8B-B14F-4D97-AF65-F5344CB8AC3E}">
        <p14:creationId xmlns:p14="http://schemas.microsoft.com/office/powerpoint/2010/main" val="361656889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Lecture Overview</a:t>
            </a:r>
            <a:endParaRPr lang="en-US" dirty="0"/>
          </a:p>
        </p:txBody>
      </p:sp>
      <p:sp>
        <p:nvSpPr>
          <p:cNvPr id="2" name="Content Placeholder 1"/>
          <p:cNvSpPr>
            <a:spLocks noGrp="1"/>
          </p:cNvSpPr>
          <p:nvPr>
            <p:ph idx="1"/>
          </p:nvPr>
        </p:nvSpPr>
        <p:spPr/>
        <p:txBody>
          <a:bodyPr>
            <a:normAutofit fontScale="85000" lnSpcReduction="20000"/>
          </a:bodyPr>
          <a:lstStyle/>
          <a:p>
            <a:r>
              <a:rPr lang="en-US" dirty="0" smtClean="0">
                <a:solidFill>
                  <a:schemeClr val="bg1">
                    <a:lumMod val="65000"/>
                  </a:schemeClr>
                </a:solidFill>
              </a:rPr>
              <a:t>Introduction</a:t>
            </a:r>
          </a:p>
          <a:p>
            <a:r>
              <a:rPr lang="en-US" b="1" dirty="0" smtClean="0">
                <a:solidFill>
                  <a:srgbClr val="FF0000"/>
                </a:solidFill>
              </a:rPr>
              <a:t>MARIE</a:t>
            </a:r>
          </a:p>
          <a:p>
            <a:pPr lvl="1"/>
            <a:r>
              <a:rPr lang="en-US" dirty="0" smtClean="0"/>
              <a:t>Introduction</a:t>
            </a:r>
          </a:p>
          <a:p>
            <a:pPr lvl="1"/>
            <a:r>
              <a:rPr lang="en-US" dirty="0" smtClean="0"/>
              <a:t>The Architecture</a:t>
            </a:r>
          </a:p>
          <a:p>
            <a:pPr lvl="1"/>
            <a:r>
              <a:rPr lang="en-US" dirty="0" smtClean="0"/>
              <a:t>Registers and Buses</a:t>
            </a:r>
          </a:p>
          <a:p>
            <a:pPr lvl="1"/>
            <a:r>
              <a:rPr lang="en-US" dirty="0" smtClean="0"/>
              <a:t>The Instruction Set Architecture</a:t>
            </a:r>
          </a:p>
          <a:p>
            <a:pPr lvl="1"/>
            <a:r>
              <a:rPr lang="en-US" dirty="0" smtClean="0"/>
              <a:t>Register Transfer Notation</a:t>
            </a:r>
            <a:endParaRPr lang="en-US" dirty="0"/>
          </a:p>
          <a:p>
            <a:r>
              <a:rPr lang="en-US" dirty="0"/>
              <a:t>Instruction processing</a:t>
            </a:r>
          </a:p>
          <a:p>
            <a:r>
              <a:rPr lang="en-US" dirty="0"/>
              <a:t>A simple program</a:t>
            </a:r>
          </a:p>
          <a:p>
            <a:r>
              <a:rPr lang="en-US" dirty="0" smtClean="0"/>
              <a:t>Extending </a:t>
            </a:r>
            <a:r>
              <a:rPr lang="en-US" dirty="0"/>
              <a:t>our </a:t>
            </a:r>
            <a:r>
              <a:rPr lang="en-US" dirty="0" smtClean="0"/>
              <a:t>ISA</a:t>
            </a:r>
          </a:p>
          <a:p>
            <a:pPr lvl="0"/>
            <a:r>
              <a:rPr lang="en-US" sz="2900" dirty="0">
                <a:solidFill>
                  <a:prstClr val="black"/>
                </a:solidFill>
              </a:rPr>
              <a:t>Addressing Modes ( Ch. 5)</a:t>
            </a:r>
          </a:p>
        </p:txBody>
      </p:sp>
      <p:sp>
        <p:nvSpPr>
          <p:cNvPr id="4" name="Date Placeholder 3"/>
          <p:cNvSpPr>
            <a:spLocks noGrp="1"/>
          </p:cNvSpPr>
          <p:nvPr>
            <p:ph type="dt" sz="half" idx="10"/>
          </p:nvPr>
        </p:nvSpPr>
        <p:spPr/>
        <p:txBody>
          <a:bodyPr/>
          <a:lstStyle/>
          <a:p>
            <a:fld id="{687D2316-D53B-4686-907A-A8636F931B79}" type="datetime3">
              <a:rPr lang="en-US" smtClean="0"/>
              <a:t>14 February 2017</a:t>
            </a:fld>
            <a:endParaRPr lang="en-US"/>
          </a:p>
        </p:txBody>
      </p:sp>
      <p:sp>
        <p:nvSpPr>
          <p:cNvPr id="5" name="Footer Placeholder 4"/>
          <p:cNvSpPr>
            <a:spLocks noGrp="1"/>
          </p:cNvSpPr>
          <p:nvPr>
            <p:ph type="ftr" sz="quarter" idx="11"/>
          </p:nvPr>
        </p:nvSpPr>
        <p:spPr/>
        <p:txBody>
          <a:bodyPr/>
          <a:lstStyle/>
          <a:p>
            <a:r>
              <a:rPr lang="en-US" smtClean="0"/>
              <a:t>T103 - Arab open University</a:t>
            </a:r>
            <a:endParaRPr lang="en-US" dirty="0"/>
          </a:p>
        </p:txBody>
      </p:sp>
      <p:sp>
        <p:nvSpPr>
          <p:cNvPr id="6" name="Slide Number Placeholder 5"/>
          <p:cNvSpPr>
            <a:spLocks noGrp="1"/>
          </p:cNvSpPr>
          <p:nvPr>
            <p:ph type="sldNum" sz="quarter" idx="12"/>
          </p:nvPr>
        </p:nvSpPr>
        <p:spPr/>
        <p:txBody>
          <a:bodyPr/>
          <a:lstStyle/>
          <a:p>
            <a:fld id="{20042AC5-0839-4BB6-BBC0-636ECAAE7EE1}" type="slidenum">
              <a:rPr lang="en-US" smtClean="0"/>
              <a:pPr/>
              <a:t>25</a:t>
            </a:fld>
            <a:endParaRPr lang="en-US"/>
          </a:p>
        </p:txBody>
      </p:sp>
    </p:spTree>
    <p:extLst>
      <p:ext uri="{BB962C8B-B14F-4D97-AF65-F5344CB8AC3E}">
        <p14:creationId xmlns:p14="http://schemas.microsoft.com/office/powerpoint/2010/main" val="32150746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smtClean="0"/>
              <a:t>MARIE – Introduction</a:t>
            </a:r>
            <a:endParaRPr lang="en-US" sz="2800" dirty="0"/>
          </a:p>
        </p:txBody>
      </p:sp>
      <p:sp>
        <p:nvSpPr>
          <p:cNvPr id="4" name="Content Placeholder 3"/>
          <p:cNvSpPr>
            <a:spLocks noGrp="1"/>
          </p:cNvSpPr>
          <p:nvPr>
            <p:ph idx="1"/>
          </p:nvPr>
        </p:nvSpPr>
        <p:spPr>
          <a:xfrm>
            <a:off x="828173" y="887506"/>
            <a:ext cx="8153400" cy="5589494"/>
          </a:xfrm>
        </p:spPr>
        <p:txBody>
          <a:bodyPr>
            <a:noAutofit/>
          </a:bodyPr>
          <a:lstStyle/>
          <a:p>
            <a:pPr marL="0" indent="0">
              <a:buNone/>
            </a:pPr>
            <a:r>
              <a:rPr lang="en-US" sz="2000" dirty="0" smtClean="0"/>
              <a:t>We are now familiar with computer components but how these are connected together? How these work together?</a:t>
            </a:r>
          </a:p>
          <a:p>
            <a:pPr marL="0" indent="0">
              <a:buNone/>
            </a:pPr>
            <a:r>
              <a:rPr lang="en-US" sz="2000" dirty="0" smtClean="0"/>
              <a:t>Leonardo Da Vinci once said:</a:t>
            </a:r>
          </a:p>
          <a:p>
            <a:pPr marL="0" indent="0" algn="ctr">
              <a:buNone/>
            </a:pPr>
            <a:r>
              <a:rPr lang="en-US" sz="1800" dirty="0"/>
              <a:t>“</a:t>
            </a:r>
            <a:r>
              <a:rPr lang="en-US" sz="1800" i="1" dirty="0"/>
              <a:t>When you wish to produce a result by means of an </a:t>
            </a:r>
            <a:r>
              <a:rPr lang="en-US" sz="1800" i="1" dirty="0" smtClean="0"/>
              <a:t>instrument</a:t>
            </a:r>
            <a:r>
              <a:rPr lang="en-US" sz="1800" i="1" dirty="0"/>
              <a:t>, do </a:t>
            </a:r>
            <a:r>
              <a:rPr lang="en-US" sz="1800" i="1" dirty="0" smtClean="0"/>
              <a:t>not allow </a:t>
            </a:r>
            <a:r>
              <a:rPr lang="en-US" sz="1800" i="1" dirty="0"/>
              <a:t>yourself to complicate </a:t>
            </a:r>
            <a:r>
              <a:rPr lang="en-US" sz="1800" i="1" dirty="0" smtClean="0"/>
              <a:t>it</a:t>
            </a:r>
            <a:r>
              <a:rPr lang="en-US" sz="1800" dirty="0" smtClean="0"/>
              <a:t>”</a:t>
            </a:r>
          </a:p>
          <a:p>
            <a:pPr marL="0" indent="0">
              <a:buNone/>
            </a:pPr>
            <a:r>
              <a:rPr lang="en-US" sz="2000" dirty="0" smtClean="0">
                <a:solidFill>
                  <a:srgbClr val="7030A0"/>
                </a:solidFill>
              </a:rPr>
              <a:t>In this part we will use a MARIE, A </a:t>
            </a:r>
            <a:r>
              <a:rPr lang="en-US" sz="2000" b="1" dirty="0" smtClean="0">
                <a:solidFill>
                  <a:srgbClr val="7030A0"/>
                </a:solidFill>
              </a:rPr>
              <a:t>M</a:t>
            </a:r>
            <a:r>
              <a:rPr lang="en-US" sz="2000" dirty="0" smtClean="0">
                <a:solidFill>
                  <a:srgbClr val="7030A0"/>
                </a:solidFill>
              </a:rPr>
              <a:t>achine </a:t>
            </a:r>
            <a:r>
              <a:rPr lang="en-US" sz="2000" b="1" dirty="0" smtClean="0">
                <a:solidFill>
                  <a:srgbClr val="7030A0"/>
                </a:solidFill>
              </a:rPr>
              <a:t>A</a:t>
            </a:r>
            <a:r>
              <a:rPr lang="en-US" sz="2000" dirty="0" smtClean="0">
                <a:solidFill>
                  <a:srgbClr val="7030A0"/>
                </a:solidFill>
              </a:rPr>
              <a:t>rchitecture </a:t>
            </a:r>
            <a:r>
              <a:rPr lang="en-US" sz="2000" dirty="0">
                <a:solidFill>
                  <a:srgbClr val="7030A0"/>
                </a:solidFill>
              </a:rPr>
              <a:t>that is </a:t>
            </a:r>
            <a:r>
              <a:rPr lang="en-US" sz="2000" b="1" dirty="0">
                <a:solidFill>
                  <a:srgbClr val="7030A0"/>
                </a:solidFill>
              </a:rPr>
              <a:t>R</a:t>
            </a:r>
            <a:r>
              <a:rPr lang="en-US" sz="2000" dirty="0">
                <a:solidFill>
                  <a:srgbClr val="7030A0"/>
                </a:solidFill>
              </a:rPr>
              <a:t>eally </a:t>
            </a:r>
            <a:r>
              <a:rPr lang="en-US" sz="2000" b="1" dirty="0">
                <a:solidFill>
                  <a:srgbClr val="7030A0"/>
                </a:solidFill>
              </a:rPr>
              <a:t>I</a:t>
            </a:r>
            <a:r>
              <a:rPr lang="en-US" sz="2000" dirty="0">
                <a:solidFill>
                  <a:srgbClr val="7030A0"/>
                </a:solidFill>
              </a:rPr>
              <a:t>ntuitive and </a:t>
            </a:r>
            <a:r>
              <a:rPr lang="en-US" sz="2000" b="1" dirty="0" smtClean="0">
                <a:solidFill>
                  <a:srgbClr val="7030A0"/>
                </a:solidFill>
              </a:rPr>
              <a:t>E</a:t>
            </a:r>
            <a:r>
              <a:rPr lang="en-US" sz="2000" dirty="0" smtClean="0">
                <a:solidFill>
                  <a:srgbClr val="7030A0"/>
                </a:solidFill>
              </a:rPr>
              <a:t>asy.</a:t>
            </a:r>
          </a:p>
          <a:p>
            <a:pPr marL="0" indent="0">
              <a:buNone/>
            </a:pPr>
            <a:endParaRPr lang="en-US" sz="2000" dirty="0" smtClean="0"/>
          </a:p>
          <a:p>
            <a:pPr marL="0" indent="0">
              <a:buNone/>
            </a:pPr>
            <a:r>
              <a:rPr lang="en-US" sz="2000" dirty="0"/>
              <a:t>A very simple architecture, MARIE, and its ISA are presented to allow </a:t>
            </a:r>
            <a:r>
              <a:rPr lang="en-US" sz="2000" dirty="0" smtClean="0"/>
              <a:t>you to </a:t>
            </a:r>
            <a:r>
              <a:rPr lang="en-US" sz="2000" dirty="0"/>
              <a:t>gain a full understanding of the basic architectural organization involved in program execution. </a:t>
            </a:r>
            <a:endParaRPr lang="en-US" sz="2000" dirty="0" smtClean="0"/>
          </a:p>
          <a:p>
            <a:pPr marL="0" indent="0">
              <a:buNone/>
            </a:pPr>
            <a:endParaRPr lang="en-US" sz="2000" dirty="0" smtClean="0"/>
          </a:p>
          <a:p>
            <a:pPr marL="0" indent="0">
              <a:buNone/>
            </a:pPr>
            <a:r>
              <a:rPr lang="en-US" sz="2000" dirty="0" smtClean="0"/>
              <a:t>MARIE </a:t>
            </a:r>
            <a:r>
              <a:rPr lang="en-US" sz="2000" dirty="0"/>
              <a:t>exhibits the classical von Neumann design and includes a program counter, an accumulator, an instruction register, 4096 bytes of memory, and two addressing modes. Assembly language programming is introduced to reinforce the concepts of instruction format, instruction mode, data format, and control that are presented earlier. </a:t>
            </a:r>
          </a:p>
        </p:txBody>
      </p:sp>
      <p:sp>
        <p:nvSpPr>
          <p:cNvPr id="5" name="Date Placeholder 4"/>
          <p:cNvSpPr>
            <a:spLocks noGrp="1"/>
          </p:cNvSpPr>
          <p:nvPr>
            <p:ph type="dt" sz="half" idx="10"/>
          </p:nvPr>
        </p:nvSpPr>
        <p:spPr/>
        <p:txBody>
          <a:bodyPr/>
          <a:lstStyle/>
          <a:p>
            <a:fld id="{DE2AACB1-79BF-4C5E-BC5C-CB36843AAF24}"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26</a:t>
            </a:fld>
            <a:endParaRPr lang="en-US"/>
          </a:p>
        </p:txBody>
      </p:sp>
    </p:spTree>
    <p:extLst>
      <p:ext uri="{BB962C8B-B14F-4D97-AF65-F5344CB8AC3E}">
        <p14:creationId xmlns:p14="http://schemas.microsoft.com/office/powerpoint/2010/main" val="91047015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MARIE – </a:t>
            </a:r>
            <a:r>
              <a:rPr lang="en-US" dirty="0">
                <a:solidFill>
                  <a:srgbClr val="FF0000"/>
                </a:solidFill>
              </a:rPr>
              <a:t>Architecture</a:t>
            </a:r>
            <a:r>
              <a:rPr lang="en-US" dirty="0"/>
              <a:t>, </a:t>
            </a:r>
            <a:r>
              <a:rPr lang="en-US" dirty="0" smtClean="0"/>
              <a:t>Registers, </a:t>
            </a:r>
            <a:r>
              <a:rPr lang="en-US" dirty="0"/>
              <a:t>and Buses </a:t>
            </a:r>
          </a:p>
        </p:txBody>
      </p:sp>
      <p:sp>
        <p:nvSpPr>
          <p:cNvPr id="6" name="Rectangle 5"/>
          <p:cNvSpPr/>
          <p:nvPr/>
        </p:nvSpPr>
        <p:spPr>
          <a:xfrm>
            <a:off x="990600" y="891988"/>
            <a:ext cx="7620000" cy="816827"/>
          </a:xfrm>
          <a:prstGeom prst="rect">
            <a:avLst/>
          </a:prstGeom>
        </p:spPr>
        <p:txBody>
          <a:bodyPr wrap="square">
            <a:spAutoFit/>
          </a:bodyPr>
          <a:lstStyle/>
          <a:p>
            <a:pPr>
              <a:lnSpc>
                <a:spcPct val="107000"/>
              </a:lnSpc>
            </a:pPr>
            <a:r>
              <a:rPr lang="en-US" sz="2400" b="1" dirty="0">
                <a:solidFill>
                  <a:srgbClr val="FF0000"/>
                </a:solidFill>
                <a:latin typeface="Calibri" panose="020F0502020204030204" pitchFamily="34" charset="0"/>
                <a:ea typeface="Times New Roman" panose="02020603050405020304" pitchFamily="18" charset="0"/>
                <a:cs typeface="Times New Roman" panose="02020603050405020304" pitchFamily="18" charset="0"/>
              </a:rPr>
              <a:t>Architecture</a:t>
            </a:r>
            <a:endParaRPr lang="en-US" dirty="0">
              <a:solidFill>
                <a:srgbClr val="FF000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pPr>
            <a:r>
              <a:rPr lang="en-US" sz="2000" dirty="0">
                <a:solidFill>
                  <a:srgbClr val="3C3C3C"/>
                </a:solidFill>
                <a:latin typeface="Calibri" panose="020F0502020204030204" pitchFamily="34" charset="0"/>
                <a:ea typeface="Times New Roman" panose="02020603050405020304" pitchFamily="18" charset="0"/>
                <a:cs typeface="Times New Roman" panose="02020603050405020304" pitchFamily="18" charset="0"/>
              </a:rPr>
              <a:t>The MARIE architecture is shown in the figure below:</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7" name="Picture 6" descr="MarchYL"/>
          <p:cNvPicPr/>
          <p:nvPr/>
        </p:nvPicPr>
        <p:blipFill>
          <a:blip r:embed="rId2" cstate="print">
            <a:clrChange>
              <a:clrFrom>
                <a:srgbClr val="FFFFE6"/>
              </a:clrFrom>
              <a:clrTo>
                <a:srgbClr val="FFFFE6">
                  <a:alpha val="0"/>
                </a:srgbClr>
              </a:clrTo>
            </a:clrChange>
            <a:extLst>
              <a:ext uri="{28A0092B-C50C-407E-A947-70E740481C1C}">
                <a14:useLocalDpi xmlns:a14="http://schemas.microsoft.com/office/drawing/2010/main" val="0"/>
              </a:ext>
            </a:extLst>
          </a:blip>
          <a:srcRect/>
          <a:stretch>
            <a:fillRect/>
          </a:stretch>
        </p:blipFill>
        <p:spPr bwMode="auto">
          <a:xfrm>
            <a:off x="2057400" y="1531645"/>
            <a:ext cx="4164106" cy="2558385"/>
          </a:xfrm>
          <a:prstGeom prst="rect">
            <a:avLst/>
          </a:prstGeom>
          <a:noFill/>
          <a:ln>
            <a:noFill/>
          </a:ln>
          <a:extLst/>
        </p:spPr>
      </p:pic>
      <p:sp>
        <p:nvSpPr>
          <p:cNvPr id="8" name="Rectangle 7"/>
          <p:cNvSpPr/>
          <p:nvPr/>
        </p:nvSpPr>
        <p:spPr>
          <a:xfrm>
            <a:off x="2909497" y="3912861"/>
            <a:ext cx="2089033" cy="276999"/>
          </a:xfrm>
          <a:prstGeom prst="rect">
            <a:avLst/>
          </a:prstGeom>
        </p:spPr>
        <p:txBody>
          <a:bodyPr wrap="none">
            <a:spAutoFit/>
          </a:bodyPr>
          <a:lstStyle/>
          <a:p>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Figure </a:t>
            </a:r>
            <a:r>
              <a:rPr lang="en-US" sz="1200" i="1" dirty="0" smtClean="0">
                <a:solidFill>
                  <a:schemeClr val="tx2">
                    <a:lumMod val="75000"/>
                  </a:schemeClr>
                </a:solidFill>
                <a:latin typeface="Calibri" panose="020F0502020204030204" pitchFamily="34" charset="0"/>
                <a:ea typeface="Calibri" panose="020F0502020204030204" pitchFamily="34" charset="0"/>
              </a:rPr>
              <a:t>4.6</a:t>
            </a:r>
            <a:r>
              <a:rPr lang="en-US" sz="12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 </a:t>
            </a:r>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MARIE architecture</a:t>
            </a:r>
            <a:endParaRPr lang="en-US" sz="2000" i="1" dirty="0">
              <a:solidFill>
                <a:schemeClr val="tx2">
                  <a:lumMod val="75000"/>
                </a:schemeClr>
              </a:solidFill>
            </a:endParaRPr>
          </a:p>
        </p:txBody>
      </p:sp>
      <p:sp>
        <p:nvSpPr>
          <p:cNvPr id="9" name="Rectangle 8"/>
          <p:cNvSpPr/>
          <p:nvPr/>
        </p:nvSpPr>
        <p:spPr>
          <a:xfrm>
            <a:off x="1143000" y="4267200"/>
            <a:ext cx="7315200" cy="2302425"/>
          </a:xfrm>
          <a:prstGeom prst="rect">
            <a:avLst/>
          </a:prstGeom>
        </p:spPr>
        <p:txBody>
          <a:bodyPr wrap="square">
            <a:spAutoFit/>
          </a:bodyPr>
          <a:lstStyle/>
          <a:p>
            <a:pPr>
              <a:lnSpc>
                <a:spcPct val="107000"/>
              </a:lnSpc>
              <a:spcAft>
                <a:spcPts val="800"/>
              </a:spcAft>
            </a:pPr>
            <a:r>
              <a:rPr lang="en-US" sz="2000" b="1" dirty="0">
                <a:latin typeface="Calibri" panose="020F0502020204030204" pitchFamily="34" charset="0"/>
                <a:ea typeface="Calibri" panose="020F0502020204030204" pitchFamily="34" charset="0"/>
                <a:cs typeface="Arial" panose="020B0604020202020204" pitchFamily="34" charset="0"/>
              </a:rPr>
              <a:t>The MARIE architecture has the following characteristics:</a:t>
            </a:r>
            <a:endParaRPr lang="en-US" b="1"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Arial" panose="020B0604020202020204" pitchFamily="34" charset="0"/>
              <a:buChar char="•"/>
              <a:tabLst>
                <a:tab pos="685800" algn="l"/>
              </a:tabLst>
            </a:pPr>
            <a:r>
              <a:rPr lang="en-US" dirty="0">
                <a:latin typeface="Calibri" panose="020F0502020204030204" pitchFamily="34" charset="0"/>
                <a:ea typeface="Calibri" panose="020F0502020204030204" pitchFamily="34" charset="0"/>
                <a:cs typeface="Times New Roman" panose="02020603050405020304" pitchFamily="18" charset="0"/>
              </a:rPr>
              <a:t>Binary, two's complement data representation.</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Arial" panose="020B0604020202020204" pitchFamily="34" charset="0"/>
              <a:buChar char="•"/>
              <a:tabLst>
                <a:tab pos="685800" algn="l"/>
              </a:tabLst>
            </a:pPr>
            <a:r>
              <a:rPr lang="en-US" dirty="0">
                <a:latin typeface="Calibri" panose="020F0502020204030204" pitchFamily="34" charset="0"/>
                <a:ea typeface="Calibri" panose="020F0502020204030204" pitchFamily="34" charset="0"/>
                <a:cs typeface="Times New Roman" panose="02020603050405020304" pitchFamily="18" charset="0"/>
              </a:rPr>
              <a:t>Stored program, fixed word length data and instructions.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Arial" panose="020B0604020202020204" pitchFamily="34" charset="0"/>
              <a:buChar char="•"/>
              <a:tabLst>
                <a:tab pos="685800" algn="l"/>
              </a:tabLst>
            </a:pPr>
            <a:r>
              <a:rPr lang="en-US" dirty="0">
                <a:latin typeface="Calibri" panose="020F0502020204030204" pitchFamily="34" charset="0"/>
                <a:ea typeface="Calibri" panose="020F0502020204030204" pitchFamily="34" charset="0"/>
                <a:cs typeface="Times New Roman" panose="02020603050405020304" pitchFamily="18" charset="0"/>
              </a:rPr>
              <a:t>4K x 16 word-addressable main memory.</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Arial" panose="020B0604020202020204" pitchFamily="34" charset="0"/>
              <a:buChar char="•"/>
              <a:tabLst>
                <a:tab pos="685800" algn="l"/>
              </a:tabLst>
            </a:pPr>
            <a:r>
              <a:rPr lang="en-US" dirty="0">
                <a:latin typeface="Calibri" panose="020F0502020204030204" pitchFamily="34" charset="0"/>
                <a:ea typeface="Calibri" panose="020F0502020204030204" pitchFamily="34" charset="0"/>
                <a:cs typeface="Times New Roman" panose="02020603050405020304" pitchFamily="18" charset="0"/>
              </a:rPr>
              <a:t>16-bit instructions: 4 bits for the opcode, 12 bits for the address.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Arial" panose="020B0604020202020204" pitchFamily="34" charset="0"/>
              <a:buChar char="•"/>
              <a:tabLst>
                <a:tab pos="685800" algn="l"/>
              </a:tabLst>
            </a:pPr>
            <a:r>
              <a:rPr lang="en-US" dirty="0">
                <a:latin typeface="Calibri" panose="020F0502020204030204" pitchFamily="34" charset="0"/>
                <a:ea typeface="Calibri" panose="020F0502020204030204" pitchFamily="34" charset="0"/>
                <a:cs typeface="Times New Roman" panose="02020603050405020304" pitchFamily="18" charset="0"/>
              </a:rPr>
              <a:t>A 16-bit arithmetic logic unit (ALU).</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Arial" panose="020B0604020202020204" pitchFamily="34" charset="0"/>
              <a:buChar char="•"/>
              <a:tabLst>
                <a:tab pos="685800" algn="l"/>
              </a:tabLst>
            </a:pPr>
            <a:r>
              <a:rPr lang="en-US" dirty="0">
                <a:latin typeface="Calibri" panose="020F0502020204030204" pitchFamily="34" charset="0"/>
                <a:ea typeface="Calibri" panose="020F0502020204030204" pitchFamily="34" charset="0"/>
                <a:cs typeface="Times New Roman" panose="02020603050405020304" pitchFamily="18" charset="0"/>
              </a:rPr>
              <a:t>Seven registers for control and data movement.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Date Placeholder 9"/>
          <p:cNvSpPr>
            <a:spLocks noGrp="1"/>
          </p:cNvSpPr>
          <p:nvPr>
            <p:ph type="dt" sz="half" idx="10"/>
          </p:nvPr>
        </p:nvSpPr>
        <p:spPr/>
        <p:txBody>
          <a:bodyPr/>
          <a:lstStyle/>
          <a:p>
            <a:fld id="{13824D3C-3D9C-44B6-93C2-F65E2AD89B26}" type="datetime3">
              <a:rPr lang="en-US" smtClean="0"/>
              <a:t>14 February 2017</a:t>
            </a:fld>
            <a:endParaRPr lang="en-US"/>
          </a:p>
        </p:txBody>
      </p:sp>
      <p:sp>
        <p:nvSpPr>
          <p:cNvPr id="11" name="Footer Placeholder 10"/>
          <p:cNvSpPr>
            <a:spLocks noGrp="1"/>
          </p:cNvSpPr>
          <p:nvPr>
            <p:ph type="ftr" sz="quarter" idx="11"/>
          </p:nvPr>
        </p:nvSpPr>
        <p:spPr/>
        <p:txBody>
          <a:bodyPr/>
          <a:lstStyle/>
          <a:p>
            <a:r>
              <a:rPr lang="en-US" smtClean="0"/>
              <a:t>T103 - Arab open University</a:t>
            </a:r>
            <a:endParaRPr lang="en-US"/>
          </a:p>
        </p:txBody>
      </p:sp>
      <p:sp>
        <p:nvSpPr>
          <p:cNvPr id="12" name="Slide Number Placeholder 11"/>
          <p:cNvSpPr>
            <a:spLocks noGrp="1"/>
          </p:cNvSpPr>
          <p:nvPr>
            <p:ph type="sldNum" sz="quarter" idx="12"/>
          </p:nvPr>
        </p:nvSpPr>
        <p:spPr/>
        <p:txBody>
          <a:bodyPr/>
          <a:lstStyle/>
          <a:p>
            <a:fld id="{20042AC5-0839-4BB6-BBC0-636ECAAE7EE1}" type="slidenum">
              <a:rPr lang="en-US" smtClean="0"/>
              <a:pPr/>
              <a:t>27</a:t>
            </a:fld>
            <a:endParaRPr lang="en-US"/>
          </a:p>
        </p:txBody>
      </p:sp>
    </p:spTree>
    <p:extLst>
      <p:ext uri="{BB962C8B-B14F-4D97-AF65-F5344CB8AC3E}">
        <p14:creationId xmlns:p14="http://schemas.microsoft.com/office/powerpoint/2010/main" val="29336879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MARIE – </a:t>
            </a:r>
            <a:r>
              <a:rPr lang="en-US" dirty="0">
                <a:solidFill>
                  <a:schemeClr val="tx2">
                    <a:lumMod val="75000"/>
                  </a:schemeClr>
                </a:solidFill>
              </a:rPr>
              <a:t>Architecture</a:t>
            </a:r>
            <a:r>
              <a:rPr lang="en-US" dirty="0"/>
              <a:t>, </a:t>
            </a:r>
            <a:r>
              <a:rPr lang="en-US" dirty="0" smtClean="0">
                <a:solidFill>
                  <a:srgbClr val="FF0000"/>
                </a:solidFill>
              </a:rPr>
              <a:t>Registers</a:t>
            </a:r>
            <a:r>
              <a:rPr lang="en-US" dirty="0" smtClean="0"/>
              <a:t>, </a:t>
            </a:r>
            <a:r>
              <a:rPr lang="en-US" dirty="0"/>
              <a:t>and Buses </a:t>
            </a:r>
          </a:p>
        </p:txBody>
      </p:sp>
      <p:sp>
        <p:nvSpPr>
          <p:cNvPr id="6" name="Rectangle 5"/>
          <p:cNvSpPr/>
          <p:nvPr/>
        </p:nvSpPr>
        <p:spPr>
          <a:xfrm>
            <a:off x="1066800" y="1143000"/>
            <a:ext cx="7620000" cy="3745128"/>
          </a:xfrm>
          <a:prstGeom prst="rect">
            <a:avLst/>
          </a:prstGeom>
        </p:spPr>
        <p:txBody>
          <a:bodyPr wrap="square">
            <a:spAutoFit/>
          </a:bodyPr>
          <a:lstStyle/>
          <a:p>
            <a:pPr>
              <a:lnSpc>
                <a:spcPct val="107000"/>
              </a:lnSpc>
              <a:spcBef>
                <a:spcPts val="1500"/>
              </a:spcBef>
              <a:spcAft>
                <a:spcPts val="1700"/>
              </a:spcAft>
            </a:pPr>
            <a:r>
              <a:rPr lang="en-US" sz="2800" b="1" dirty="0">
                <a:solidFill>
                  <a:srgbClr val="FF0000"/>
                </a:solidFill>
                <a:latin typeface="Calibri" panose="020F0502020204030204" pitchFamily="34" charset="0"/>
                <a:ea typeface="Times New Roman" panose="02020603050405020304" pitchFamily="18" charset="0"/>
                <a:cs typeface="Times New Roman" panose="02020603050405020304" pitchFamily="18" charset="0"/>
              </a:rPr>
              <a:t>Registers</a:t>
            </a:r>
            <a:endParaRPr lang="en-US" sz="2000" dirty="0">
              <a:solidFill>
                <a:srgbClr val="FF000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1500"/>
              </a:spcBef>
              <a:spcAft>
                <a:spcPts val="1700"/>
              </a:spcAft>
            </a:pPr>
            <a:r>
              <a:rPr lang="en-US" sz="2400" dirty="0">
                <a:latin typeface="Calibri" panose="020F0502020204030204" pitchFamily="34" charset="0"/>
                <a:ea typeface="Calibri" panose="020F0502020204030204" pitchFamily="34" charset="0"/>
                <a:cs typeface="Arial" panose="020B0604020202020204" pitchFamily="34" charset="0"/>
              </a:rPr>
              <a:t>As you already know, registers are storage locations within the CPU (as illustrated in the figure above). </a:t>
            </a:r>
            <a:endParaRPr lang="en-US" sz="20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1500"/>
              </a:spcBef>
              <a:spcAft>
                <a:spcPts val="1700"/>
              </a:spcAft>
            </a:pPr>
            <a:r>
              <a:rPr lang="en-US" sz="2400" dirty="0">
                <a:latin typeface="Calibri" panose="020F0502020204030204" pitchFamily="34" charset="0"/>
                <a:ea typeface="Calibri" panose="020F0502020204030204" pitchFamily="34" charset="0"/>
                <a:cs typeface="Arial" panose="020B0604020202020204" pitchFamily="34" charset="0"/>
              </a:rPr>
              <a:t>The ALU portion of the CPU performs all the processing (arithmetic operations, logic decisions, etc.).The registers are used for very specific purposes when programs are executing</a:t>
            </a:r>
            <a:r>
              <a:rPr lang="en-US" sz="2400" dirty="0" smtClean="0">
                <a:latin typeface="Calibri" panose="020F0502020204030204" pitchFamily="34" charset="0"/>
                <a:ea typeface="Calibri" panose="020F0502020204030204" pitchFamily="34" charset="0"/>
                <a:cs typeface="Arial" panose="020B0604020202020204" pitchFamily="34" charset="0"/>
              </a:rPr>
              <a:t>.</a:t>
            </a:r>
            <a:endParaRPr lang="en-US" sz="2000" dirty="0">
              <a:latin typeface="Calibri" panose="020F0502020204030204" pitchFamily="34" charset="0"/>
              <a:ea typeface="Calibri" panose="020F050202020403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51ACC849-B4D4-4452-8A86-02844A001244}" type="datetime3">
              <a:rPr lang="en-US" smtClean="0"/>
              <a:t>14 February 2017</a:t>
            </a:fld>
            <a:endParaRPr lang="en-US"/>
          </a:p>
        </p:txBody>
      </p:sp>
      <p:sp>
        <p:nvSpPr>
          <p:cNvPr id="5" name="Footer Placeholder 4"/>
          <p:cNvSpPr>
            <a:spLocks noGrp="1"/>
          </p:cNvSpPr>
          <p:nvPr>
            <p:ph type="ftr" sz="quarter" idx="11"/>
          </p:nvPr>
        </p:nvSpPr>
        <p:spPr/>
        <p:txBody>
          <a:bodyPr/>
          <a:lstStyle/>
          <a:p>
            <a:r>
              <a:rPr lang="en-US" smtClean="0"/>
              <a:t>T103 - Arab open University</a:t>
            </a:r>
            <a:endParaRPr lang="en-US"/>
          </a:p>
        </p:txBody>
      </p:sp>
      <p:sp>
        <p:nvSpPr>
          <p:cNvPr id="10" name="Slide Number Placeholder 9"/>
          <p:cNvSpPr>
            <a:spLocks noGrp="1"/>
          </p:cNvSpPr>
          <p:nvPr>
            <p:ph type="sldNum" sz="quarter" idx="12"/>
          </p:nvPr>
        </p:nvSpPr>
        <p:spPr/>
        <p:txBody>
          <a:bodyPr/>
          <a:lstStyle/>
          <a:p>
            <a:fld id="{20042AC5-0839-4BB6-BBC0-636ECAAE7EE1}" type="slidenum">
              <a:rPr lang="en-US" smtClean="0"/>
              <a:pPr/>
              <a:t>28</a:t>
            </a:fld>
            <a:endParaRPr lang="en-US"/>
          </a:p>
        </p:txBody>
      </p:sp>
    </p:spTree>
    <p:extLst>
      <p:ext uri="{BB962C8B-B14F-4D97-AF65-F5344CB8AC3E}">
        <p14:creationId xmlns:p14="http://schemas.microsoft.com/office/powerpoint/2010/main" val="374566977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MARIE – </a:t>
            </a:r>
            <a:r>
              <a:rPr lang="en-US" dirty="0">
                <a:solidFill>
                  <a:srgbClr val="1F497D">
                    <a:lumMod val="75000"/>
                  </a:srgbClr>
                </a:solidFill>
              </a:rPr>
              <a:t>Architecture</a:t>
            </a:r>
            <a:r>
              <a:rPr lang="en-US" dirty="0"/>
              <a:t>, </a:t>
            </a:r>
            <a:r>
              <a:rPr lang="en-US" dirty="0">
                <a:solidFill>
                  <a:schemeClr val="tx2">
                    <a:lumMod val="75000"/>
                  </a:schemeClr>
                </a:solidFill>
              </a:rPr>
              <a:t>Registers</a:t>
            </a:r>
            <a:r>
              <a:rPr lang="en-US" dirty="0"/>
              <a:t>, and </a:t>
            </a:r>
            <a:r>
              <a:rPr lang="en-US" dirty="0">
                <a:solidFill>
                  <a:srgbClr val="FF0000"/>
                </a:solidFill>
              </a:rPr>
              <a:t>Buses </a:t>
            </a:r>
          </a:p>
        </p:txBody>
      </p:sp>
      <p:sp>
        <p:nvSpPr>
          <p:cNvPr id="6" name="Rectangle 5"/>
          <p:cNvSpPr/>
          <p:nvPr/>
        </p:nvSpPr>
        <p:spPr>
          <a:xfrm>
            <a:off x="990600" y="914400"/>
            <a:ext cx="7620000" cy="4255845"/>
          </a:xfrm>
          <a:prstGeom prst="rect">
            <a:avLst/>
          </a:prstGeom>
        </p:spPr>
        <p:txBody>
          <a:bodyPr wrap="square">
            <a:spAutoFit/>
          </a:bodyPr>
          <a:lstStyle/>
          <a:p>
            <a:pPr>
              <a:lnSpc>
                <a:spcPct val="107000"/>
              </a:lnSpc>
              <a:spcBef>
                <a:spcPts val="1500"/>
              </a:spcBef>
              <a:spcAft>
                <a:spcPts val="1700"/>
              </a:spcAft>
            </a:pPr>
            <a:r>
              <a:rPr lang="en-US" sz="3200" b="1" dirty="0">
                <a:solidFill>
                  <a:srgbClr val="FF0000"/>
                </a:solidFill>
                <a:latin typeface="Calibri" panose="020F0502020204030204" pitchFamily="34" charset="0"/>
                <a:ea typeface="Times New Roman" panose="02020603050405020304" pitchFamily="18" charset="0"/>
                <a:cs typeface="Times New Roman" panose="02020603050405020304" pitchFamily="18" charset="0"/>
              </a:rPr>
              <a:t>Buses </a:t>
            </a:r>
            <a:endParaRPr lang="en-US" sz="2400" dirty="0">
              <a:solidFill>
                <a:srgbClr val="FF0000"/>
              </a:solidFill>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MARIE cannot transfer data or instructions into or out of registers without a bus.</a:t>
            </a:r>
          </a:p>
          <a:p>
            <a:pPr>
              <a:lnSpc>
                <a:spcPct val="107000"/>
              </a:lnSpc>
              <a:spcAft>
                <a:spcPts val="800"/>
              </a:spcAft>
            </a:pPr>
            <a:r>
              <a:rPr lang="en-US" sz="2000" dirty="0"/>
              <a:t>In MARIE, we assume a </a:t>
            </a:r>
            <a:r>
              <a:rPr lang="en-US" sz="2000" b="1" dirty="0"/>
              <a:t>common bus scheme</a:t>
            </a:r>
          </a:p>
          <a:p>
            <a:pPr>
              <a:lnSpc>
                <a:spcPct val="107000"/>
              </a:lnSpc>
              <a:spcAft>
                <a:spcPts val="800"/>
              </a:spcAft>
            </a:pPr>
            <a:r>
              <a:rPr lang="en-US" sz="2000" dirty="0" smtClean="0">
                <a:latin typeface="Calibri" panose="020F0502020204030204" pitchFamily="34" charset="0"/>
                <a:ea typeface="Calibri" panose="020F0502020204030204" pitchFamily="34" charset="0"/>
                <a:cs typeface="Arial" panose="020B0604020202020204" pitchFamily="34" charset="0"/>
              </a:rPr>
              <a:t>The </a:t>
            </a:r>
            <a:r>
              <a:rPr lang="en-US" sz="2000" dirty="0">
                <a:latin typeface="Calibri" panose="020F0502020204030204" pitchFamily="34" charset="0"/>
                <a:ea typeface="Calibri" panose="020F0502020204030204" pitchFamily="34" charset="0"/>
                <a:cs typeface="Arial" panose="020B0604020202020204" pitchFamily="34" charset="0"/>
              </a:rPr>
              <a:t>registers are interconnected. They are also connected with main memory through a common data bus</a:t>
            </a:r>
            <a:r>
              <a:rPr lang="en-US" sz="2000" dirty="0" smtClean="0">
                <a:latin typeface="Calibri" panose="020F0502020204030204" pitchFamily="34" charset="0"/>
                <a:ea typeface="Calibri" panose="020F0502020204030204" pitchFamily="34" charset="0"/>
                <a:cs typeface="Arial" panose="020B0604020202020204" pitchFamily="34" charset="0"/>
              </a:rPr>
              <a:t>.</a:t>
            </a:r>
            <a:endParaRPr lang="en-US" sz="20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2000" dirty="0" smtClean="0">
                <a:latin typeface="Calibri" panose="020F0502020204030204" pitchFamily="34" charset="0"/>
                <a:ea typeface="Calibri" panose="020F0502020204030204" pitchFamily="34" charset="0"/>
                <a:cs typeface="Arial" panose="020B0604020202020204" pitchFamily="34" charset="0"/>
              </a:rPr>
              <a:t>A </a:t>
            </a:r>
            <a:r>
              <a:rPr lang="en-US" sz="2000" dirty="0">
                <a:latin typeface="Calibri" panose="020F0502020204030204" pitchFamily="34" charset="0"/>
                <a:ea typeface="Calibri" panose="020F0502020204030204" pitchFamily="34" charset="0"/>
                <a:cs typeface="Arial" panose="020B0604020202020204" pitchFamily="34" charset="0"/>
              </a:rPr>
              <a:t>unique number that is set on the control lines whenever that device is required to carry out an operation identifies each device on the bus</a:t>
            </a:r>
            <a:r>
              <a:rPr lang="en-US" sz="2000" dirty="0" smtClean="0">
                <a:latin typeface="Calibri" panose="020F0502020204030204" pitchFamily="34" charset="0"/>
                <a:ea typeface="Calibri" panose="020F0502020204030204" pitchFamily="34" charset="0"/>
                <a:cs typeface="Arial" panose="020B0604020202020204" pitchFamily="34" charset="0"/>
              </a:rPr>
              <a:t>.</a:t>
            </a:r>
          </a:p>
          <a:p>
            <a:endParaRPr lang="en-US" sz="2000" dirty="0" smtClean="0"/>
          </a:p>
          <a:p>
            <a:pPr>
              <a:lnSpc>
                <a:spcPct val="107000"/>
              </a:lnSpc>
              <a:spcAft>
                <a:spcPts val="800"/>
              </a:spcAft>
            </a:pPr>
            <a:endParaRPr lang="en-US" sz="2400" dirty="0">
              <a:latin typeface="Calibri" panose="020F0502020204030204" pitchFamily="34" charset="0"/>
              <a:ea typeface="Calibri" panose="020F0502020204030204" pitchFamily="34" charset="0"/>
              <a:cs typeface="Arial" panose="020B0604020202020204" pitchFamily="34" charset="0"/>
            </a:endParaRPr>
          </a:p>
        </p:txBody>
      </p:sp>
      <p:sp>
        <p:nvSpPr>
          <p:cNvPr id="7" name="Date Placeholder 6"/>
          <p:cNvSpPr>
            <a:spLocks noGrp="1"/>
          </p:cNvSpPr>
          <p:nvPr>
            <p:ph type="dt" sz="half" idx="10"/>
          </p:nvPr>
        </p:nvSpPr>
        <p:spPr/>
        <p:txBody>
          <a:bodyPr/>
          <a:lstStyle/>
          <a:p>
            <a:fld id="{0FDC9088-50C7-4C10-87F3-B5DBD3BD0618}" type="datetime3">
              <a:rPr lang="en-US" smtClean="0"/>
              <a:t>14 February 2017</a:t>
            </a:fld>
            <a:endParaRPr lang="en-US"/>
          </a:p>
        </p:txBody>
      </p:sp>
      <p:sp>
        <p:nvSpPr>
          <p:cNvPr id="8" name="Footer Placeholder 7"/>
          <p:cNvSpPr>
            <a:spLocks noGrp="1"/>
          </p:cNvSpPr>
          <p:nvPr>
            <p:ph type="ftr" sz="quarter" idx="11"/>
          </p:nvPr>
        </p:nvSpPr>
        <p:spPr/>
        <p:txBody>
          <a:bodyPr/>
          <a:lstStyle/>
          <a:p>
            <a:r>
              <a:rPr lang="en-US" smtClean="0"/>
              <a:t>T103 - Arab open University</a:t>
            </a:r>
            <a:endParaRPr lang="en-US"/>
          </a:p>
        </p:txBody>
      </p:sp>
      <p:sp>
        <p:nvSpPr>
          <p:cNvPr id="9" name="Slide Number Placeholder 8"/>
          <p:cNvSpPr>
            <a:spLocks noGrp="1"/>
          </p:cNvSpPr>
          <p:nvPr>
            <p:ph type="sldNum" sz="quarter" idx="12"/>
          </p:nvPr>
        </p:nvSpPr>
        <p:spPr/>
        <p:txBody>
          <a:bodyPr/>
          <a:lstStyle/>
          <a:p>
            <a:fld id="{20042AC5-0839-4BB6-BBC0-636ECAAE7EE1}" type="slidenum">
              <a:rPr lang="en-US" smtClean="0"/>
              <a:pPr/>
              <a:t>29</a:t>
            </a:fld>
            <a:endParaRPr lang="en-US"/>
          </a:p>
        </p:txBody>
      </p:sp>
    </p:spTree>
    <p:extLst>
      <p:ext uri="{BB962C8B-B14F-4D97-AF65-F5344CB8AC3E}">
        <p14:creationId xmlns:p14="http://schemas.microsoft.com/office/powerpoint/2010/main" val="27051111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MARIE – </a:t>
            </a:r>
            <a:r>
              <a:rPr lang="en-US" dirty="0">
                <a:solidFill>
                  <a:srgbClr val="1F497D">
                    <a:lumMod val="75000"/>
                  </a:srgbClr>
                </a:solidFill>
              </a:rPr>
              <a:t>Architecture</a:t>
            </a:r>
            <a:r>
              <a:rPr lang="en-US" dirty="0"/>
              <a:t>, </a:t>
            </a:r>
            <a:r>
              <a:rPr lang="en-US" dirty="0">
                <a:solidFill>
                  <a:schemeClr val="tx2">
                    <a:lumMod val="75000"/>
                  </a:schemeClr>
                </a:solidFill>
              </a:rPr>
              <a:t>Registers</a:t>
            </a:r>
            <a:r>
              <a:rPr lang="en-US" dirty="0"/>
              <a:t>, and </a:t>
            </a:r>
            <a:r>
              <a:rPr lang="en-US" dirty="0">
                <a:solidFill>
                  <a:srgbClr val="FF0000"/>
                </a:solidFill>
              </a:rPr>
              <a:t>Buses </a:t>
            </a:r>
          </a:p>
        </p:txBody>
      </p:sp>
      <p:sp>
        <p:nvSpPr>
          <p:cNvPr id="6" name="Rectangle 5"/>
          <p:cNvSpPr/>
          <p:nvPr/>
        </p:nvSpPr>
        <p:spPr>
          <a:xfrm>
            <a:off x="990600" y="888574"/>
            <a:ext cx="7622397" cy="1446550"/>
          </a:xfrm>
          <a:prstGeom prst="rect">
            <a:avLst/>
          </a:prstGeom>
        </p:spPr>
        <p:txBody>
          <a:bodyPr wrap="square">
            <a:spAutoFit/>
          </a:bodyPr>
          <a:lstStyle/>
          <a:p>
            <a:r>
              <a:rPr lang="en-US" sz="2200" dirty="0" smtClean="0">
                <a:latin typeface="Calibri" panose="020F0502020204030204" pitchFamily="34" charset="0"/>
                <a:ea typeface="Calibri" panose="020F0502020204030204" pitchFamily="34" charset="0"/>
                <a:cs typeface="Arial" panose="020B0604020202020204" pitchFamily="34" charset="0"/>
              </a:rPr>
              <a:t>Separate </a:t>
            </a:r>
            <a:r>
              <a:rPr lang="en-US" sz="2200" dirty="0">
                <a:latin typeface="Calibri" panose="020F0502020204030204" pitchFamily="34" charset="0"/>
                <a:ea typeface="Calibri" panose="020F0502020204030204" pitchFamily="34" charset="0"/>
                <a:cs typeface="Arial" panose="020B0604020202020204" pitchFamily="34" charset="0"/>
              </a:rPr>
              <a:t>connections are also provided between the accumulator and the memory buffer register, between the ALU and the accumulator and memory buffer register. This permits data transfer between these devices without use of the main data bus.</a:t>
            </a:r>
            <a:endParaRPr lang="en-US" sz="22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5" name="Picture 4" descr="DatapathYL"/>
          <p:cNvPicPr/>
          <p:nvPr/>
        </p:nvPicPr>
        <p:blipFill>
          <a:blip r:embed="rId2" cstate="print">
            <a:extLst>
              <a:ext uri="{BEBA8EAE-BF5A-486C-A8C5-ECC9F3942E4B}">
                <a14:imgProps xmlns:a14="http://schemas.microsoft.com/office/drawing/2010/main">
                  <a14:imgLayer r:embed="rId3">
                    <a14:imgEffect>
                      <a14:colorTemperature colorTemp="5673"/>
                    </a14:imgEffect>
                    <a14:imgEffect>
                      <a14:saturation sat="66000"/>
                    </a14:imgEffect>
                  </a14:imgLayer>
                </a14:imgProps>
              </a:ext>
              <a:ext uri="{28A0092B-C50C-407E-A947-70E740481C1C}">
                <a14:useLocalDpi xmlns:a14="http://schemas.microsoft.com/office/drawing/2010/main" val="0"/>
              </a:ext>
            </a:extLst>
          </a:blip>
          <a:srcRect t="1434" b="2422"/>
          <a:stretch>
            <a:fillRect/>
          </a:stretch>
        </p:blipFill>
        <p:spPr bwMode="auto">
          <a:xfrm>
            <a:off x="4933544" y="2265874"/>
            <a:ext cx="3972427" cy="4064405"/>
          </a:xfrm>
          <a:prstGeom prst="rect">
            <a:avLst/>
          </a:prstGeom>
          <a:noFill/>
          <a:ln>
            <a:noFill/>
          </a:ln>
          <a:extLst/>
        </p:spPr>
      </p:pic>
      <p:sp>
        <p:nvSpPr>
          <p:cNvPr id="4" name="Rectangle 3"/>
          <p:cNvSpPr/>
          <p:nvPr/>
        </p:nvSpPr>
        <p:spPr>
          <a:xfrm>
            <a:off x="5873626" y="6164541"/>
            <a:ext cx="2091919" cy="276999"/>
          </a:xfrm>
          <a:prstGeom prst="rect">
            <a:avLst/>
          </a:prstGeom>
        </p:spPr>
        <p:txBody>
          <a:bodyPr wrap="none">
            <a:spAutoFit/>
          </a:bodyPr>
          <a:lstStyle/>
          <a:p>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Figure </a:t>
            </a:r>
            <a:r>
              <a:rPr lang="ar-SA" sz="1200" i="1" dirty="0" smtClean="0">
                <a:solidFill>
                  <a:schemeClr val="tx2">
                    <a:lumMod val="75000"/>
                  </a:schemeClr>
                </a:solidFill>
                <a:latin typeface="Calibri" panose="020F0502020204030204" pitchFamily="34" charset="0"/>
                <a:ea typeface="Calibri" panose="020F0502020204030204" pitchFamily="34" charset="0"/>
              </a:rPr>
              <a:t>‎</a:t>
            </a:r>
            <a:r>
              <a:rPr lang="en-US" sz="12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4.7: </a:t>
            </a:r>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Data path in MARIE</a:t>
            </a:r>
            <a:endParaRPr lang="en-US" sz="2000" i="1" dirty="0">
              <a:solidFill>
                <a:schemeClr val="tx2">
                  <a:lumMod val="75000"/>
                </a:schemeClr>
              </a:solidFill>
            </a:endParaRPr>
          </a:p>
        </p:txBody>
      </p:sp>
      <p:sp>
        <p:nvSpPr>
          <p:cNvPr id="7" name="Content Placeholder 3"/>
          <p:cNvSpPr>
            <a:spLocks noGrp="1"/>
          </p:cNvSpPr>
          <p:nvPr>
            <p:ph idx="1"/>
          </p:nvPr>
        </p:nvSpPr>
        <p:spPr>
          <a:xfrm>
            <a:off x="828174" y="3081992"/>
            <a:ext cx="4277226" cy="2709208"/>
          </a:xfrm>
        </p:spPr>
        <p:txBody>
          <a:bodyPr>
            <a:normAutofit/>
          </a:bodyPr>
          <a:lstStyle/>
          <a:p>
            <a:r>
              <a:rPr lang="en-US" sz="2000" dirty="0" smtClean="0"/>
              <a:t>The Data path in MARIE is shown in figure 4.7.</a:t>
            </a:r>
          </a:p>
          <a:p>
            <a:pPr lvl="1"/>
            <a:r>
              <a:rPr lang="en-US" sz="2000" dirty="0" smtClean="0"/>
              <a:t>Note that a data word (that is an instruction) in the main memory travels a relatively long path before achieving the IR!</a:t>
            </a:r>
            <a:endParaRPr lang="en-US" sz="2000" dirty="0"/>
          </a:p>
        </p:txBody>
      </p:sp>
      <p:sp>
        <p:nvSpPr>
          <p:cNvPr id="8" name="Date Placeholder 7"/>
          <p:cNvSpPr>
            <a:spLocks noGrp="1"/>
          </p:cNvSpPr>
          <p:nvPr>
            <p:ph type="dt" sz="half" idx="10"/>
          </p:nvPr>
        </p:nvSpPr>
        <p:spPr/>
        <p:txBody>
          <a:bodyPr/>
          <a:lstStyle/>
          <a:p>
            <a:fld id="{BE580A04-0FE8-451C-8A38-354B86AC2B65}" type="datetime3">
              <a:rPr lang="en-US" smtClean="0"/>
              <a:t>14 February 2017</a:t>
            </a:fld>
            <a:endParaRPr lang="en-US"/>
          </a:p>
        </p:txBody>
      </p:sp>
      <p:sp>
        <p:nvSpPr>
          <p:cNvPr id="9" name="Footer Placeholder 8"/>
          <p:cNvSpPr>
            <a:spLocks noGrp="1"/>
          </p:cNvSpPr>
          <p:nvPr>
            <p:ph type="ftr" sz="quarter" idx="11"/>
          </p:nvPr>
        </p:nvSpPr>
        <p:spPr/>
        <p:txBody>
          <a:bodyPr/>
          <a:lstStyle/>
          <a:p>
            <a:r>
              <a:rPr lang="en-US" smtClean="0"/>
              <a:t>T103 - Arab open University</a:t>
            </a:r>
            <a:endParaRPr lang="en-US"/>
          </a:p>
        </p:txBody>
      </p:sp>
      <p:sp>
        <p:nvSpPr>
          <p:cNvPr id="10" name="Slide Number Placeholder 9"/>
          <p:cNvSpPr>
            <a:spLocks noGrp="1"/>
          </p:cNvSpPr>
          <p:nvPr>
            <p:ph type="sldNum" sz="quarter" idx="12"/>
          </p:nvPr>
        </p:nvSpPr>
        <p:spPr/>
        <p:txBody>
          <a:bodyPr/>
          <a:lstStyle/>
          <a:p>
            <a:fld id="{20042AC5-0839-4BB6-BBC0-636ECAAE7EE1}" type="slidenum">
              <a:rPr lang="en-US" smtClean="0"/>
              <a:pPr/>
              <a:t>30</a:t>
            </a:fld>
            <a:endParaRPr lang="en-US"/>
          </a:p>
        </p:txBody>
      </p:sp>
    </p:spTree>
    <p:extLst>
      <p:ext uri="{BB962C8B-B14F-4D97-AF65-F5344CB8AC3E}">
        <p14:creationId xmlns:p14="http://schemas.microsoft.com/office/powerpoint/2010/main" val="153248683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Instruction Set </a:t>
            </a:r>
            <a:r>
              <a:rPr lang="en-US" dirty="0" smtClean="0"/>
              <a:t>Architecture (ISA)</a:t>
            </a:r>
            <a:endParaRPr lang="en-US" dirty="0"/>
          </a:p>
        </p:txBody>
      </p:sp>
      <p:sp>
        <p:nvSpPr>
          <p:cNvPr id="6" name="Rectangle 5"/>
          <p:cNvSpPr/>
          <p:nvPr/>
        </p:nvSpPr>
        <p:spPr>
          <a:xfrm>
            <a:off x="990600" y="918882"/>
            <a:ext cx="7696200" cy="4676152"/>
          </a:xfrm>
          <a:prstGeom prst="rect">
            <a:avLst/>
          </a:prstGeom>
        </p:spPr>
        <p:txBody>
          <a:bodyPr wrap="square">
            <a:spAutoFit/>
          </a:bodyPr>
          <a:lstStyle/>
          <a:p>
            <a:pPr>
              <a:lnSpc>
                <a:spcPct val="107000"/>
              </a:lnSpc>
              <a:spcAft>
                <a:spcPts val="800"/>
              </a:spcAft>
            </a:pPr>
            <a:r>
              <a:rPr lang="en-US" sz="2000" dirty="0">
                <a:ea typeface="Calibri" panose="020F0502020204030204" pitchFamily="34" charset="0"/>
                <a:cs typeface="Arial" panose="020B0604020202020204" pitchFamily="34" charset="0"/>
              </a:rPr>
              <a:t>MARIE has a very simple, yet powerful, instruction set.</a:t>
            </a:r>
            <a:endParaRPr lang="en-US" dirty="0">
              <a:ea typeface="Calibri" panose="020F0502020204030204" pitchFamily="34" charset="0"/>
              <a:cs typeface="Arial" panose="020B0604020202020204" pitchFamily="34" charset="0"/>
            </a:endParaRPr>
          </a:p>
          <a:p>
            <a:pPr>
              <a:lnSpc>
                <a:spcPct val="107000"/>
              </a:lnSpc>
              <a:spcAft>
                <a:spcPts val="800"/>
              </a:spcAft>
            </a:pPr>
            <a:r>
              <a:rPr lang="en-US" sz="2000" dirty="0">
                <a:ea typeface="Calibri" panose="020F0502020204030204" pitchFamily="34" charset="0"/>
                <a:cs typeface="Arial" panose="020B0604020202020204" pitchFamily="34" charset="0"/>
              </a:rPr>
              <a:t>The Instruction Set Architecture (ISA) specifies the format of its instructions and the primitive operations that the machine can perform.</a:t>
            </a:r>
            <a:endParaRPr lang="en-US" dirty="0">
              <a:ea typeface="Calibri" panose="020F0502020204030204" pitchFamily="34" charset="0"/>
              <a:cs typeface="Arial" panose="020B0604020202020204" pitchFamily="34" charset="0"/>
            </a:endParaRPr>
          </a:p>
          <a:p>
            <a:pPr>
              <a:lnSpc>
                <a:spcPct val="107000"/>
              </a:lnSpc>
              <a:spcAft>
                <a:spcPts val="800"/>
              </a:spcAft>
            </a:pPr>
            <a:r>
              <a:rPr lang="en-US" sz="2000" dirty="0">
                <a:solidFill>
                  <a:srgbClr val="7030A0"/>
                </a:solidFill>
                <a:ea typeface="Calibri" panose="020F0502020204030204" pitchFamily="34" charset="0"/>
                <a:cs typeface="Arial" panose="020B0604020202020204" pitchFamily="34" charset="0"/>
              </a:rPr>
              <a:t>The ISA is an interface between a computer’s hardware and its software.</a:t>
            </a:r>
            <a:endParaRPr lang="en-US" dirty="0">
              <a:ea typeface="Calibri" panose="020F0502020204030204" pitchFamily="34" charset="0"/>
              <a:cs typeface="Arial" panose="020B0604020202020204" pitchFamily="34" charset="0"/>
            </a:endParaRPr>
          </a:p>
          <a:p>
            <a:pPr>
              <a:lnSpc>
                <a:spcPct val="107000"/>
              </a:lnSpc>
              <a:spcAft>
                <a:spcPts val="800"/>
              </a:spcAft>
            </a:pPr>
            <a:r>
              <a:rPr lang="en-US" sz="2000" dirty="0">
                <a:ea typeface="Calibri" panose="020F0502020204030204" pitchFamily="34" charset="0"/>
                <a:cs typeface="Arial" panose="020B0604020202020204" pitchFamily="34" charset="0"/>
              </a:rPr>
              <a:t>Some ISAs include hundreds of different instructions for processing data and controlling program execution. </a:t>
            </a:r>
            <a:endParaRPr lang="en-US" dirty="0">
              <a:ea typeface="Calibri" panose="020F0502020204030204" pitchFamily="34" charset="0"/>
              <a:cs typeface="Arial" panose="020B0604020202020204" pitchFamily="34" charset="0"/>
            </a:endParaRPr>
          </a:p>
          <a:p>
            <a:pPr>
              <a:spcAft>
                <a:spcPts val="0"/>
              </a:spcAft>
            </a:pPr>
            <a:r>
              <a:rPr lang="en-US" sz="2000" dirty="0">
                <a:solidFill>
                  <a:srgbClr val="000000"/>
                </a:solidFill>
              </a:rPr>
              <a:t>For MARIE, each instruction consists of 16 bits</a:t>
            </a:r>
            <a:endParaRPr lang="en-US" sz="3200" dirty="0"/>
          </a:p>
          <a:p>
            <a:pPr>
              <a:spcAft>
                <a:spcPts val="0"/>
              </a:spcAft>
            </a:pPr>
            <a:r>
              <a:rPr lang="en-US" sz="2000" dirty="0">
                <a:solidFill>
                  <a:srgbClr val="000000"/>
                </a:solidFill>
              </a:rPr>
              <a:t>These bits are organized as follows:</a:t>
            </a:r>
            <a:endParaRPr lang="en-US" sz="3200" dirty="0"/>
          </a:p>
          <a:p>
            <a:pPr marL="342900" indent="-342900">
              <a:spcAft>
                <a:spcPts val="0"/>
              </a:spcAft>
              <a:buFont typeface="Arial" panose="020B0604020202020204" pitchFamily="34" charset="0"/>
              <a:buChar char="•"/>
            </a:pPr>
            <a:r>
              <a:rPr lang="en-US" sz="2000" dirty="0">
                <a:ea typeface="Times New Roman" panose="02020603050405020304" pitchFamily="18" charset="0"/>
              </a:rPr>
              <a:t> </a:t>
            </a:r>
            <a:r>
              <a:rPr lang="en-US" sz="2000" b="1" dirty="0" smtClean="0">
                <a:solidFill>
                  <a:srgbClr val="000000"/>
                </a:solidFill>
              </a:rPr>
              <a:t>Opcode</a:t>
            </a:r>
            <a:r>
              <a:rPr lang="en-US" sz="2000" dirty="0">
                <a:solidFill>
                  <a:srgbClr val="000000"/>
                </a:solidFill>
              </a:rPr>
              <a:t>: </a:t>
            </a:r>
            <a:r>
              <a:rPr lang="en-US" sz="2000" u="sng" dirty="0">
                <a:solidFill>
                  <a:srgbClr val="000000"/>
                </a:solidFill>
              </a:rPr>
              <a:t>4 bits </a:t>
            </a:r>
            <a:r>
              <a:rPr lang="en-US" sz="2000" dirty="0">
                <a:solidFill>
                  <a:srgbClr val="000000"/>
                </a:solidFill>
              </a:rPr>
              <a:t>(bits 12 to 15), specifies the instruction to be executed (which allows for a total of 2</a:t>
            </a:r>
            <a:r>
              <a:rPr lang="en-US" sz="2000" baseline="30000" dirty="0">
                <a:solidFill>
                  <a:srgbClr val="000000"/>
                </a:solidFill>
              </a:rPr>
              <a:t>4</a:t>
            </a:r>
            <a:r>
              <a:rPr lang="en-US" sz="2000" dirty="0">
                <a:solidFill>
                  <a:srgbClr val="000000"/>
                </a:solidFill>
              </a:rPr>
              <a:t>=16 instructions, </a:t>
            </a:r>
            <a:r>
              <a:rPr lang="en-US" sz="2000" u="sng" dirty="0">
                <a:solidFill>
                  <a:srgbClr val="000000"/>
                </a:solidFill>
              </a:rPr>
              <a:t>but only 13 are used</a:t>
            </a:r>
            <a:r>
              <a:rPr lang="en-US" sz="2000" dirty="0">
                <a:solidFill>
                  <a:srgbClr val="000000"/>
                </a:solidFill>
              </a:rPr>
              <a:t>)</a:t>
            </a:r>
            <a:endParaRPr lang="en-US" dirty="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Arial" panose="020B0604020202020204" pitchFamily="34" charset="0"/>
              <a:buChar char="•"/>
              <a:tabLst>
                <a:tab pos="228600" algn="l"/>
              </a:tabLst>
            </a:pPr>
            <a:r>
              <a:rPr lang="en-US" sz="2000" b="1" dirty="0">
                <a:solidFill>
                  <a:srgbClr val="000000"/>
                </a:solidFill>
              </a:rPr>
              <a:t>Address:</a:t>
            </a:r>
            <a:r>
              <a:rPr lang="en-US" sz="2000" dirty="0">
                <a:solidFill>
                  <a:srgbClr val="000000"/>
                </a:solidFill>
              </a:rPr>
              <a:t> </a:t>
            </a:r>
            <a:r>
              <a:rPr lang="en-US" sz="2000" u="sng" dirty="0">
                <a:solidFill>
                  <a:srgbClr val="000000"/>
                </a:solidFill>
              </a:rPr>
              <a:t>12-bits</a:t>
            </a:r>
            <a:r>
              <a:rPr lang="en-US" sz="2000" dirty="0">
                <a:solidFill>
                  <a:srgbClr val="000000"/>
                </a:solidFill>
              </a:rPr>
              <a:t> (bits 0 to 11), forms an address.</a:t>
            </a:r>
            <a:endParaRPr lang="en-US" dirty="0">
              <a:ea typeface="Calibri" panose="020F0502020204030204" pitchFamily="34" charset="0"/>
              <a:cs typeface="Times New Roman" panose="02020603050405020304" pitchFamily="18" charset="0"/>
            </a:endParaRPr>
          </a:p>
          <a:p>
            <a:pPr>
              <a:lnSpc>
                <a:spcPct val="107000"/>
              </a:lnSpc>
              <a:spcAft>
                <a:spcPts val="800"/>
              </a:spcAft>
            </a:pPr>
            <a:r>
              <a:rPr lang="en-US" sz="2000" dirty="0">
                <a:ea typeface="Calibri" panose="020F0502020204030204" pitchFamily="34" charset="0"/>
                <a:cs typeface="Arial" panose="020B0604020202020204" pitchFamily="34" charset="0"/>
              </a:rPr>
              <a:t> </a:t>
            </a:r>
            <a:endParaRPr lang="en-US" dirty="0">
              <a:effectLst/>
              <a:ea typeface="Calibri" panose="020F0502020204030204" pitchFamily="34" charset="0"/>
              <a:cs typeface="Arial" panose="020B0604020202020204" pitchFamily="34" charset="0"/>
            </a:endParaRPr>
          </a:p>
        </p:txBody>
      </p:sp>
      <p:pic>
        <p:nvPicPr>
          <p:cNvPr id="7" name="Picture 6"/>
          <p:cNvPicPr/>
          <p:nvPr/>
        </p:nvPicPr>
        <p:blipFill>
          <a:blip r:embed="rId2"/>
          <a:stretch>
            <a:fillRect/>
          </a:stretch>
        </p:blipFill>
        <p:spPr>
          <a:xfrm>
            <a:off x="3048000" y="5313766"/>
            <a:ext cx="3505200" cy="934634"/>
          </a:xfrm>
          <a:prstGeom prst="rect">
            <a:avLst/>
          </a:prstGeom>
        </p:spPr>
      </p:pic>
      <p:sp>
        <p:nvSpPr>
          <p:cNvPr id="8" name="Rectangle 7"/>
          <p:cNvSpPr/>
          <p:nvPr/>
        </p:nvSpPr>
        <p:spPr>
          <a:xfrm>
            <a:off x="3547721" y="6175574"/>
            <a:ext cx="2897653" cy="276999"/>
          </a:xfrm>
          <a:prstGeom prst="rect">
            <a:avLst/>
          </a:prstGeom>
        </p:spPr>
        <p:txBody>
          <a:bodyPr wrap="none">
            <a:spAutoFit/>
          </a:bodyPr>
          <a:lstStyle/>
          <a:p>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Figure </a:t>
            </a:r>
            <a:r>
              <a:rPr lang="ar-SA" sz="1200" i="1" dirty="0" smtClean="0">
                <a:solidFill>
                  <a:schemeClr val="tx2">
                    <a:lumMod val="75000"/>
                  </a:schemeClr>
                </a:solidFill>
                <a:latin typeface="Calibri" panose="020F0502020204030204" pitchFamily="34" charset="0"/>
                <a:ea typeface="Calibri" panose="020F0502020204030204" pitchFamily="34" charset="0"/>
              </a:rPr>
              <a:t>‎</a:t>
            </a:r>
            <a:r>
              <a:rPr lang="en-US" sz="12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4.8: </a:t>
            </a:r>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Format of the MARIE instruction</a:t>
            </a:r>
            <a:endParaRPr lang="en-US" sz="2000" i="1" dirty="0">
              <a:solidFill>
                <a:schemeClr val="tx2">
                  <a:lumMod val="75000"/>
                </a:schemeClr>
              </a:solidFill>
            </a:endParaRPr>
          </a:p>
        </p:txBody>
      </p:sp>
      <p:sp>
        <p:nvSpPr>
          <p:cNvPr id="9" name="Date Placeholder 8"/>
          <p:cNvSpPr>
            <a:spLocks noGrp="1"/>
          </p:cNvSpPr>
          <p:nvPr>
            <p:ph type="dt" sz="half" idx="10"/>
          </p:nvPr>
        </p:nvSpPr>
        <p:spPr/>
        <p:txBody>
          <a:bodyPr/>
          <a:lstStyle/>
          <a:p>
            <a:fld id="{1A8A9EA7-A5CE-4A86-B9A1-FDEB341DDC14}" type="datetime3">
              <a:rPr lang="en-US" smtClean="0"/>
              <a:t>14 February 2017</a:t>
            </a:fld>
            <a:endParaRPr lang="en-US"/>
          </a:p>
        </p:txBody>
      </p:sp>
      <p:sp>
        <p:nvSpPr>
          <p:cNvPr id="10" name="Footer Placeholder 9"/>
          <p:cNvSpPr>
            <a:spLocks noGrp="1"/>
          </p:cNvSpPr>
          <p:nvPr>
            <p:ph type="ftr" sz="quarter" idx="11"/>
          </p:nvPr>
        </p:nvSpPr>
        <p:spPr/>
        <p:txBody>
          <a:bodyPr/>
          <a:lstStyle/>
          <a:p>
            <a:r>
              <a:rPr lang="en-US" smtClean="0"/>
              <a:t>T103 - Arab open University</a:t>
            </a:r>
            <a:endParaRPr lang="en-US"/>
          </a:p>
        </p:txBody>
      </p:sp>
      <p:sp>
        <p:nvSpPr>
          <p:cNvPr id="11" name="Slide Number Placeholder 10"/>
          <p:cNvSpPr>
            <a:spLocks noGrp="1"/>
          </p:cNvSpPr>
          <p:nvPr>
            <p:ph type="sldNum" sz="quarter" idx="12"/>
          </p:nvPr>
        </p:nvSpPr>
        <p:spPr/>
        <p:txBody>
          <a:bodyPr/>
          <a:lstStyle/>
          <a:p>
            <a:fld id="{20042AC5-0839-4BB6-BBC0-636ECAAE7EE1}" type="slidenum">
              <a:rPr lang="en-US" smtClean="0"/>
              <a:pPr/>
              <a:t>31</a:t>
            </a:fld>
            <a:endParaRPr lang="en-US"/>
          </a:p>
        </p:txBody>
      </p:sp>
    </p:spTree>
    <p:extLst>
      <p:ext uri="{BB962C8B-B14F-4D97-AF65-F5344CB8AC3E}">
        <p14:creationId xmlns:p14="http://schemas.microsoft.com/office/powerpoint/2010/main" val="276180293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Instruction Set Architecture </a:t>
            </a:r>
            <a:r>
              <a:rPr lang="en-US" dirty="0" smtClean="0"/>
              <a:t>(ISA)</a:t>
            </a:r>
            <a:endParaRPr lang="en-US" dirty="0"/>
          </a:p>
        </p:txBody>
      </p:sp>
      <p:sp>
        <p:nvSpPr>
          <p:cNvPr id="4" name="Content Placeholder 3"/>
          <p:cNvSpPr>
            <a:spLocks noGrp="1"/>
          </p:cNvSpPr>
          <p:nvPr>
            <p:ph idx="1"/>
          </p:nvPr>
        </p:nvSpPr>
        <p:spPr>
          <a:xfrm>
            <a:off x="914400" y="1371600"/>
            <a:ext cx="8153400" cy="4525963"/>
          </a:xfrm>
        </p:spPr>
        <p:txBody>
          <a:bodyPr/>
          <a:lstStyle/>
          <a:p>
            <a:pPr marL="0" indent="0">
              <a:buNone/>
            </a:pPr>
            <a:r>
              <a:rPr lang="en-US" sz="2800" dirty="0"/>
              <a:t>The fundamental </a:t>
            </a:r>
            <a:r>
              <a:rPr lang="en-US" sz="2800" dirty="0" smtClean="0"/>
              <a:t>MARIE instructions are:</a:t>
            </a:r>
            <a:endParaRPr lang="en-US" sz="2800" dirty="0"/>
          </a:p>
          <a:p>
            <a:endParaRPr lang="en-US" dirty="0"/>
          </a:p>
        </p:txBody>
      </p:sp>
      <p:pic>
        <p:nvPicPr>
          <p:cNvPr id="5" name="Picture 5" descr="T4-2"/>
          <p:cNvPicPr>
            <a:picLocks noChangeAspect="1" noChangeArrowheads="1"/>
          </p:cNvPicPr>
          <p:nvPr/>
        </p:nvPicPr>
        <p:blipFill>
          <a:blip r:embed="rId2" cstate="print">
            <a:extLst>
              <a:ext uri="{28A0092B-C50C-407E-A947-70E740481C1C}">
                <a14:useLocalDpi xmlns:a14="http://schemas.microsoft.com/office/drawing/2010/main" val="0"/>
              </a:ext>
            </a:extLst>
          </a:blip>
          <a:srcRect l="790" t="2374" r="1945" b="5045"/>
          <a:stretch>
            <a:fillRect/>
          </a:stretch>
        </p:blipFill>
        <p:spPr bwMode="auto">
          <a:xfrm>
            <a:off x="990600" y="2438400"/>
            <a:ext cx="8077200" cy="3365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3200400" y="5813776"/>
            <a:ext cx="3321102" cy="307777"/>
          </a:xfrm>
          <a:prstGeom prst="rect">
            <a:avLst/>
          </a:prstGeom>
        </p:spPr>
        <p:txBody>
          <a:bodyPr wrap="none">
            <a:spAutoFit/>
          </a:bodyPr>
          <a:lstStyle/>
          <a:p>
            <a:r>
              <a:rPr lang="en-US" sz="14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Table </a:t>
            </a:r>
            <a:r>
              <a:rPr lang="en-US" sz="1400" i="1" dirty="0" smtClean="0">
                <a:solidFill>
                  <a:schemeClr val="tx2">
                    <a:lumMod val="75000"/>
                  </a:schemeClr>
                </a:solidFill>
                <a:latin typeface="Calibri" panose="020F0502020204030204" pitchFamily="34" charset="0"/>
                <a:ea typeface="Calibri" panose="020F0502020204030204" pitchFamily="34" charset="0"/>
              </a:rPr>
              <a:t>4</a:t>
            </a:r>
            <a:r>
              <a:rPr lang="en-US" sz="14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.1</a:t>
            </a:r>
            <a:r>
              <a:rPr lang="en-US" sz="14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 Fundamental MARIE instructions</a:t>
            </a:r>
            <a:endParaRPr lang="en-US" sz="2400" i="1" dirty="0">
              <a:solidFill>
                <a:schemeClr val="tx2">
                  <a:lumMod val="75000"/>
                </a:schemeClr>
              </a:solidFill>
            </a:endParaRPr>
          </a:p>
        </p:txBody>
      </p:sp>
      <p:sp>
        <p:nvSpPr>
          <p:cNvPr id="7" name="Date Placeholder 6"/>
          <p:cNvSpPr>
            <a:spLocks noGrp="1"/>
          </p:cNvSpPr>
          <p:nvPr>
            <p:ph type="dt" sz="half" idx="10"/>
          </p:nvPr>
        </p:nvSpPr>
        <p:spPr/>
        <p:txBody>
          <a:bodyPr/>
          <a:lstStyle/>
          <a:p>
            <a:fld id="{AF450C94-5CD4-4054-B049-7E5B6B89D46C}" type="datetime3">
              <a:rPr lang="en-US" smtClean="0"/>
              <a:t>14 February 2017</a:t>
            </a:fld>
            <a:endParaRPr lang="en-US"/>
          </a:p>
        </p:txBody>
      </p:sp>
      <p:sp>
        <p:nvSpPr>
          <p:cNvPr id="8" name="Footer Placeholder 7"/>
          <p:cNvSpPr>
            <a:spLocks noGrp="1"/>
          </p:cNvSpPr>
          <p:nvPr>
            <p:ph type="ftr" sz="quarter" idx="11"/>
          </p:nvPr>
        </p:nvSpPr>
        <p:spPr/>
        <p:txBody>
          <a:bodyPr/>
          <a:lstStyle/>
          <a:p>
            <a:r>
              <a:rPr lang="en-US" smtClean="0"/>
              <a:t>T103 - Arab open University</a:t>
            </a:r>
            <a:endParaRPr lang="en-US"/>
          </a:p>
        </p:txBody>
      </p:sp>
      <p:sp>
        <p:nvSpPr>
          <p:cNvPr id="9" name="Slide Number Placeholder 8"/>
          <p:cNvSpPr>
            <a:spLocks noGrp="1"/>
          </p:cNvSpPr>
          <p:nvPr>
            <p:ph type="sldNum" sz="quarter" idx="12"/>
          </p:nvPr>
        </p:nvSpPr>
        <p:spPr/>
        <p:txBody>
          <a:bodyPr/>
          <a:lstStyle/>
          <a:p>
            <a:fld id="{20042AC5-0839-4BB6-BBC0-636ECAAE7EE1}" type="slidenum">
              <a:rPr lang="en-US" smtClean="0"/>
              <a:pPr/>
              <a:t>32</a:t>
            </a:fld>
            <a:endParaRPr lang="en-US"/>
          </a:p>
        </p:txBody>
      </p:sp>
    </p:spTree>
    <p:extLst>
      <p:ext uri="{BB962C8B-B14F-4D97-AF65-F5344CB8AC3E}">
        <p14:creationId xmlns:p14="http://schemas.microsoft.com/office/powerpoint/2010/main" val="88873986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Instruction Set Architecture </a:t>
            </a:r>
            <a:r>
              <a:rPr lang="en-US" dirty="0" smtClean="0"/>
              <a:t>(ISA)</a:t>
            </a:r>
            <a:endParaRPr lang="en-US" dirty="0"/>
          </a:p>
        </p:txBody>
      </p:sp>
      <p:sp>
        <p:nvSpPr>
          <p:cNvPr id="7" name="Rectangle 6"/>
          <p:cNvSpPr/>
          <p:nvPr/>
        </p:nvSpPr>
        <p:spPr>
          <a:xfrm>
            <a:off x="1066800" y="1066800"/>
            <a:ext cx="7543800" cy="1168269"/>
          </a:xfrm>
          <a:prstGeom prst="rect">
            <a:avLst/>
          </a:prstGeom>
        </p:spPr>
        <p:txBody>
          <a:bodyPr wrap="square">
            <a:spAutoFit/>
          </a:bodyPr>
          <a:lstStyle/>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To understand how things work, let us examine the instruction format used in MARIE.</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Suppose that we have the following 16-bit instruction:</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10" name="Picture 9"/>
          <p:cNvPicPr/>
          <p:nvPr/>
        </p:nvPicPr>
        <p:blipFill>
          <a:blip r:embed="rId2">
            <a:extLst>
              <a:ext uri="{28A0092B-C50C-407E-A947-70E740481C1C}">
                <a14:useLocalDpi xmlns:a14="http://schemas.microsoft.com/office/drawing/2010/main" val="0"/>
              </a:ext>
            </a:extLst>
          </a:blip>
          <a:srcRect/>
          <a:stretch>
            <a:fillRect/>
          </a:stretch>
        </p:blipFill>
        <p:spPr bwMode="auto">
          <a:xfrm>
            <a:off x="2023721" y="2044294"/>
            <a:ext cx="4419600" cy="990600"/>
          </a:xfrm>
          <a:prstGeom prst="rect">
            <a:avLst/>
          </a:prstGeom>
          <a:noFill/>
        </p:spPr>
      </p:pic>
      <p:sp>
        <p:nvSpPr>
          <p:cNvPr id="11" name="Rectangle 10"/>
          <p:cNvSpPr/>
          <p:nvPr/>
        </p:nvSpPr>
        <p:spPr>
          <a:xfrm>
            <a:off x="3048000" y="2767191"/>
            <a:ext cx="2696187" cy="276999"/>
          </a:xfrm>
          <a:prstGeom prst="rect">
            <a:avLst/>
          </a:prstGeom>
        </p:spPr>
        <p:txBody>
          <a:bodyPr wrap="none">
            <a:spAutoFit/>
          </a:bodyPr>
          <a:lstStyle/>
          <a:p>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Figure </a:t>
            </a:r>
            <a:r>
              <a:rPr lang="ar-SA" sz="1200" i="1" dirty="0" smtClean="0">
                <a:solidFill>
                  <a:schemeClr val="tx2">
                    <a:lumMod val="75000"/>
                  </a:schemeClr>
                </a:solidFill>
                <a:latin typeface="Calibri" panose="020F0502020204030204" pitchFamily="34" charset="0"/>
                <a:ea typeface="Calibri" panose="020F0502020204030204" pitchFamily="34" charset="0"/>
              </a:rPr>
              <a:t>‎</a:t>
            </a:r>
            <a:r>
              <a:rPr lang="en-US" sz="12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4.9: </a:t>
            </a:r>
            <a:r>
              <a:rPr lang="en-US" sz="1200" b="1"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Load 007 </a:t>
            </a:r>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instruction format</a:t>
            </a:r>
            <a:endParaRPr lang="en-US" sz="2000" i="1" dirty="0">
              <a:solidFill>
                <a:schemeClr val="tx2">
                  <a:lumMod val="75000"/>
                </a:schemeClr>
              </a:solidFill>
            </a:endParaRPr>
          </a:p>
        </p:txBody>
      </p:sp>
      <p:sp>
        <p:nvSpPr>
          <p:cNvPr id="12" name="Rectangle 11"/>
          <p:cNvSpPr/>
          <p:nvPr/>
        </p:nvSpPr>
        <p:spPr>
          <a:xfrm>
            <a:off x="1066800" y="3086067"/>
            <a:ext cx="7543800" cy="3466334"/>
          </a:xfrm>
          <a:prstGeom prst="rect">
            <a:avLst/>
          </a:prstGeom>
        </p:spPr>
        <p:txBody>
          <a:bodyPr wrap="square">
            <a:spAutoFit/>
          </a:bodyPr>
          <a:lstStyle/>
          <a:p>
            <a:pPr>
              <a:lnSpc>
                <a:spcPct val="107000"/>
              </a:lnSpc>
              <a:spcAft>
                <a:spcPts val="800"/>
              </a:spcAft>
            </a:pPr>
            <a:r>
              <a:rPr lang="en-US" dirty="0">
                <a:latin typeface="Calibri" panose="020F0502020204030204" pitchFamily="34" charset="0"/>
                <a:ea typeface="Calibri" panose="020F0502020204030204" pitchFamily="34" charset="0"/>
                <a:cs typeface="Arial" panose="020B0604020202020204" pitchFamily="34" charset="0"/>
              </a:rPr>
              <a:t>The leftmost 4 bits indicate the opcode or the instruction to be executed.</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Arial" panose="020B0604020202020204" pitchFamily="34" charset="0"/>
              </a:rPr>
              <a:t>0001 is binary for 1, which represents the </a:t>
            </a:r>
            <a:r>
              <a:rPr lang="en-US" b="1" i="1" dirty="0">
                <a:latin typeface="Calibri" panose="020F0502020204030204" pitchFamily="34" charset="0"/>
                <a:ea typeface="Calibri" panose="020F0502020204030204" pitchFamily="34" charset="0"/>
                <a:cs typeface="Arial" panose="020B0604020202020204" pitchFamily="34" charset="0"/>
              </a:rPr>
              <a:t>Load</a:t>
            </a:r>
            <a:r>
              <a:rPr lang="en-US" dirty="0">
                <a:latin typeface="Calibri" panose="020F0502020204030204" pitchFamily="34" charset="0"/>
                <a:ea typeface="Calibri" panose="020F0502020204030204" pitchFamily="34" charset="0"/>
                <a:cs typeface="Arial" panose="020B0604020202020204" pitchFamily="34" charset="0"/>
              </a:rPr>
              <a:t> instruction. The remaining 12 bits indicate the address of the value we are loading, which is the address 7 in main memory.</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dirty="0">
                <a:latin typeface="Calibri" panose="020F0502020204030204" pitchFamily="34" charset="0"/>
                <a:ea typeface="Calibri" panose="020F0502020204030204" pitchFamily="34" charset="0"/>
                <a:cs typeface="Arial" panose="020B0604020202020204" pitchFamily="34" charset="0"/>
              </a:rPr>
              <a:t>This instructions causes the data found in address 7 in main memory to be copied to the accumulator, AC.</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dirty="0">
                <a:solidFill>
                  <a:srgbClr val="7030A0"/>
                </a:solidFill>
                <a:latin typeface="Calibri" panose="020F0502020204030204" pitchFamily="34" charset="0"/>
                <a:ea typeface="Calibri" panose="020F0502020204030204" pitchFamily="34" charset="0"/>
                <a:cs typeface="Arial" panose="020B0604020202020204" pitchFamily="34" charset="0"/>
              </a:rPr>
              <a:t>Note that the value of address 7 in main memory remains there, as we have only taken a copy of it.</a:t>
            </a:r>
            <a:endParaRPr lang="en-US" sz="16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dirty="0">
                <a:solidFill>
                  <a:srgbClr val="7030A0"/>
                </a:solidFill>
                <a:latin typeface="Calibri" panose="020F0502020204030204" pitchFamily="34" charset="0"/>
                <a:ea typeface="Calibri" panose="020F0502020204030204" pitchFamily="34" charset="0"/>
                <a:cs typeface="Arial" panose="020B0604020202020204" pitchFamily="34" charset="0"/>
              </a:rPr>
              <a:t>However, any previous data found in the AC will be overwritten when we use the Load instruction.</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3" name="Date Placeholder 12"/>
          <p:cNvSpPr>
            <a:spLocks noGrp="1"/>
          </p:cNvSpPr>
          <p:nvPr>
            <p:ph type="dt" sz="half" idx="10"/>
          </p:nvPr>
        </p:nvSpPr>
        <p:spPr>
          <a:xfrm>
            <a:off x="1175989" y="6421011"/>
            <a:ext cx="2133600" cy="365125"/>
          </a:xfrm>
        </p:spPr>
        <p:txBody>
          <a:bodyPr/>
          <a:lstStyle/>
          <a:p>
            <a:fld id="{1C7D5888-7380-4715-BF31-7C7AC52DEED1}" type="datetime3">
              <a:rPr lang="en-US" smtClean="0"/>
              <a:t>14 February 2017</a:t>
            </a:fld>
            <a:endParaRPr lang="en-US" dirty="0"/>
          </a:p>
        </p:txBody>
      </p:sp>
      <p:sp>
        <p:nvSpPr>
          <p:cNvPr id="14" name="Footer Placeholder 13"/>
          <p:cNvSpPr>
            <a:spLocks noGrp="1"/>
          </p:cNvSpPr>
          <p:nvPr>
            <p:ph type="ftr" sz="quarter" idx="11"/>
          </p:nvPr>
        </p:nvSpPr>
        <p:spPr>
          <a:xfrm>
            <a:off x="3547721" y="6411715"/>
            <a:ext cx="2895600" cy="365125"/>
          </a:xfrm>
        </p:spPr>
        <p:txBody>
          <a:bodyPr/>
          <a:lstStyle/>
          <a:p>
            <a:r>
              <a:rPr lang="en-US" dirty="0" smtClean="0"/>
              <a:t>T103 - Arab open University</a:t>
            </a:r>
            <a:endParaRPr lang="en-US" dirty="0"/>
          </a:p>
        </p:txBody>
      </p:sp>
      <p:sp>
        <p:nvSpPr>
          <p:cNvPr id="15" name="Slide Number Placeholder 14"/>
          <p:cNvSpPr>
            <a:spLocks noGrp="1"/>
          </p:cNvSpPr>
          <p:nvPr>
            <p:ph type="sldNum" sz="quarter" idx="12"/>
          </p:nvPr>
        </p:nvSpPr>
        <p:spPr/>
        <p:txBody>
          <a:bodyPr/>
          <a:lstStyle/>
          <a:p>
            <a:fld id="{20042AC5-0839-4BB6-BBC0-636ECAAE7EE1}" type="slidenum">
              <a:rPr lang="en-US" smtClean="0"/>
              <a:pPr/>
              <a:t>33</a:t>
            </a:fld>
            <a:endParaRPr lang="en-US"/>
          </a:p>
        </p:txBody>
      </p:sp>
    </p:spTree>
    <p:extLst>
      <p:ext uri="{BB962C8B-B14F-4D97-AF65-F5344CB8AC3E}">
        <p14:creationId xmlns:p14="http://schemas.microsoft.com/office/powerpoint/2010/main" val="241465446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Instruction Set Architecture </a:t>
            </a:r>
            <a:r>
              <a:rPr lang="en-US" dirty="0" smtClean="0"/>
              <a:t>(ISA)</a:t>
            </a:r>
            <a:endParaRPr lang="en-US" dirty="0"/>
          </a:p>
        </p:txBody>
      </p:sp>
      <p:sp>
        <p:nvSpPr>
          <p:cNvPr id="7" name="Rectangle 6"/>
          <p:cNvSpPr/>
          <p:nvPr/>
        </p:nvSpPr>
        <p:spPr>
          <a:xfrm>
            <a:off x="1066800" y="1066800"/>
            <a:ext cx="7543800" cy="853567"/>
          </a:xfrm>
          <a:prstGeom prst="rect">
            <a:avLst/>
          </a:prstGeom>
        </p:spPr>
        <p:txBody>
          <a:bodyPr wrap="square">
            <a:spAutoFit/>
          </a:bodyPr>
          <a:lstStyle/>
          <a:p>
            <a:pPr>
              <a:lnSpc>
                <a:spcPct val="107000"/>
              </a:lnSpc>
              <a:spcAft>
                <a:spcPts val="800"/>
              </a:spcAft>
            </a:pPr>
            <a:r>
              <a:rPr lang="en-US" sz="2000" dirty="0" smtClean="0">
                <a:latin typeface="Calibri" panose="020F0502020204030204" pitchFamily="34" charset="0"/>
                <a:ea typeface="Calibri" panose="020F0502020204030204" pitchFamily="34" charset="0"/>
                <a:cs typeface="Arial" panose="020B0604020202020204" pitchFamily="34" charset="0"/>
              </a:rPr>
              <a:t>Let us have another example:</a:t>
            </a:r>
            <a:endParaRPr lang="en-US" sz="20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2000" dirty="0" smtClean="0">
                <a:latin typeface="Calibri" panose="020F0502020204030204" pitchFamily="34" charset="0"/>
                <a:ea typeface="Calibri" panose="020F0502020204030204" pitchFamily="34" charset="0"/>
                <a:cs typeface="Arial" panose="020B0604020202020204" pitchFamily="34" charset="0"/>
              </a:rPr>
              <a:t>Suppose </a:t>
            </a:r>
            <a:r>
              <a:rPr lang="en-US" sz="2000" dirty="0">
                <a:latin typeface="Calibri" panose="020F0502020204030204" pitchFamily="34" charset="0"/>
                <a:ea typeface="Calibri" panose="020F0502020204030204" pitchFamily="34" charset="0"/>
                <a:cs typeface="Arial" panose="020B0604020202020204" pitchFamily="34" charset="0"/>
              </a:rPr>
              <a:t>that we have the following 16-bit instruction:</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
        <p:nvSpPr>
          <p:cNvPr id="12" name="Rectangle 11"/>
          <p:cNvSpPr/>
          <p:nvPr/>
        </p:nvSpPr>
        <p:spPr>
          <a:xfrm>
            <a:off x="1053352" y="3291086"/>
            <a:ext cx="7785847" cy="2273443"/>
          </a:xfrm>
          <a:prstGeom prst="rect">
            <a:avLst/>
          </a:prstGeom>
        </p:spPr>
        <p:txBody>
          <a:bodyPr wrap="square">
            <a:spAutoFit/>
          </a:bodyPr>
          <a:lstStyle/>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The leftmost four bits, 0011, are equal to 3, which is the </a:t>
            </a:r>
            <a:r>
              <a:rPr lang="en-US" sz="2000" b="1" i="1" dirty="0">
                <a:latin typeface="Calibri" panose="020F0502020204030204" pitchFamily="34" charset="0"/>
                <a:ea typeface="Calibri" panose="020F0502020204030204" pitchFamily="34" charset="0"/>
                <a:cs typeface="Arial" panose="020B0604020202020204" pitchFamily="34" charset="0"/>
              </a:rPr>
              <a:t>Add</a:t>
            </a:r>
            <a:r>
              <a:rPr lang="en-US" sz="2000" dirty="0">
                <a:latin typeface="Calibri" panose="020F0502020204030204" pitchFamily="34" charset="0"/>
                <a:ea typeface="Calibri" panose="020F0502020204030204" pitchFamily="34" charset="0"/>
                <a:cs typeface="Arial" panose="020B0604020202020204" pitchFamily="34" charset="0"/>
              </a:rPr>
              <a:t> </a:t>
            </a:r>
            <a:r>
              <a:rPr lang="en-US" sz="2000" dirty="0" smtClean="0">
                <a:latin typeface="Calibri" panose="020F0502020204030204" pitchFamily="34" charset="0"/>
                <a:ea typeface="Calibri" panose="020F0502020204030204" pitchFamily="34" charset="0"/>
                <a:cs typeface="Arial" panose="020B0604020202020204" pitchFamily="34" charset="0"/>
              </a:rPr>
              <a:t> instruction</a:t>
            </a:r>
            <a:r>
              <a:rPr lang="en-US" sz="2000" dirty="0">
                <a:latin typeface="Calibri" panose="020F0502020204030204" pitchFamily="34" charset="0"/>
                <a:ea typeface="Calibri" panose="020F0502020204030204" pitchFamily="34" charset="0"/>
                <a:cs typeface="Arial" panose="020B0604020202020204" pitchFamily="34" charset="0"/>
              </a:rPr>
              <a:t>.</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The address bits indicate address 00E in hex </a:t>
            </a:r>
            <a:r>
              <a:rPr lang="en-US" sz="2000" dirty="0" smtClean="0">
                <a:latin typeface="Calibri" panose="020F0502020204030204" pitchFamily="34" charset="0"/>
                <a:ea typeface="Calibri" panose="020F0502020204030204" pitchFamily="34" charset="0"/>
                <a:cs typeface="Arial" panose="020B0604020202020204" pitchFamily="34" charset="0"/>
              </a:rPr>
              <a:t>(or </a:t>
            </a:r>
            <a:r>
              <a:rPr lang="en-US" sz="2000" dirty="0">
                <a:latin typeface="Calibri" panose="020F0502020204030204" pitchFamily="34" charset="0"/>
                <a:ea typeface="Calibri" panose="020F0502020204030204" pitchFamily="34" charset="0"/>
                <a:cs typeface="Arial" panose="020B0604020202020204" pitchFamily="34" charset="0"/>
              </a:rPr>
              <a:t>14 in decimal). </a:t>
            </a:r>
            <a:r>
              <a:rPr lang="en-US" sz="2000" dirty="0" smtClean="0">
                <a:latin typeface="Calibri" panose="020F0502020204030204" pitchFamily="34" charset="0"/>
                <a:ea typeface="Calibri" panose="020F0502020204030204" pitchFamily="34" charset="0"/>
                <a:cs typeface="Arial" panose="020B0604020202020204" pitchFamily="34" charset="0"/>
              </a:rPr>
              <a:t>This means that the order will be given to </a:t>
            </a:r>
            <a:r>
              <a:rPr lang="en-US" sz="2000" dirty="0">
                <a:latin typeface="Calibri" panose="020F0502020204030204" pitchFamily="34" charset="0"/>
                <a:ea typeface="Calibri" panose="020F0502020204030204" pitchFamily="34" charset="0"/>
                <a:cs typeface="Arial" panose="020B0604020202020204" pitchFamily="34" charset="0"/>
              </a:rPr>
              <a:t>go to main memory, get the data value at address 00E, and add this value to the AC. </a:t>
            </a:r>
            <a:endParaRPr lang="en-US" sz="2000" dirty="0" smtClean="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2000" dirty="0" smtClean="0">
                <a:latin typeface="Calibri" panose="020F0502020204030204" pitchFamily="34" charset="0"/>
                <a:ea typeface="Calibri" panose="020F0502020204030204" pitchFamily="34" charset="0"/>
                <a:cs typeface="Arial" panose="020B0604020202020204" pitchFamily="34" charset="0"/>
              </a:rPr>
              <a:t>The new value </a:t>
            </a:r>
            <a:r>
              <a:rPr lang="en-US" sz="2000" dirty="0">
                <a:latin typeface="Calibri" panose="020F0502020204030204" pitchFamily="34" charset="0"/>
                <a:ea typeface="Calibri" panose="020F0502020204030204" pitchFamily="34" charset="0"/>
                <a:cs typeface="Arial" panose="020B0604020202020204" pitchFamily="34" charset="0"/>
              </a:rPr>
              <a:t>in the AC would then </a:t>
            </a:r>
            <a:r>
              <a:rPr lang="en-US" sz="2000" dirty="0" smtClean="0">
                <a:latin typeface="Calibri" panose="020F0502020204030204" pitchFamily="34" charset="0"/>
                <a:ea typeface="Calibri" panose="020F0502020204030204" pitchFamily="34" charset="0"/>
                <a:cs typeface="Arial" panose="020B0604020202020204" pitchFamily="34" charset="0"/>
              </a:rPr>
              <a:t>be the sum of the old value of the AC and the data fetched from address 00E.</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920367"/>
            <a:ext cx="4267200" cy="989719"/>
          </a:xfrm>
          <a:prstGeom prst="rect">
            <a:avLst/>
          </a:prstGeom>
          <a:noFill/>
        </p:spPr>
      </p:pic>
      <p:sp>
        <p:nvSpPr>
          <p:cNvPr id="4" name="Rectangle 3"/>
          <p:cNvSpPr/>
          <p:nvPr/>
        </p:nvSpPr>
        <p:spPr>
          <a:xfrm>
            <a:off x="3200400" y="2743512"/>
            <a:ext cx="2681760" cy="276999"/>
          </a:xfrm>
          <a:prstGeom prst="rect">
            <a:avLst/>
          </a:prstGeom>
        </p:spPr>
        <p:txBody>
          <a:bodyPr wrap="none">
            <a:spAutoFit/>
          </a:bodyPr>
          <a:lstStyle/>
          <a:p>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Figure </a:t>
            </a:r>
            <a:r>
              <a:rPr lang="ar-SA" sz="1200" i="1" dirty="0" smtClean="0">
                <a:solidFill>
                  <a:schemeClr val="tx2">
                    <a:lumMod val="75000"/>
                  </a:schemeClr>
                </a:solidFill>
                <a:latin typeface="Calibri" panose="020F0502020204030204" pitchFamily="34" charset="0"/>
                <a:ea typeface="Calibri" panose="020F0502020204030204" pitchFamily="34" charset="0"/>
              </a:rPr>
              <a:t>‎</a:t>
            </a:r>
            <a:r>
              <a:rPr lang="en-US" sz="12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4.10: </a:t>
            </a:r>
            <a:r>
              <a:rPr lang="en-US" sz="1200" b="1"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ADD 00E</a:t>
            </a:r>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 instruction format</a:t>
            </a:r>
            <a:endParaRPr lang="en-US" sz="2000" i="1" dirty="0">
              <a:solidFill>
                <a:schemeClr val="tx2">
                  <a:lumMod val="75000"/>
                </a:schemeClr>
              </a:solidFill>
            </a:endParaRPr>
          </a:p>
        </p:txBody>
      </p:sp>
      <p:sp>
        <p:nvSpPr>
          <p:cNvPr id="5" name="Date Placeholder 4"/>
          <p:cNvSpPr>
            <a:spLocks noGrp="1"/>
          </p:cNvSpPr>
          <p:nvPr>
            <p:ph type="dt" sz="half" idx="10"/>
          </p:nvPr>
        </p:nvSpPr>
        <p:spPr/>
        <p:txBody>
          <a:bodyPr/>
          <a:lstStyle/>
          <a:p>
            <a:fld id="{48C9CB5C-5B56-454A-AF7C-A586BC8A2CAB}"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9" name="Slide Number Placeholder 8"/>
          <p:cNvSpPr>
            <a:spLocks noGrp="1"/>
          </p:cNvSpPr>
          <p:nvPr>
            <p:ph type="sldNum" sz="quarter" idx="12"/>
          </p:nvPr>
        </p:nvSpPr>
        <p:spPr/>
        <p:txBody>
          <a:bodyPr/>
          <a:lstStyle/>
          <a:p>
            <a:fld id="{20042AC5-0839-4BB6-BBC0-636ECAAE7EE1}" type="slidenum">
              <a:rPr lang="en-US" smtClean="0"/>
              <a:pPr/>
              <a:t>34</a:t>
            </a:fld>
            <a:endParaRPr lang="en-US"/>
          </a:p>
        </p:txBody>
      </p:sp>
    </p:spTree>
    <p:extLst>
      <p:ext uri="{BB962C8B-B14F-4D97-AF65-F5344CB8AC3E}">
        <p14:creationId xmlns:p14="http://schemas.microsoft.com/office/powerpoint/2010/main" val="376671606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Instruction Set Architecture </a:t>
            </a:r>
            <a:r>
              <a:rPr lang="en-US" dirty="0" smtClean="0"/>
              <a:t>(ISA)</a:t>
            </a:r>
            <a:endParaRPr lang="en-US" dirty="0"/>
          </a:p>
        </p:txBody>
      </p:sp>
      <p:sp>
        <p:nvSpPr>
          <p:cNvPr id="7" name="Rectangle 6"/>
          <p:cNvSpPr/>
          <p:nvPr/>
        </p:nvSpPr>
        <p:spPr>
          <a:xfrm>
            <a:off x="1066800" y="1066800"/>
            <a:ext cx="7543800" cy="4418389"/>
          </a:xfrm>
          <a:prstGeom prst="rect">
            <a:avLst/>
          </a:prstGeom>
        </p:spPr>
        <p:txBody>
          <a:bodyPr wrap="square">
            <a:spAutoFit/>
          </a:bodyPr>
          <a:lstStyle/>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One important instruction is “</a:t>
            </a:r>
            <a:r>
              <a:rPr lang="en-US" sz="2000" b="1" i="1" dirty="0" err="1">
                <a:latin typeface="Calibri" panose="020F0502020204030204" pitchFamily="34" charset="0"/>
                <a:ea typeface="Calibri" panose="020F0502020204030204" pitchFamily="34" charset="0"/>
                <a:cs typeface="Arial" panose="020B0604020202020204" pitchFamily="34" charset="0"/>
              </a:rPr>
              <a:t>Skipcond</a:t>
            </a:r>
            <a:r>
              <a:rPr lang="en-US" sz="2000" dirty="0">
                <a:latin typeface="Calibri" panose="020F0502020204030204" pitchFamily="34" charset="0"/>
                <a:ea typeface="Calibri" panose="020F0502020204030204" pitchFamily="34" charset="0"/>
                <a:cs typeface="Arial" panose="020B0604020202020204" pitchFamily="34" charset="0"/>
              </a:rPr>
              <a:t>”</a:t>
            </a:r>
          </a:p>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When the </a:t>
            </a:r>
            <a:r>
              <a:rPr lang="en-US" sz="2000" dirty="0" err="1">
                <a:latin typeface="Calibri" panose="020F0502020204030204" pitchFamily="34" charset="0"/>
                <a:ea typeface="Calibri" panose="020F0502020204030204" pitchFamily="34" charset="0"/>
                <a:cs typeface="Arial" panose="020B0604020202020204" pitchFamily="34" charset="0"/>
              </a:rPr>
              <a:t>Skipcond</a:t>
            </a:r>
            <a:r>
              <a:rPr lang="en-US" sz="2000" dirty="0">
                <a:latin typeface="Calibri" panose="020F0502020204030204" pitchFamily="34" charset="0"/>
                <a:ea typeface="Calibri" panose="020F0502020204030204" pitchFamily="34" charset="0"/>
                <a:cs typeface="Arial" panose="020B0604020202020204" pitchFamily="34" charset="0"/>
              </a:rPr>
              <a:t> instruction is executed, the value stored in the AC must be inspected:</a:t>
            </a:r>
          </a:p>
          <a:p>
            <a:pPr marL="342900" marR="0" lvl="0" indent="-342900">
              <a:lnSpc>
                <a:spcPct val="107000"/>
              </a:lnSpc>
              <a:spcBef>
                <a:spcPts val="0"/>
              </a:spcBef>
              <a:spcAft>
                <a:spcPts val="0"/>
              </a:spcAft>
              <a:buFont typeface="Calibri" panose="020F0502020204030204" pitchFamily="34" charset="0"/>
              <a:buChar char="-"/>
            </a:pPr>
            <a:r>
              <a:rPr lang="en-US" sz="2000" dirty="0">
                <a:latin typeface="Calibri" panose="020F0502020204030204" pitchFamily="34" charset="0"/>
                <a:ea typeface="Calibri" panose="020F0502020204030204" pitchFamily="34" charset="0"/>
                <a:cs typeface="Times New Roman" panose="02020603050405020304" pitchFamily="18" charset="0"/>
              </a:rPr>
              <a:t>The next instruction is </a:t>
            </a:r>
            <a:r>
              <a:rPr lang="en-US" sz="2000" b="1" dirty="0">
                <a:latin typeface="Calibri" panose="020F0502020204030204" pitchFamily="34" charset="0"/>
                <a:ea typeface="Calibri" panose="020F0502020204030204" pitchFamily="34" charset="0"/>
                <a:cs typeface="Times New Roman" panose="02020603050405020304" pitchFamily="18" charset="0"/>
              </a:rPr>
              <a:t>skipped</a:t>
            </a:r>
            <a:r>
              <a:rPr lang="en-US" sz="2000" dirty="0">
                <a:latin typeface="Calibri" panose="020F0502020204030204" pitchFamily="34" charset="0"/>
                <a:ea typeface="Calibri" panose="020F0502020204030204" pitchFamily="34" charset="0"/>
                <a:cs typeface="Times New Roman" panose="02020603050405020304" pitchFamily="18" charset="0"/>
              </a:rPr>
              <a:t>, if the condition tested is </a:t>
            </a:r>
            <a:r>
              <a:rPr lang="en-US" sz="2000" b="1" dirty="0">
                <a:latin typeface="Calibri" panose="020F0502020204030204" pitchFamily="34" charset="0"/>
                <a:ea typeface="Calibri" panose="020F0502020204030204" pitchFamily="34" charset="0"/>
                <a:cs typeface="Times New Roman" panose="02020603050405020304" pitchFamily="18" charset="0"/>
              </a:rPr>
              <a:t>True</a:t>
            </a:r>
            <a:r>
              <a:rPr lang="en-US" sz="2000" dirty="0">
                <a:latin typeface="Calibri" panose="020F0502020204030204" pitchFamily="34" charset="0"/>
                <a:ea typeface="Calibri" panose="020F0502020204030204" pitchFamily="34" charset="0"/>
                <a:cs typeface="Times New Roman" panose="02020603050405020304" pitchFamily="18" charset="0"/>
              </a:rPr>
              <a:t>.</a:t>
            </a:r>
          </a:p>
          <a:p>
            <a:pPr marL="342900" marR="0" lvl="0" indent="-342900">
              <a:lnSpc>
                <a:spcPct val="107000"/>
              </a:lnSpc>
              <a:spcBef>
                <a:spcPts val="0"/>
              </a:spcBef>
              <a:spcAft>
                <a:spcPts val="800"/>
              </a:spcAft>
              <a:buFont typeface="Calibri" panose="020F0502020204030204" pitchFamily="34" charset="0"/>
              <a:buChar char="-"/>
            </a:pPr>
            <a:r>
              <a:rPr lang="en-US" sz="2000" dirty="0">
                <a:latin typeface="Calibri" panose="020F0502020204030204" pitchFamily="34" charset="0"/>
                <a:ea typeface="Calibri" panose="020F0502020204030204" pitchFamily="34" charset="0"/>
                <a:cs typeface="Times New Roman" panose="02020603050405020304" pitchFamily="18" charset="0"/>
              </a:rPr>
              <a:t>The next instruction is </a:t>
            </a:r>
            <a:r>
              <a:rPr lang="en-US" sz="2000" b="1" dirty="0">
                <a:latin typeface="Calibri" panose="020F0502020204030204" pitchFamily="34" charset="0"/>
                <a:ea typeface="Calibri" panose="020F0502020204030204" pitchFamily="34" charset="0"/>
                <a:cs typeface="Times New Roman" panose="02020603050405020304" pitchFamily="18" charset="0"/>
              </a:rPr>
              <a:t>not skipped</a:t>
            </a:r>
            <a:r>
              <a:rPr lang="en-US" sz="2000" dirty="0">
                <a:latin typeface="Calibri" panose="020F0502020204030204" pitchFamily="34" charset="0"/>
                <a:ea typeface="Calibri" panose="020F0502020204030204" pitchFamily="34" charset="0"/>
                <a:cs typeface="Times New Roman" panose="02020603050405020304" pitchFamily="18" charset="0"/>
              </a:rPr>
              <a:t>, if the condition tested is </a:t>
            </a:r>
            <a:r>
              <a:rPr lang="en-US" sz="2000" b="1" dirty="0">
                <a:latin typeface="Calibri" panose="020F0502020204030204" pitchFamily="34" charset="0"/>
                <a:ea typeface="Calibri" panose="020F0502020204030204" pitchFamily="34" charset="0"/>
                <a:cs typeface="Times New Roman" panose="02020603050405020304" pitchFamily="18" charset="0"/>
              </a:rPr>
              <a:t>False</a:t>
            </a:r>
            <a:r>
              <a:rPr lang="en-US" sz="2000" dirty="0">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 </a:t>
            </a:r>
          </a:p>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Bits 11 and 10 (say b</a:t>
            </a:r>
            <a:r>
              <a:rPr lang="en-US" sz="2000" baseline="-25000" dirty="0">
                <a:latin typeface="Calibri" panose="020F0502020204030204" pitchFamily="34" charset="0"/>
                <a:ea typeface="Calibri" panose="020F0502020204030204" pitchFamily="34" charset="0"/>
                <a:cs typeface="Arial" panose="020B0604020202020204" pitchFamily="34" charset="0"/>
              </a:rPr>
              <a:t>11</a:t>
            </a:r>
            <a:r>
              <a:rPr lang="en-US" sz="2000" dirty="0">
                <a:latin typeface="Calibri" panose="020F0502020204030204" pitchFamily="34" charset="0"/>
                <a:ea typeface="Calibri" panose="020F0502020204030204" pitchFamily="34" charset="0"/>
                <a:cs typeface="Arial" panose="020B0604020202020204" pitchFamily="34" charset="0"/>
              </a:rPr>
              <a:t>b</a:t>
            </a:r>
            <a:r>
              <a:rPr lang="en-US" sz="2000" baseline="-25000" dirty="0">
                <a:latin typeface="Calibri" panose="020F0502020204030204" pitchFamily="34" charset="0"/>
                <a:ea typeface="Calibri" panose="020F0502020204030204" pitchFamily="34" charset="0"/>
                <a:cs typeface="Arial" panose="020B0604020202020204" pitchFamily="34" charset="0"/>
              </a:rPr>
              <a:t>10</a:t>
            </a:r>
            <a:r>
              <a:rPr lang="en-US" sz="2000" dirty="0">
                <a:latin typeface="Calibri" panose="020F0502020204030204" pitchFamily="34" charset="0"/>
                <a:ea typeface="Calibri" panose="020F0502020204030204" pitchFamily="34" charset="0"/>
                <a:cs typeface="Arial" panose="020B0604020202020204" pitchFamily="34" charset="0"/>
              </a:rPr>
              <a:t>) in the address field specify the condition to be tested:</a:t>
            </a:r>
          </a:p>
          <a:p>
            <a:pPr marL="1143000" marR="0" lvl="2" indent="-228600">
              <a:lnSpc>
                <a:spcPct val="107000"/>
              </a:lnSpc>
              <a:spcBef>
                <a:spcPts val="0"/>
              </a:spcBef>
              <a:spcAft>
                <a:spcPts val="800"/>
              </a:spcAft>
              <a:buFont typeface="Calibri" panose="020F0502020204030204" pitchFamily="34" charset="0"/>
              <a:buChar char="-"/>
              <a:tabLst>
                <a:tab pos="1371600" algn="l"/>
              </a:tabLst>
            </a:pPr>
            <a:r>
              <a:rPr lang="en-US" sz="2000" dirty="0">
                <a:latin typeface="Calibri" panose="020F0502020204030204" pitchFamily="34" charset="0"/>
                <a:ea typeface="Calibri" panose="020F0502020204030204" pitchFamily="34" charset="0"/>
                <a:cs typeface="Times New Roman" panose="02020603050405020304" pitchFamily="18" charset="0"/>
              </a:rPr>
              <a:t>b</a:t>
            </a:r>
            <a:r>
              <a:rPr lang="en-US" sz="2000" baseline="-25000" dirty="0">
                <a:latin typeface="Calibri" panose="020F0502020204030204" pitchFamily="34" charset="0"/>
                <a:ea typeface="Calibri" panose="020F0502020204030204" pitchFamily="34" charset="0"/>
                <a:cs typeface="Times New Roman" panose="02020603050405020304" pitchFamily="18" charset="0"/>
              </a:rPr>
              <a:t>11</a:t>
            </a:r>
            <a:r>
              <a:rPr lang="en-US" sz="2000" dirty="0">
                <a:latin typeface="Calibri" panose="020F0502020204030204" pitchFamily="34" charset="0"/>
                <a:ea typeface="Calibri" panose="020F0502020204030204" pitchFamily="34" charset="0"/>
                <a:cs typeface="Times New Roman" panose="02020603050405020304" pitchFamily="18" charset="0"/>
              </a:rPr>
              <a:t>b</a:t>
            </a:r>
            <a:r>
              <a:rPr lang="en-US" sz="2000" baseline="-25000" dirty="0">
                <a:latin typeface="Calibri" panose="020F0502020204030204" pitchFamily="34" charset="0"/>
                <a:ea typeface="Calibri" panose="020F0502020204030204" pitchFamily="34" charset="0"/>
                <a:cs typeface="Times New Roman" panose="02020603050405020304" pitchFamily="18" charset="0"/>
              </a:rPr>
              <a:t>10</a:t>
            </a:r>
            <a:r>
              <a:rPr lang="en-US" sz="2000" dirty="0">
                <a:latin typeface="Calibri" panose="020F0502020204030204" pitchFamily="34" charset="0"/>
                <a:ea typeface="Calibri" panose="020F0502020204030204" pitchFamily="34" charset="0"/>
                <a:cs typeface="Times New Roman" panose="02020603050405020304" pitchFamily="18" charset="0"/>
              </a:rPr>
              <a:t> = 00: The CPU tests if AC &lt; 0</a:t>
            </a:r>
          </a:p>
          <a:p>
            <a:pPr marL="1143000" marR="0" lvl="2" indent="-228600">
              <a:lnSpc>
                <a:spcPct val="107000"/>
              </a:lnSpc>
              <a:spcBef>
                <a:spcPts val="0"/>
              </a:spcBef>
              <a:spcAft>
                <a:spcPts val="800"/>
              </a:spcAft>
              <a:buFont typeface="Calibri" panose="020F0502020204030204" pitchFamily="34" charset="0"/>
              <a:buChar char="-"/>
              <a:tabLst>
                <a:tab pos="1371600" algn="l"/>
              </a:tabLst>
            </a:pPr>
            <a:r>
              <a:rPr lang="en-US" sz="2000" dirty="0">
                <a:latin typeface="Calibri" panose="020F0502020204030204" pitchFamily="34" charset="0"/>
                <a:ea typeface="Calibri" panose="020F0502020204030204" pitchFamily="34" charset="0"/>
                <a:cs typeface="Times New Roman" panose="02020603050405020304" pitchFamily="18" charset="0"/>
              </a:rPr>
              <a:t>b</a:t>
            </a:r>
            <a:r>
              <a:rPr lang="en-US" sz="2000" baseline="-25000" dirty="0">
                <a:latin typeface="Calibri" panose="020F0502020204030204" pitchFamily="34" charset="0"/>
                <a:ea typeface="Calibri" panose="020F0502020204030204" pitchFamily="34" charset="0"/>
                <a:cs typeface="Times New Roman" panose="02020603050405020304" pitchFamily="18" charset="0"/>
              </a:rPr>
              <a:t>11</a:t>
            </a:r>
            <a:r>
              <a:rPr lang="en-US" sz="2000" dirty="0">
                <a:latin typeface="Calibri" panose="020F0502020204030204" pitchFamily="34" charset="0"/>
                <a:ea typeface="Calibri" panose="020F0502020204030204" pitchFamily="34" charset="0"/>
                <a:cs typeface="Times New Roman" panose="02020603050405020304" pitchFamily="18" charset="0"/>
              </a:rPr>
              <a:t>b</a:t>
            </a:r>
            <a:r>
              <a:rPr lang="en-US" sz="2000" baseline="-25000" dirty="0">
                <a:latin typeface="Calibri" panose="020F0502020204030204" pitchFamily="34" charset="0"/>
                <a:ea typeface="Calibri" panose="020F0502020204030204" pitchFamily="34" charset="0"/>
                <a:cs typeface="Times New Roman" panose="02020603050405020304" pitchFamily="18" charset="0"/>
              </a:rPr>
              <a:t>10</a:t>
            </a:r>
            <a:r>
              <a:rPr lang="en-US" sz="2000" dirty="0">
                <a:latin typeface="Calibri" panose="020F0502020204030204" pitchFamily="34" charset="0"/>
                <a:ea typeface="Calibri" panose="020F0502020204030204" pitchFamily="34" charset="0"/>
                <a:cs typeface="Times New Roman" panose="02020603050405020304" pitchFamily="18" charset="0"/>
              </a:rPr>
              <a:t> = 01: The CPU tests if AC = 0</a:t>
            </a:r>
          </a:p>
          <a:p>
            <a:pPr marL="1143000" marR="0" lvl="2" indent="-228600">
              <a:lnSpc>
                <a:spcPct val="107000"/>
              </a:lnSpc>
              <a:spcBef>
                <a:spcPts val="0"/>
              </a:spcBef>
              <a:spcAft>
                <a:spcPts val="800"/>
              </a:spcAft>
              <a:buFont typeface="Calibri" panose="020F0502020204030204" pitchFamily="34" charset="0"/>
              <a:buChar char="-"/>
              <a:tabLst>
                <a:tab pos="1371600" algn="l"/>
              </a:tabLst>
            </a:pPr>
            <a:r>
              <a:rPr lang="en-US" sz="2000" dirty="0">
                <a:latin typeface="Calibri" panose="020F0502020204030204" pitchFamily="34" charset="0"/>
                <a:ea typeface="Calibri" panose="020F0502020204030204" pitchFamily="34" charset="0"/>
                <a:cs typeface="Times New Roman" panose="02020603050405020304" pitchFamily="18" charset="0"/>
              </a:rPr>
              <a:t>b</a:t>
            </a:r>
            <a:r>
              <a:rPr lang="en-US" sz="2000" baseline="-25000" dirty="0">
                <a:latin typeface="Calibri" panose="020F0502020204030204" pitchFamily="34" charset="0"/>
                <a:ea typeface="Calibri" panose="020F0502020204030204" pitchFamily="34" charset="0"/>
                <a:cs typeface="Times New Roman" panose="02020603050405020304" pitchFamily="18" charset="0"/>
              </a:rPr>
              <a:t>11</a:t>
            </a:r>
            <a:r>
              <a:rPr lang="en-US" sz="2000" dirty="0">
                <a:latin typeface="Calibri" panose="020F0502020204030204" pitchFamily="34" charset="0"/>
                <a:ea typeface="Calibri" panose="020F0502020204030204" pitchFamily="34" charset="0"/>
                <a:cs typeface="Times New Roman" panose="02020603050405020304" pitchFamily="18" charset="0"/>
              </a:rPr>
              <a:t>b</a:t>
            </a:r>
            <a:r>
              <a:rPr lang="en-US" sz="2000" baseline="-25000" dirty="0">
                <a:latin typeface="Calibri" panose="020F0502020204030204" pitchFamily="34" charset="0"/>
                <a:ea typeface="Calibri" panose="020F0502020204030204" pitchFamily="34" charset="0"/>
                <a:cs typeface="Times New Roman" panose="02020603050405020304" pitchFamily="18" charset="0"/>
              </a:rPr>
              <a:t>10</a:t>
            </a:r>
            <a:r>
              <a:rPr lang="en-US" sz="2000" dirty="0">
                <a:latin typeface="Calibri" panose="020F0502020204030204" pitchFamily="34" charset="0"/>
                <a:ea typeface="Calibri" panose="020F0502020204030204" pitchFamily="34" charset="0"/>
                <a:cs typeface="Times New Roman" panose="02020603050405020304" pitchFamily="18" charset="0"/>
              </a:rPr>
              <a:t> = 10: The CPU tests if AC &gt; 0</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93058B36-208A-4416-BA76-017FE7546B93}"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9" name="Slide Number Placeholder 8"/>
          <p:cNvSpPr>
            <a:spLocks noGrp="1"/>
          </p:cNvSpPr>
          <p:nvPr>
            <p:ph type="sldNum" sz="quarter" idx="12"/>
          </p:nvPr>
        </p:nvSpPr>
        <p:spPr/>
        <p:txBody>
          <a:bodyPr/>
          <a:lstStyle/>
          <a:p>
            <a:fld id="{20042AC5-0839-4BB6-BBC0-636ECAAE7EE1}" type="slidenum">
              <a:rPr lang="en-US" smtClean="0"/>
              <a:pPr/>
              <a:t>35</a:t>
            </a:fld>
            <a:endParaRPr lang="en-US"/>
          </a:p>
        </p:txBody>
      </p:sp>
    </p:spTree>
    <p:extLst>
      <p:ext uri="{BB962C8B-B14F-4D97-AF65-F5344CB8AC3E}">
        <p14:creationId xmlns:p14="http://schemas.microsoft.com/office/powerpoint/2010/main" val="39191489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Instruction Set Architecture </a:t>
            </a:r>
            <a:r>
              <a:rPr lang="en-US" dirty="0" smtClean="0"/>
              <a:t>(ISA)</a:t>
            </a:r>
            <a:endParaRPr lang="en-US" dirty="0"/>
          </a:p>
        </p:txBody>
      </p:sp>
      <p:sp>
        <p:nvSpPr>
          <p:cNvPr id="7" name="Rectangle 6"/>
          <p:cNvSpPr/>
          <p:nvPr/>
        </p:nvSpPr>
        <p:spPr>
          <a:xfrm>
            <a:off x="1066800" y="1066800"/>
            <a:ext cx="7543800" cy="736355"/>
          </a:xfrm>
          <a:prstGeom prst="rect">
            <a:avLst/>
          </a:prstGeom>
        </p:spPr>
        <p:txBody>
          <a:bodyPr wrap="square">
            <a:spAutoFit/>
          </a:bodyPr>
          <a:lstStyle/>
          <a:p>
            <a:pPr>
              <a:lnSpc>
                <a:spcPct val="107000"/>
              </a:lnSpc>
              <a:spcAft>
                <a:spcPts val="800"/>
              </a:spcAft>
            </a:pPr>
            <a:r>
              <a:rPr lang="en-US" sz="2000" b="1" dirty="0">
                <a:solidFill>
                  <a:srgbClr val="00B050"/>
                </a:solidFill>
                <a:latin typeface="Calibri" panose="020F0502020204030204" pitchFamily="34" charset="0"/>
                <a:ea typeface="Calibri" panose="020F0502020204030204" pitchFamily="34" charset="0"/>
                <a:cs typeface="Arial" panose="020B0604020202020204" pitchFamily="34" charset="0"/>
              </a:rPr>
              <a:t>Example: </a:t>
            </a:r>
            <a:r>
              <a:rPr lang="en-US" sz="2000" dirty="0">
                <a:latin typeface="Calibri" panose="020F0502020204030204" pitchFamily="34" charset="0"/>
                <a:ea typeface="Calibri" panose="020F0502020204030204" pitchFamily="34" charset="0"/>
                <a:cs typeface="Arial" panose="020B0604020202020204" pitchFamily="34" charset="0"/>
              </a:rPr>
              <a:t>Figure </a:t>
            </a:r>
            <a:r>
              <a:rPr lang="en-US" sz="2000" dirty="0" smtClean="0">
                <a:latin typeface="Calibri" panose="020F0502020204030204" pitchFamily="34" charset="0"/>
                <a:ea typeface="Calibri" panose="020F0502020204030204" pitchFamily="34" charset="0"/>
                <a:cs typeface="Arial" panose="020B0604020202020204" pitchFamily="34" charset="0"/>
              </a:rPr>
              <a:t>4.11 </a:t>
            </a:r>
            <a:r>
              <a:rPr lang="en-US" sz="2000" dirty="0">
                <a:latin typeface="Calibri" panose="020F0502020204030204" pitchFamily="34" charset="0"/>
                <a:ea typeface="Calibri" panose="020F0502020204030204" pitchFamily="34" charset="0"/>
                <a:cs typeface="Arial" panose="020B0604020202020204" pitchFamily="34" charset="0"/>
              </a:rPr>
              <a:t>is a bit pattern for a SKIPCOND instruction, as it would appear in the IR:</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pic>
        <p:nvPicPr>
          <p:cNvPr id="5" name="Picture 4"/>
          <p:cNvPicPr/>
          <p:nvPr/>
        </p:nvPicPr>
        <p:blipFill>
          <a:blip r:embed="rId2"/>
          <a:stretch>
            <a:fillRect/>
          </a:stretch>
        </p:blipFill>
        <p:spPr>
          <a:xfrm>
            <a:off x="2209800" y="1768901"/>
            <a:ext cx="4648200" cy="830508"/>
          </a:xfrm>
          <a:prstGeom prst="rect">
            <a:avLst/>
          </a:prstGeom>
        </p:spPr>
      </p:pic>
      <p:sp>
        <p:nvSpPr>
          <p:cNvPr id="4" name="Rectangle 3"/>
          <p:cNvSpPr/>
          <p:nvPr/>
        </p:nvSpPr>
        <p:spPr>
          <a:xfrm>
            <a:off x="3120635" y="2628446"/>
            <a:ext cx="2977546" cy="276999"/>
          </a:xfrm>
          <a:prstGeom prst="rect">
            <a:avLst/>
          </a:prstGeom>
        </p:spPr>
        <p:txBody>
          <a:bodyPr wrap="none">
            <a:spAutoFit/>
          </a:bodyPr>
          <a:lstStyle/>
          <a:p>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Figure </a:t>
            </a:r>
            <a:r>
              <a:rPr lang="ar-SA" sz="1200" i="1" dirty="0" smtClean="0">
                <a:solidFill>
                  <a:schemeClr val="tx2">
                    <a:lumMod val="75000"/>
                  </a:schemeClr>
                </a:solidFill>
                <a:latin typeface="Calibri" panose="020F0502020204030204" pitchFamily="34" charset="0"/>
                <a:ea typeface="Calibri" panose="020F0502020204030204" pitchFamily="34" charset="0"/>
              </a:rPr>
              <a:t>‎</a:t>
            </a:r>
            <a:r>
              <a:rPr lang="en-US" sz="12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4.11: </a:t>
            </a:r>
            <a:r>
              <a:rPr lang="en-US" sz="1200" b="1" i="1" dirty="0" err="1">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Skipcond</a:t>
            </a:r>
            <a:r>
              <a:rPr lang="en-US" sz="1200" b="1"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 </a:t>
            </a:r>
            <a:r>
              <a:rPr lang="en-US" sz="1200" b="1" i="1" u="sng"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400</a:t>
            </a:r>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 instruction format</a:t>
            </a:r>
            <a:endParaRPr lang="en-US" sz="2000" i="1" dirty="0">
              <a:solidFill>
                <a:schemeClr val="tx2">
                  <a:lumMod val="75000"/>
                </a:schemeClr>
              </a:solidFill>
            </a:endParaRPr>
          </a:p>
        </p:txBody>
      </p:sp>
      <p:sp>
        <p:nvSpPr>
          <p:cNvPr id="6" name="Rectangle 5"/>
          <p:cNvSpPr/>
          <p:nvPr/>
        </p:nvSpPr>
        <p:spPr>
          <a:xfrm>
            <a:off x="1022683" y="3048000"/>
            <a:ext cx="7924800" cy="3363998"/>
          </a:xfrm>
          <a:prstGeom prst="rect">
            <a:avLst/>
          </a:prstGeom>
        </p:spPr>
        <p:txBody>
          <a:bodyPr wrap="square">
            <a:spAutoFit/>
          </a:bodyPr>
          <a:lstStyle/>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In figure </a:t>
            </a:r>
            <a:r>
              <a:rPr lang="en-US" sz="2000" dirty="0" smtClean="0">
                <a:latin typeface="Calibri" panose="020F0502020204030204" pitchFamily="34" charset="0"/>
                <a:ea typeface="Calibri" panose="020F0502020204030204" pitchFamily="34" charset="0"/>
                <a:cs typeface="Arial" panose="020B0604020202020204" pitchFamily="34" charset="0"/>
              </a:rPr>
              <a:t>4.11, </a:t>
            </a:r>
            <a:r>
              <a:rPr lang="en-US" sz="2000" dirty="0">
                <a:latin typeface="Calibri" panose="020F0502020204030204" pitchFamily="34" charset="0"/>
                <a:ea typeface="Calibri" panose="020F0502020204030204" pitchFamily="34" charset="0"/>
                <a:cs typeface="Arial" panose="020B0604020202020204" pitchFamily="34" charset="0"/>
              </a:rPr>
              <a:t>we see that the opcode is 8 and </a:t>
            </a:r>
            <a:r>
              <a:rPr lang="en-US" sz="2000" dirty="0" smtClean="0">
                <a:solidFill>
                  <a:prstClr val="black"/>
                </a:solidFill>
                <a:latin typeface="Calibri" panose="020F0502020204030204" pitchFamily="34" charset="0"/>
                <a:ea typeface="Calibri" panose="020F0502020204030204" pitchFamily="34" charset="0"/>
                <a:cs typeface="Times New Roman" panose="02020603050405020304" pitchFamily="18" charset="0"/>
              </a:rPr>
              <a:t>b</a:t>
            </a:r>
            <a:r>
              <a:rPr lang="en-US" sz="2000" baseline="-25000" dirty="0" smtClean="0">
                <a:solidFill>
                  <a:prstClr val="black"/>
                </a:solidFill>
                <a:latin typeface="Calibri" panose="020F0502020204030204" pitchFamily="34" charset="0"/>
                <a:ea typeface="Calibri" panose="020F0502020204030204" pitchFamily="34" charset="0"/>
                <a:cs typeface="Times New Roman" panose="02020603050405020304" pitchFamily="18" charset="0"/>
              </a:rPr>
              <a:t>11</a:t>
            </a:r>
            <a:r>
              <a:rPr lang="en-US" sz="2000" dirty="0" smtClean="0">
                <a:solidFill>
                  <a:prstClr val="black"/>
                </a:solidFill>
                <a:latin typeface="Calibri" panose="020F0502020204030204" pitchFamily="34" charset="0"/>
                <a:ea typeface="Calibri" panose="020F0502020204030204" pitchFamily="34" charset="0"/>
                <a:cs typeface="Times New Roman" panose="02020603050405020304" pitchFamily="18" charset="0"/>
              </a:rPr>
              <a:t>b</a:t>
            </a:r>
            <a:r>
              <a:rPr lang="en-US" sz="2000" baseline="-25000" dirty="0" smtClean="0">
                <a:solidFill>
                  <a:prstClr val="black"/>
                </a:solidFill>
                <a:latin typeface="Calibri" panose="020F0502020204030204" pitchFamily="34" charset="0"/>
                <a:ea typeface="Calibri" panose="020F0502020204030204" pitchFamily="34" charset="0"/>
                <a:cs typeface="Times New Roman" panose="02020603050405020304" pitchFamily="18" charset="0"/>
              </a:rPr>
              <a:t>10</a:t>
            </a:r>
            <a:r>
              <a:rPr lang="en-US" sz="2000" dirty="0" smtClean="0">
                <a:solidFill>
                  <a:prstClr val="black"/>
                </a:solidFill>
                <a:latin typeface="Calibri" panose="020F0502020204030204" pitchFamily="34" charset="0"/>
                <a:ea typeface="Calibri" panose="020F0502020204030204" pitchFamily="34" charset="0"/>
                <a:cs typeface="Times New Roman" panose="02020603050405020304" pitchFamily="18" charset="0"/>
              </a:rPr>
              <a:t> (</a:t>
            </a:r>
            <a:r>
              <a:rPr lang="en-US" dirty="0">
                <a:latin typeface="Calibri" panose="020F0502020204030204" pitchFamily="34" charset="0"/>
                <a:ea typeface="Calibri" panose="020F0502020204030204" pitchFamily="34" charset="0"/>
                <a:cs typeface="Arial" panose="020B0604020202020204" pitchFamily="34" charset="0"/>
              </a:rPr>
              <a:t>bits 11 and </a:t>
            </a:r>
            <a:r>
              <a:rPr lang="en-US" dirty="0" smtClean="0">
                <a:latin typeface="Calibri" panose="020F0502020204030204" pitchFamily="34" charset="0"/>
                <a:ea typeface="Calibri" panose="020F0502020204030204" pitchFamily="34" charset="0"/>
                <a:cs typeface="Arial" panose="020B0604020202020204" pitchFamily="34" charset="0"/>
              </a:rPr>
              <a:t>10</a:t>
            </a:r>
            <a:r>
              <a:rPr lang="en-US" sz="2000" dirty="0" smtClean="0">
                <a:solidFill>
                  <a:prstClr val="black"/>
                </a:solidFill>
                <a:latin typeface="Calibri" panose="020F0502020204030204" pitchFamily="34" charset="0"/>
                <a:ea typeface="Calibri" panose="020F0502020204030204" pitchFamily="34" charset="0"/>
                <a:cs typeface="Times New Roman" panose="02020603050405020304" pitchFamily="18" charset="0"/>
              </a:rPr>
              <a:t>)</a:t>
            </a:r>
            <a:r>
              <a:rPr lang="en-US" sz="2000" dirty="0" smtClean="0">
                <a:latin typeface="Calibri" panose="020F0502020204030204" pitchFamily="34" charset="0"/>
                <a:ea typeface="Calibri" panose="020F0502020204030204" pitchFamily="34" charset="0"/>
                <a:cs typeface="Arial" panose="020B0604020202020204" pitchFamily="34" charset="0"/>
              </a:rPr>
              <a:t>are </a:t>
            </a:r>
            <a:r>
              <a:rPr lang="en-US" sz="2000" b="1" dirty="0">
                <a:latin typeface="Calibri" panose="020F0502020204030204" pitchFamily="34" charset="0"/>
                <a:ea typeface="Calibri" panose="020F0502020204030204" pitchFamily="34" charset="0"/>
                <a:cs typeface="Arial" panose="020B0604020202020204" pitchFamily="34" charset="0"/>
              </a:rPr>
              <a:t>01</a:t>
            </a:r>
            <a:r>
              <a:rPr lang="en-US" sz="2000" dirty="0">
                <a:latin typeface="Calibri" panose="020F0502020204030204" pitchFamily="34" charset="0"/>
                <a:ea typeface="Calibri" panose="020F0502020204030204" pitchFamily="34" charset="0"/>
                <a:cs typeface="Arial" panose="020B0604020202020204" pitchFamily="34" charset="0"/>
              </a:rPr>
              <a:t>, meaning that the next instruction will be skipped if the value in the AC is equal to zero.</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In general, we use:</a:t>
            </a:r>
            <a:endParaRPr lang="en-US"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Calibri" panose="020F0502020204030204" pitchFamily="34" charset="0"/>
              <a:buChar char="-"/>
            </a:pPr>
            <a:r>
              <a:rPr lang="en-US" sz="2000" b="1" dirty="0">
                <a:latin typeface="Calibri" panose="020F0502020204030204" pitchFamily="34" charset="0"/>
                <a:ea typeface="Calibri" panose="020F0502020204030204" pitchFamily="34" charset="0"/>
                <a:cs typeface="Times New Roman" panose="02020603050405020304" pitchFamily="18" charset="0"/>
              </a:rPr>
              <a:t>SKIPCOND 000</a:t>
            </a:r>
            <a:r>
              <a:rPr lang="en-US" sz="2000" dirty="0">
                <a:latin typeface="Calibri" panose="020F0502020204030204" pitchFamily="34" charset="0"/>
                <a:ea typeface="Calibri" panose="020F0502020204030204" pitchFamily="34" charset="0"/>
                <a:cs typeface="Times New Roman" panose="02020603050405020304" pitchFamily="18" charset="0"/>
              </a:rPr>
              <a:t> which means skip the next instruction if the </a:t>
            </a:r>
            <a:r>
              <a:rPr lang="en-US" sz="2000" b="1" dirty="0">
                <a:latin typeface="Calibri" panose="020F0502020204030204" pitchFamily="34" charset="0"/>
                <a:ea typeface="Calibri" panose="020F0502020204030204" pitchFamily="34" charset="0"/>
                <a:cs typeface="Times New Roman" panose="02020603050405020304" pitchFamily="18" charset="0"/>
              </a:rPr>
              <a:t>AC &lt;0</a:t>
            </a:r>
            <a:r>
              <a:rPr lang="en-US" sz="2000" dirty="0">
                <a:latin typeface="Calibri" panose="020F0502020204030204" pitchFamily="34" charset="0"/>
                <a:ea typeface="Calibri" panose="020F0502020204030204" pitchFamily="34" charset="0"/>
                <a:cs typeface="Times New Roman" panose="02020603050405020304" pitchFamily="18"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Calibri" panose="020F0502020204030204" pitchFamily="34" charset="0"/>
              <a:buChar char="-"/>
            </a:pPr>
            <a:r>
              <a:rPr lang="en-US" sz="2000" b="1" dirty="0">
                <a:latin typeface="Calibri" panose="020F0502020204030204" pitchFamily="34" charset="0"/>
                <a:ea typeface="Calibri" panose="020F0502020204030204" pitchFamily="34" charset="0"/>
                <a:cs typeface="Times New Roman" panose="02020603050405020304" pitchFamily="18" charset="0"/>
              </a:rPr>
              <a:t>SKIPCOND 400</a:t>
            </a:r>
            <a:r>
              <a:rPr lang="en-US" sz="2000" dirty="0">
                <a:latin typeface="Calibri" panose="020F0502020204030204" pitchFamily="34" charset="0"/>
                <a:ea typeface="Calibri" panose="020F0502020204030204" pitchFamily="34" charset="0"/>
                <a:cs typeface="Times New Roman" panose="02020603050405020304" pitchFamily="18" charset="0"/>
              </a:rPr>
              <a:t> which means skip the next instruction if the </a:t>
            </a:r>
            <a:r>
              <a:rPr lang="en-US" sz="2000" b="1" dirty="0">
                <a:latin typeface="Calibri" panose="020F0502020204030204" pitchFamily="34" charset="0"/>
                <a:ea typeface="Calibri" panose="020F0502020204030204" pitchFamily="34" charset="0"/>
                <a:cs typeface="Times New Roman" panose="02020603050405020304" pitchFamily="18" charset="0"/>
              </a:rPr>
              <a:t>AC =0</a:t>
            </a:r>
            <a:r>
              <a:rPr lang="en-US" sz="2000" dirty="0">
                <a:latin typeface="Calibri" panose="020F0502020204030204" pitchFamily="34" charset="0"/>
                <a:ea typeface="Calibri" panose="020F0502020204030204" pitchFamily="34" charset="0"/>
                <a:cs typeface="Times New Roman" panose="02020603050405020304" pitchFamily="18"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Calibri" panose="020F0502020204030204" pitchFamily="34" charset="0"/>
              <a:buChar char="-"/>
            </a:pPr>
            <a:r>
              <a:rPr lang="en-US" sz="2000" b="1" dirty="0">
                <a:latin typeface="Calibri" panose="020F0502020204030204" pitchFamily="34" charset="0"/>
                <a:ea typeface="Calibri" panose="020F0502020204030204" pitchFamily="34" charset="0"/>
                <a:cs typeface="Times New Roman" panose="02020603050405020304" pitchFamily="18" charset="0"/>
              </a:rPr>
              <a:t>SKIPCOND 800</a:t>
            </a:r>
            <a:r>
              <a:rPr lang="en-US" sz="2000" dirty="0">
                <a:latin typeface="Calibri" panose="020F0502020204030204" pitchFamily="34" charset="0"/>
                <a:ea typeface="Calibri" panose="020F0502020204030204" pitchFamily="34" charset="0"/>
                <a:cs typeface="Times New Roman" panose="02020603050405020304" pitchFamily="18" charset="0"/>
              </a:rPr>
              <a:t> which means skip the next instruction if the </a:t>
            </a:r>
            <a:r>
              <a:rPr lang="en-US" sz="2000" b="1" dirty="0">
                <a:latin typeface="Calibri" panose="020F0502020204030204" pitchFamily="34" charset="0"/>
                <a:ea typeface="Calibri" panose="020F0502020204030204" pitchFamily="34" charset="0"/>
                <a:cs typeface="Times New Roman" panose="02020603050405020304" pitchFamily="18" charset="0"/>
              </a:rPr>
              <a:t>AC &gt;0</a:t>
            </a:r>
            <a:r>
              <a:rPr lang="en-US" sz="2000" dirty="0">
                <a:latin typeface="Calibri" panose="020F0502020204030204" pitchFamily="34" charset="0"/>
                <a:ea typeface="Calibri" panose="020F0502020204030204" pitchFamily="34" charset="0"/>
                <a:cs typeface="Times New Roman" panose="02020603050405020304" pitchFamily="18"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Note that 000, 400 and 800 are in base 16. They are equivalent to 12 bits (Address part).</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
        <p:nvSpPr>
          <p:cNvPr id="8" name="Date Placeholder 7"/>
          <p:cNvSpPr>
            <a:spLocks noGrp="1"/>
          </p:cNvSpPr>
          <p:nvPr>
            <p:ph type="dt" sz="half" idx="10"/>
          </p:nvPr>
        </p:nvSpPr>
        <p:spPr/>
        <p:txBody>
          <a:bodyPr/>
          <a:lstStyle/>
          <a:p>
            <a:fld id="{FB9CA8F3-CAFF-41F5-8E01-9A7C33C5E30A}" type="datetime3">
              <a:rPr lang="en-US" smtClean="0"/>
              <a:t>14 February 2017</a:t>
            </a:fld>
            <a:endParaRPr lang="en-US"/>
          </a:p>
        </p:txBody>
      </p:sp>
      <p:sp>
        <p:nvSpPr>
          <p:cNvPr id="9" name="Footer Placeholder 8"/>
          <p:cNvSpPr>
            <a:spLocks noGrp="1"/>
          </p:cNvSpPr>
          <p:nvPr>
            <p:ph type="ftr" sz="quarter" idx="11"/>
          </p:nvPr>
        </p:nvSpPr>
        <p:spPr/>
        <p:txBody>
          <a:bodyPr/>
          <a:lstStyle/>
          <a:p>
            <a:r>
              <a:rPr lang="en-US" smtClean="0"/>
              <a:t>T103 - Arab open University</a:t>
            </a:r>
            <a:endParaRPr lang="en-US"/>
          </a:p>
        </p:txBody>
      </p:sp>
      <p:sp>
        <p:nvSpPr>
          <p:cNvPr id="10" name="Slide Number Placeholder 9"/>
          <p:cNvSpPr>
            <a:spLocks noGrp="1"/>
          </p:cNvSpPr>
          <p:nvPr>
            <p:ph type="sldNum" sz="quarter" idx="12"/>
          </p:nvPr>
        </p:nvSpPr>
        <p:spPr/>
        <p:txBody>
          <a:bodyPr/>
          <a:lstStyle/>
          <a:p>
            <a:fld id="{20042AC5-0839-4BB6-BBC0-636ECAAE7EE1}" type="slidenum">
              <a:rPr lang="en-US" smtClean="0"/>
              <a:pPr/>
              <a:t>36</a:t>
            </a:fld>
            <a:endParaRPr lang="en-US"/>
          </a:p>
        </p:txBody>
      </p:sp>
    </p:spTree>
    <p:extLst>
      <p:ext uri="{BB962C8B-B14F-4D97-AF65-F5344CB8AC3E}">
        <p14:creationId xmlns:p14="http://schemas.microsoft.com/office/powerpoint/2010/main" val="202828322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ea typeface="+mn-ea"/>
                <a:cs typeface="Times New Roman" panose="02020603050405020304" pitchFamily="18" charset="0"/>
              </a:rPr>
              <a:t>Register Transfer Notation </a:t>
            </a:r>
            <a:endParaRPr lang="en-US" dirty="0">
              <a:latin typeface="+mn-lt"/>
            </a:endParaRPr>
          </a:p>
        </p:txBody>
      </p:sp>
      <p:sp>
        <p:nvSpPr>
          <p:cNvPr id="4" name="Rectangle 3"/>
          <p:cNvSpPr/>
          <p:nvPr/>
        </p:nvSpPr>
        <p:spPr>
          <a:xfrm>
            <a:off x="1066800" y="990601"/>
            <a:ext cx="7696200" cy="4330416"/>
          </a:xfrm>
          <a:prstGeom prst="rect">
            <a:avLst/>
          </a:prstGeom>
        </p:spPr>
        <p:txBody>
          <a:bodyPr wrap="square">
            <a:spAutoFit/>
          </a:bodyPr>
          <a:lstStyle/>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MARIE instruction appears to be very simplistic.</a:t>
            </a:r>
          </a:p>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Actually, at the component level, each instruction involves multiple operations called “</a:t>
            </a:r>
            <a:r>
              <a:rPr lang="en-US" sz="2000" b="1" i="1" dirty="0">
                <a:latin typeface="Calibri" panose="020F0502020204030204" pitchFamily="34" charset="0"/>
                <a:ea typeface="Calibri" panose="020F0502020204030204" pitchFamily="34" charset="0"/>
                <a:cs typeface="Arial" panose="020B0604020202020204" pitchFamily="34" charset="0"/>
              </a:rPr>
              <a:t>micro-operations</a:t>
            </a:r>
            <a:r>
              <a:rPr lang="en-US" sz="2000" i="1" dirty="0">
                <a:latin typeface="Calibri" panose="020F0502020204030204" pitchFamily="34" charset="0"/>
                <a:ea typeface="Calibri" panose="020F0502020204030204" pitchFamily="34" charset="0"/>
                <a:cs typeface="Arial" panose="020B0604020202020204" pitchFamily="34" charset="0"/>
              </a:rPr>
              <a:t>”</a:t>
            </a:r>
            <a:endParaRPr lang="en-US" sz="20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2000" b="1" dirty="0">
                <a:latin typeface="Calibri" panose="020F0502020204030204" pitchFamily="34" charset="0"/>
                <a:ea typeface="Calibri" panose="020F0502020204030204" pitchFamily="34" charset="0"/>
                <a:cs typeface="Arial" panose="020B0604020202020204" pitchFamily="34" charset="0"/>
              </a:rPr>
              <a:t>Register Transfer Language </a:t>
            </a:r>
            <a:r>
              <a:rPr lang="en-US" sz="2000" dirty="0">
                <a:latin typeface="Calibri" panose="020F0502020204030204" pitchFamily="34" charset="0"/>
                <a:ea typeface="Calibri" panose="020F0502020204030204" pitchFamily="34" charset="0"/>
                <a:cs typeface="Arial" panose="020B0604020202020204" pitchFamily="34" charset="0"/>
              </a:rPr>
              <a:t>(</a:t>
            </a:r>
            <a:r>
              <a:rPr lang="en-US" sz="2000" b="1" dirty="0">
                <a:latin typeface="Calibri" panose="020F0502020204030204" pitchFamily="34" charset="0"/>
                <a:ea typeface="Calibri" panose="020F0502020204030204" pitchFamily="34" charset="0"/>
                <a:cs typeface="Arial" panose="020B0604020202020204" pitchFamily="34" charset="0"/>
              </a:rPr>
              <a:t>RTL</a:t>
            </a:r>
            <a:r>
              <a:rPr lang="en-US" sz="2000" dirty="0">
                <a:latin typeface="Calibri" panose="020F0502020204030204" pitchFamily="34" charset="0"/>
                <a:ea typeface="Calibri" panose="020F0502020204030204" pitchFamily="34" charset="0"/>
                <a:cs typeface="Arial" panose="020B0604020202020204" pitchFamily="34" charset="0"/>
              </a:rPr>
              <a:t>), or</a:t>
            </a:r>
            <a:r>
              <a:rPr lang="en-US" sz="2000" b="1" dirty="0">
                <a:latin typeface="Calibri" panose="020F0502020204030204" pitchFamily="34" charset="0"/>
                <a:ea typeface="Calibri" panose="020F0502020204030204" pitchFamily="34" charset="0"/>
                <a:cs typeface="Arial" panose="020B0604020202020204" pitchFamily="34" charset="0"/>
              </a:rPr>
              <a:t> Register Transfer Notation </a:t>
            </a:r>
            <a:r>
              <a:rPr lang="en-US" sz="2000" dirty="0">
                <a:latin typeface="Calibri" panose="020F0502020204030204" pitchFamily="34" charset="0"/>
                <a:ea typeface="Calibri" panose="020F0502020204030204" pitchFamily="34" charset="0"/>
                <a:cs typeface="Arial" panose="020B0604020202020204" pitchFamily="34" charset="0"/>
              </a:rPr>
              <a:t>(</a:t>
            </a:r>
            <a:r>
              <a:rPr lang="en-US" sz="2000" b="1" dirty="0">
                <a:latin typeface="Calibri" panose="020F0502020204030204" pitchFamily="34" charset="0"/>
                <a:ea typeface="Calibri" panose="020F0502020204030204" pitchFamily="34" charset="0"/>
                <a:cs typeface="Arial" panose="020B0604020202020204" pitchFamily="34" charset="0"/>
              </a:rPr>
              <a:t>RTN</a:t>
            </a:r>
            <a:r>
              <a:rPr lang="en-US" sz="2000" dirty="0">
                <a:latin typeface="Calibri" panose="020F0502020204030204" pitchFamily="34" charset="0"/>
                <a:ea typeface="Calibri" panose="020F0502020204030204" pitchFamily="34" charset="0"/>
                <a:cs typeface="Arial" panose="020B0604020202020204" pitchFamily="34" charset="0"/>
              </a:rPr>
              <a:t>) specifies the exact sequence of micro-operations that are carried out by an instruction.</a:t>
            </a:r>
          </a:p>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  </a:t>
            </a:r>
          </a:p>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In the MARIE RTL, we will use the following notations:</a:t>
            </a:r>
          </a:p>
          <a:p>
            <a:pPr marL="342900" marR="0" lvl="0" indent="-342900">
              <a:lnSpc>
                <a:spcPct val="107000"/>
              </a:lnSpc>
              <a:spcBef>
                <a:spcPts val="0"/>
              </a:spcBef>
              <a:spcAft>
                <a:spcPts val="0"/>
              </a:spcAft>
              <a:buFont typeface="Calibri" panose="020F0502020204030204" pitchFamily="34" charset="0"/>
              <a:buChar char="-"/>
            </a:pPr>
            <a:r>
              <a:rPr lang="en-US" sz="2000" dirty="0">
                <a:latin typeface="Calibri" panose="020F0502020204030204" pitchFamily="34" charset="0"/>
                <a:ea typeface="Calibri" panose="020F0502020204030204" pitchFamily="34" charset="0"/>
                <a:cs typeface="Times New Roman" panose="02020603050405020304" pitchFamily="18" charset="0"/>
              </a:rPr>
              <a:t>M[X]: to indicate the actual data value stored in memory location X</a:t>
            </a:r>
          </a:p>
          <a:p>
            <a:pPr marL="342900" marR="0" lvl="0" indent="-342900">
              <a:lnSpc>
                <a:spcPct val="107000"/>
              </a:lnSpc>
              <a:spcBef>
                <a:spcPts val="0"/>
              </a:spcBef>
              <a:spcAft>
                <a:spcPts val="800"/>
              </a:spcAft>
              <a:buFont typeface="Calibri" panose="020F0502020204030204" pitchFamily="34" charset="0"/>
              <a:buChar char="-"/>
            </a:pPr>
            <a:r>
              <a:rPr lang="en-US" sz="2000" dirty="0">
                <a:latin typeface="Calibri" panose="020F0502020204030204" pitchFamily="34" charset="0"/>
                <a:ea typeface="Calibri" panose="020F0502020204030204" pitchFamily="34" charset="0"/>
                <a:cs typeface="Times New Roman" panose="02020603050405020304" pitchFamily="18" charset="0"/>
              </a:rPr>
              <a:t>←: to indicate the transfer of bytes to a register or memory location</a:t>
            </a:r>
          </a:p>
          <a:p>
            <a:pPr>
              <a:lnSpc>
                <a:spcPct val="107000"/>
              </a:lnSpc>
              <a:spcAft>
                <a:spcPts val="800"/>
              </a:spcAft>
            </a:pPr>
            <a:r>
              <a:rPr lang="en-US" sz="2000" dirty="0">
                <a:latin typeface="Calibri" panose="020F0502020204030204" pitchFamily="34" charset="0"/>
                <a:ea typeface="Calibri" panose="020F0502020204030204" pitchFamily="34" charset="0"/>
                <a:cs typeface="Arial" panose="020B0604020202020204" pitchFamily="34" charset="0"/>
              </a:rPr>
              <a:t>We will present the RTL for each of the instructions in the ISA for MARIE.</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5" name="Date Placeholder 4"/>
          <p:cNvSpPr>
            <a:spLocks noGrp="1"/>
          </p:cNvSpPr>
          <p:nvPr>
            <p:ph type="dt" sz="half" idx="10"/>
          </p:nvPr>
        </p:nvSpPr>
        <p:spPr/>
        <p:txBody>
          <a:bodyPr/>
          <a:lstStyle/>
          <a:p>
            <a:fld id="{C2FA65CF-0AD9-4ADE-B233-E1AB93ACFA89}"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37</a:t>
            </a:fld>
            <a:endParaRPr lang="en-US"/>
          </a:p>
        </p:txBody>
      </p:sp>
    </p:spTree>
    <p:extLst>
      <p:ext uri="{BB962C8B-B14F-4D97-AF65-F5344CB8AC3E}">
        <p14:creationId xmlns:p14="http://schemas.microsoft.com/office/powerpoint/2010/main" val="279266579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 Transfer </a:t>
            </a:r>
            <a:r>
              <a:rPr lang="en-US" dirty="0" smtClean="0"/>
              <a:t>Notation</a:t>
            </a:r>
            <a:endParaRPr lang="en-US" dirty="0"/>
          </a:p>
        </p:txBody>
      </p:sp>
      <p:sp>
        <p:nvSpPr>
          <p:cNvPr id="4" name="Content Placeholder 3"/>
          <p:cNvSpPr>
            <a:spLocks noGrp="1"/>
          </p:cNvSpPr>
          <p:nvPr>
            <p:ph idx="1"/>
          </p:nvPr>
        </p:nvSpPr>
        <p:spPr/>
        <p:txBody>
          <a:bodyPr>
            <a:normAutofit fontScale="92500" lnSpcReduction="10000"/>
          </a:bodyPr>
          <a:lstStyle/>
          <a:p>
            <a:r>
              <a:rPr lang="en-US" b="1" dirty="0">
                <a:solidFill>
                  <a:srgbClr val="FF0000"/>
                </a:solidFill>
              </a:rPr>
              <a:t>Load </a:t>
            </a:r>
            <a:r>
              <a:rPr lang="en-US" b="1" i="1" dirty="0" smtClean="0">
                <a:solidFill>
                  <a:srgbClr val="FF0000"/>
                </a:solidFill>
              </a:rPr>
              <a:t>X </a:t>
            </a:r>
            <a:r>
              <a:rPr lang="en-US" b="1" i="1" dirty="0" smtClean="0"/>
              <a:t>	</a:t>
            </a:r>
            <a:r>
              <a:rPr lang="en-US" sz="2000" i="1" dirty="0" smtClean="0"/>
              <a:t>(</a:t>
            </a:r>
            <a:r>
              <a:rPr lang="en-US" sz="2000" i="1" dirty="0"/>
              <a:t>loads the contents of memory location X into the </a:t>
            </a:r>
            <a:r>
              <a:rPr lang="en-US" sz="2000" i="1" dirty="0" smtClean="0"/>
              <a:t>AC)</a:t>
            </a:r>
            <a:r>
              <a:rPr lang="en-US" sz="2000" b="1" i="1" dirty="0" smtClean="0"/>
              <a:t> </a:t>
            </a:r>
          </a:p>
          <a:p>
            <a:pPr marL="457200" lvl="1" indent="0">
              <a:buNone/>
            </a:pPr>
            <a:r>
              <a:rPr lang="pt-BR" dirty="0"/>
              <a:t>MAR← </a:t>
            </a:r>
            <a:r>
              <a:rPr lang="pt-BR" dirty="0" smtClean="0"/>
              <a:t>X 	 		</a:t>
            </a:r>
            <a:r>
              <a:rPr lang="en-US" sz="2000" dirty="0" smtClean="0"/>
              <a:t>Place the </a:t>
            </a:r>
            <a:r>
              <a:rPr lang="en-US" sz="2000" dirty="0"/>
              <a:t>address </a:t>
            </a:r>
            <a:r>
              <a:rPr lang="en-US" sz="2000" dirty="0" smtClean="0"/>
              <a:t>X in MAR;</a:t>
            </a:r>
            <a:endParaRPr lang="pt-BR" dirty="0"/>
          </a:p>
          <a:p>
            <a:pPr marL="457200" lvl="1" indent="0">
              <a:spcBef>
                <a:spcPts val="1800"/>
              </a:spcBef>
              <a:buNone/>
            </a:pPr>
            <a:r>
              <a:rPr lang="pt-BR" dirty="0" smtClean="0"/>
              <a:t>MBR</a:t>
            </a:r>
            <a:r>
              <a:rPr lang="pt-BR" dirty="0"/>
              <a:t>← </a:t>
            </a:r>
            <a:r>
              <a:rPr lang="pt-BR" dirty="0" smtClean="0"/>
              <a:t>M[MAR] 		</a:t>
            </a:r>
            <a:r>
              <a:rPr lang="en-US" sz="2000" dirty="0" smtClean="0"/>
              <a:t>The </a:t>
            </a:r>
            <a:r>
              <a:rPr lang="en-US" sz="2000" dirty="0"/>
              <a:t>data M[MAR</a:t>
            </a:r>
            <a:r>
              <a:rPr lang="en-US" sz="2000" dirty="0" smtClean="0"/>
              <a:t>] at location address MAR</a:t>
            </a:r>
          </a:p>
          <a:p>
            <a:pPr marL="457200" lvl="1" indent="0">
              <a:spcBef>
                <a:spcPts val="0"/>
              </a:spcBef>
              <a:buNone/>
            </a:pPr>
            <a:r>
              <a:rPr lang="en-US" sz="2000" dirty="0"/>
              <a:t>	</a:t>
            </a:r>
            <a:r>
              <a:rPr lang="en-US" sz="2000" dirty="0" smtClean="0"/>
              <a:t>			is moved into </a:t>
            </a:r>
            <a:r>
              <a:rPr lang="en-US" sz="2000" dirty="0"/>
              <a:t>the </a:t>
            </a:r>
            <a:r>
              <a:rPr lang="en-US" sz="2000" dirty="0" smtClean="0"/>
              <a:t>MBR;</a:t>
            </a:r>
            <a:endParaRPr lang="pt-BR" sz="2000" dirty="0" smtClean="0"/>
          </a:p>
          <a:p>
            <a:pPr marL="457200" lvl="1" indent="0">
              <a:buNone/>
            </a:pPr>
            <a:r>
              <a:rPr lang="pt-BR" dirty="0" smtClean="0"/>
              <a:t>AC← MBR		</a:t>
            </a:r>
            <a:r>
              <a:rPr lang="en-US" sz="2000" dirty="0" smtClean="0"/>
              <a:t>The content of MBR </a:t>
            </a:r>
            <a:r>
              <a:rPr lang="en-US" sz="2000" dirty="0"/>
              <a:t>is </a:t>
            </a:r>
            <a:r>
              <a:rPr lang="en-US" sz="2000" dirty="0" smtClean="0"/>
              <a:t>placed in </a:t>
            </a:r>
            <a:r>
              <a:rPr lang="en-US" sz="2000" dirty="0"/>
              <a:t>the </a:t>
            </a:r>
            <a:r>
              <a:rPr lang="en-US" sz="2000" dirty="0" smtClean="0"/>
              <a:t>AC.</a:t>
            </a:r>
            <a:endParaRPr lang="en-US" dirty="0" smtClean="0"/>
          </a:p>
          <a:p>
            <a:pPr marL="400050"/>
            <a:r>
              <a:rPr lang="en-US" b="1" dirty="0">
                <a:solidFill>
                  <a:srgbClr val="FF0000"/>
                </a:solidFill>
              </a:rPr>
              <a:t>Store X</a:t>
            </a:r>
            <a:r>
              <a:rPr lang="en-US" b="1" dirty="0"/>
              <a:t> </a:t>
            </a:r>
            <a:r>
              <a:rPr lang="en-US" sz="2000" i="1" dirty="0" smtClean="0"/>
              <a:t>(stores </a:t>
            </a:r>
            <a:r>
              <a:rPr lang="en-US" sz="2000" i="1" dirty="0"/>
              <a:t>the contents of </a:t>
            </a:r>
            <a:r>
              <a:rPr lang="en-US" sz="2000" i="1" dirty="0" smtClean="0"/>
              <a:t>AC into the memory </a:t>
            </a:r>
            <a:r>
              <a:rPr lang="en-US" sz="2000" i="1" dirty="0"/>
              <a:t>location </a:t>
            </a:r>
            <a:r>
              <a:rPr lang="en-US" sz="2000" i="1" dirty="0" smtClean="0"/>
              <a:t>X) </a:t>
            </a:r>
            <a:endParaRPr lang="en-US" sz="2000" i="1" dirty="0"/>
          </a:p>
          <a:p>
            <a:pPr marL="514350" lvl="1" indent="0">
              <a:buNone/>
            </a:pPr>
            <a:r>
              <a:rPr lang="en-US" dirty="0"/>
              <a:t>MAR← </a:t>
            </a:r>
            <a:r>
              <a:rPr lang="en-US" dirty="0" smtClean="0"/>
              <a:t>X			</a:t>
            </a:r>
            <a:r>
              <a:rPr lang="en-US" sz="2100" dirty="0" smtClean="0"/>
              <a:t>Place </a:t>
            </a:r>
            <a:r>
              <a:rPr lang="en-US" sz="2100" dirty="0"/>
              <a:t>the address X in MAR;</a:t>
            </a:r>
          </a:p>
          <a:p>
            <a:pPr marL="514350" lvl="1" indent="0">
              <a:buNone/>
            </a:pPr>
            <a:r>
              <a:rPr lang="en-US" dirty="0" smtClean="0"/>
              <a:t>MBR</a:t>
            </a:r>
            <a:r>
              <a:rPr lang="en-US" dirty="0"/>
              <a:t>← </a:t>
            </a:r>
            <a:r>
              <a:rPr lang="en-US" dirty="0" smtClean="0"/>
              <a:t>AC		</a:t>
            </a:r>
            <a:r>
              <a:rPr lang="en-US" sz="2100" dirty="0"/>
              <a:t>Place the content of AC </a:t>
            </a:r>
            <a:r>
              <a:rPr lang="en-US" sz="2100" dirty="0" smtClean="0"/>
              <a:t>in </a:t>
            </a:r>
            <a:r>
              <a:rPr lang="en-US" sz="2100" dirty="0"/>
              <a:t>MBR</a:t>
            </a:r>
          </a:p>
          <a:p>
            <a:pPr marL="514350" lvl="1" indent="0">
              <a:buNone/>
            </a:pPr>
            <a:r>
              <a:rPr lang="en-US" dirty="0"/>
              <a:t>M[MAR]← </a:t>
            </a:r>
            <a:r>
              <a:rPr lang="en-US" dirty="0" smtClean="0"/>
              <a:t>MBR		</a:t>
            </a:r>
            <a:r>
              <a:rPr lang="en-US" sz="2100" dirty="0" smtClean="0"/>
              <a:t>Place </a:t>
            </a:r>
            <a:r>
              <a:rPr lang="en-US" sz="2100" dirty="0"/>
              <a:t>the content of MBR </a:t>
            </a:r>
            <a:r>
              <a:rPr lang="en-US" sz="2100" dirty="0" smtClean="0"/>
              <a:t>in the memory</a:t>
            </a:r>
          </a:p>
          <a:p>
            <a:pPr marL="514350" lvl="1" indent="0">
              <a:buNone/>
            </a:pPr>
            <a:r>
              <a:rPr lang="en-US" sz="2100" dirty="0"/>
              <a:t>	</a:t>
            </a:r>
            <a:r>
              <a:rPr lang="en-US" sz="2100" dirty="0" smtClean="0"/>
              <a:t>			location MAR (M[MAR] is replaced by MBR)</a:t>
            </a:r>
            <a:endParaRPr lang="en-US" sz="2100" dirty="0"/>
          </a:p>
        </p:txBody>
      </p:sp>
      <p:sp>
        <p:nvSpPr>
          <p:cNvPr id="5" name="Date Placeholder 4"/>
          <p:cNvSpPr>
            <a:spLocks noGrp="1"/>
          </p:cNvSpPr>
          <p:nvPr>
            <p:ph type="dt" sz="half" idx="10"/>
          </p:nvPr>
        </p:nvSpPr>
        <p:spPr/>
        <p:txBody>
          <a:bodyPr/>
          <a:lstStyle/>
          <a:p>
            <a:fld id="{B724C88A-9C16-48D8-AF6D-7BBC698EC82C}"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38</a:t>
            </a:fld>
            <a:endParaRPr lang="en-US"/>
          </a:p>
        </p:txBody>
      </p:sp>
    </p:spTree>
    <p:extLst>
      <p:ext uri="{BB962C8B-B14F-4D97-AF65-F5344CB8AC3E}">
        <p14:creationId xmlns:p14="http://schemas.microsoft.com/office/powerpoint/2010/main" val="92503807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 Transfer Notation </a:t>
            </a:r>
            <a:r>
              <a:rPr lang="en-US" dirty="0" smtClean="0"/>
              <a:t> </a:t>
            </a:r>
            <a:endParaRPr lang="en-US" dirty="0"/>
          </a:p>
        </p:txBody>
      </p:sp>
      <p:sp>
        <p:nvSpPr>
          <p:cNvPr id="4" name="Content Placeholder 3"/>
          <p:cNvSpPr>
            <a:spLocks noGrp="1"/>
          </p:cNvSpPr>
          <p:nvPr>
            <p:ph idx="1"/>
          </p:nvPr>
        </p:nvSpPr>
        <p:spPr/>
        <p:txBody>
          <a:bodyPr>
            <a:normAutofit lnSpcReduction="10000"/>
          </a:bodyPr>
          <a:lstStyle/>
          <a:p>
            <a:r>
              <a:rPr lang="en-US" b="1" dirty="0">
                <a:solidFill>
                  <a:srgbClr val="FF0000"/>
                </a:solidFill>
              </a:rPr>
              <a:t>Add </a:t>
            </a:r>
            <a:r>
              <a:rPr lang="en-US" b="1" dirty="0" smtClean="0">
                <a:solidFill>
                  <a:srgbClr val="FF0000"/>
                </a:solidFill>
              </a:rPr>
              <a:t>X</a:t>
            </a:r>
            <a:r>
              <a:rPr lang="en-US" b="1" dirty="0" smtClean="0"/>
              <a:t> 	</a:t>
            </a:r>
            <a:r>
              <a:rPr lang="en-US" sz="2000" i="1" dirty="0" smtClean="0"/>
              <a:t>(The </a:t>
            </a:r>
            <a:r>
              <a:rPr lang="en-US" sz="2000" i="1" dirty="0"/>
              <a:t>data value stored at address X is added to the </a:t>
            </a:r>
            <a:r>
              <a:rPr lang="en-US" sz="2000" i="1" dirty="0" smtClean="0"/>
              <a:t>AC).</a:t>
            </a:r>
            <a:endParaRPr lang="en-US" i="1" dirty="0"/>
          </a:p>
          <a:p>
            <a:pPr marL="457200" lvl="1" indent="0">
              <a:buNone/>
            </a:pPr>
            <a:r>
              <a:rPr lang="en-US" dirty="0" smtClean="0"/>
              <a:t>MAR</a:t>
            </a:r>
            <a:r>
              <a:rPr lang="en-US" dirty="0"/>
              <a:t>← </a:t>
            </a:r>
            <a:r>
              <a:rPr lang="en-US" dirty="0" smtClean="0"/>
              <a:t>X		 	</a:t>
            </a:r>
            <a:r>
              <a:rPr lang="en-US" sz="1900" dirty="0" smtClean="0"/>
              <a:t>Place </a:t>
            </a:r>
            <a:r>
              <a:rPr lang="en-US" sz="1900" dirty="0"/>
              <a:t>the address X in MAR;</a:t>
            </a:r>
          </a:p>
          <a:p>
            <a:pPr marL="457200" lvl="1" indent="0">
              <a:buNone/>
            </a:pPr>
            <a:r>
              <a:rPr lang="en-US" dirty="0"/>
              <a:t>MBR← </a:t>
            </a:r>
            <a:r>
              <a:rPr lang="en-US" dirty="0" smtClean="0"/>
              <a:t>M[MAR]	</a:t>
            </a:r>
            <a:r>
              <a:rPr lang="en-US" sz="1900" dirty="0" smtClean="0"/>
              <a:t>Place </a:t>
            </a:r>
            <a:r>
              <a:rPr lang="en-US" sz="1900" dirty="0"/>
              <a:t>the data M[MAR] at </a:t>
            </a:r>
            <a:r>
              <a:rPr lang="en-US" sz="1900" dirty="0" smtClean="0"/>
              <a:t>location address</a:t>
            </a:r>
          </a:p>
          <a:p>
            <a:pPr marL="457200" lvl="1" indent="0">
              <a:buNone/>
            </a:pPr>
            <a:r>
              <a:rPr lang="en-US" sz="1900" dirty="0"/>
              <a:t>	</a:t>
            </a:r>
            <a:r>
              <a:rPr lang="en-US" sz="1900" dirty="0" smtClean="0"/>
              <a:t>			MAR </a:t>
            </a:r>
            <a:r>
              <a:rPr lang="en-US" sz="1900" dirty="0"/>
              <a:t>in </a:t>
            </a:r>
            <a:r>
              <a:rPr lang="en-US" sz="1900" dirty="0" smtClean="0"/>
              <a:t>MBR;</a:t>
            </a:r>
            <a:endParaRPr lang="en-US" sz="1900" dirty="0"/>
          </a:p>
          <a:p>
            <a:pPr marL="457200" lvl="1" indent="0">
              <a:buNone/>
            </a:pPr>
            <a:r>
              <a:rPr lang="en-US" dirty="0"/>
              <a:t>AC← AC + </a:t>
            </a:r>
            <a:r>
              <a:rPr lang="en-US" dirty="0" smtClean="0"/>
              <a:t>MBR		</a:t>
            </a:r>
            <a:r>
              <a:rPr lang="en-US" sz="1900" dirty="0"/>
              <a:t>Place the sum AC + MBR in </a:t>
            </a:r>
            <a:r>
              <a:rPr lang="en-US" sz="1900" dirty="0" smtClean="0"/>
              <a:t>AC</a:t>
            </a:r>
          </a:p>
          <a:p>
            <a:pPr marL="400050"/>
            <a:r>
              <a:rPr lang="en-US" b="1" dirty="0" err="1" smtClean="0">
                <a:solidFill>
                  <a:srgbClr val="FF0000"/>
                </a:solidFill>
              </a:rPr>
              <a:t>Subt</a:t>
            </a:r>
            <a:r>
              <a:rPr lang="en-US" b="1" dirty="0" smtClean="0">
                <a:solidFill>
                  <a:srgbClr val="FF0000"/>
                </a:solidFill>
              </a:rPr>
              <a:t> X </a:t>
            </a:r>
            <a:r>
              <a:rPr lang="en-US" b="1" i="1" dirty="0" smtClean="0"/>
              <a:t>	</a:t>
            </a:r>
            <a:r>
              <a:rPr lang="en-US" sz="2000" i="1" dirty="0" smtClean="0">
                <a:solidFill>
                  <a:prstClr val="black"/>
                </a:solidFill>
              </a:rPr>
              <a:t>(</a:t>
            </a:r>
            <a:r>
              <a:rPr lang="en-US" sz="2000" i="1" dirty="0">
                <a:solidFill>
                  <a:prstClr val="black"/>
                </a:solidFill>
              </a:rPr>
              <a:t>The data value stored at address X is </a:t>
            </a:r>
            <a:r>
              <a:rPr lang="en-US" sz="2000" i="1" dirty="0" smtClean="0">
                <a:solidFill>
                  <a:prstClr val="black"/>
                </a:solidFill>
              </a:rPr>
              <a:t>subtracted from AC).</a:t>
            </a:r>
          </a:p>
          <a:p>
            <a:pPr marL="457200" lvl="1" indent="0">
              <a:buNone/>
            </a:pPr>
            <a:r>
              <a:rPr lang="en-US" dirty="0">
                <a:solidFill>
                  <a:prstClr val="black"/>
                </a:solidFill>
              </a:rPr>
              <a:t>MAR← X		 	</a:t>
            </a:r>
            <a:r>
              <a:rPr lang="en-US" sz="1900" dirty="0">
                <a:solidFill>
                  <a:prstClr val="black"/>
                </a:solidFill>
              </a:rPr>
              <a:t>Place the address X in MAR;</a:t>
            </a:r>
          </a:p>
          <a:p>
            <a:pPr marL="457200" lvl="1" indent="0">
              <a:buNone/>
            </a:pPr>
            <a:r>
              <a:rPr lang="en-US" dirty="0">
                <a:solidFill>
                  <a:prstClr val="black"/>
                </a:solidFill>
              </a:rPr>
              <a:t>MBR← M[MAR]	</a:t>
            </a:r>
            <a:r>
              <a:rPr lang="en-US" sz="1900" dirty="0">
                <a:solidFill>
                  <a:prstClr val="black"/>
                </a:solidFill>
              </a:rPr>
              <a:t>Place the data M[MAR] at location address</a:t>
            </a:r>
          </a:p>
          <a:p>
            <a:pPr marL="457200" lvl="1" indent="0">
              <a:buNone/>
            </a:pPr>
            <a:r>
              <a:rPr lang="en-US" sz="1900" dirty="0">
                <a:solidFill>
                  <a:prstClr val="black"/>
                </a:solidFill>
              </a:rPr>
              <a:t>				MAR in MBR;</a:t>
            </a:r>
          </a:p>
          <a:p>
            <a:pPr marL="457200" lvl="1" indent="0">
              <a:buNone/>
            </a:pPr>
            <a:r>
              <a:rPr lang="en-US" dirty="0">
                <a:solidFill>
                  <a:prstClr val="black"/>
                </a:solidFill>
              </a:rPr>
              <a:t>AC← AC </a:t>
            </a:r>
            <a:r>
              <a:rPr lang="en-US" dirty="0" smtClean="0">
                <a:solidFill>
                  <a:prstClr val="black"/>
                </a:solidFill>
              </a:rPr>
              <a:t>- </a:t>
            </a:r>
            <a:r>
              <a:rPr lang="en-US" dirty="0">
                <a:solidFill>
                  <a:prstClr val="black"/>
                </a:solidFill>
              </a:rPr>
              <a:t>MBR		</a:t>
            </a:r>
            <a:r>
              <a:rPr lang="en-US" sz="1900" dirty="0">
                <a:solidFill>
                  <a:prstClr val="black"/>
                </a:solidFill>
              </a:rPr>
              <a:t>Place </a:t>
            </a:r>
            <a:r>
              <a:rPr lang="en-US" sz="1900" dirty="0" smtClean="0">
                <a:solidFill>
                  <a:prstClr val="black"/>
                </a:solidFill>
              </a:rPr>
              <a:t>AC - </a:t>
            </a:r>
            <a:r>
              <a:rPr lang="en-US" sz="1900" dirty="0">
                <a:solidFill>
                  <a:prstClr val="black"/>
                </a:solidFill>
              </a:rPr>
              <a:t>MBR in </a:t>
            </a:r>
            <a:r>
              <a:rPr lang="en-US" sz="1900" dirty="0" smtClean="0">
                <a:solidFill>
                  <a:prstClr val="black"/>
                </a:solidFill>
              </a:rPr>
              <a:t>AC</a:t>
            </a:r>
            <a:endParaRPr lang="en-US" sz="1900" dirty="0">
              <a:solidFill>
                <a:prstClr val="black"/>
              </a:solidFill>
            </a:endParaRPr>
          </a:p>
        </p:txBody>
      </p:sp>
      <p:sp>
        <p:nvSpPr>
          <p:cNvPr id="5" name="Date Placeholder 4"/>
          <p:cNvSpPr>
            <a:spLocks noGrp="1"/>
          </p:cNvSpPr>
          <p:nvPr>
            <p:ph type="dt" sz="half" idx="10"/>
          </p:nvPr>
        </p:nvSpPr>
        <p:spPr/>
        <p:txBody>
          <a:bodyPr/>
          <a:lstStyle/>
          <a:p>
            <a:fld id="{AD773834-5A18-4361-9838-3C714B0F39E3}"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39</a:t>
            </a:fld>
            <a:endParaRPr lang="en-US"/>
          </a:p>
        </p:txBody>
      </p:sp>
    </p:spTree>
    <p:extLst>
      <p:ext uri="{BB962C8B-B14F-4D97-AF65-F5344CB8AC3E}">
        <p14:creationId xmlns:p14="http://schemas.microsoft.com/office/powerpoint/2010/main" val="181311188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 Transfer Notation </a:t>
            </a:r>
            <a:r>
              <a:rPr lang="en-US" dirty="0" smtClean="0"/>
              <a:t> </a:t>
            </a:r>
            <a:endParaRPr lang="en-US" dirty="0"/>
          </a:p>
        </p:txBody>
      </p:sp>
      <p:sp>
        <p:nvSpPr>
          <p:cNvPr id="4" name="Content Placeholder 3"/>
          <p:cNvSpPr>
            <a:spLocks noGrp="1"/>
          </p:cNvSpPr>
          <p:nvPr>
            <p:ph idx="1"/>
          </p:nvPr>
        </p:nvSpPr>
        <p:spPr/>
        <p:txBody>
          <a:bodyPr>
            <a:normAutofit fontScale="92500" lnSpcReduction="10000"/>
          </a:bodyPr>
          <a:lstStyle/>
          <a:p>
            <a:r>
              <a:rPr lang="en-US" b="1" dirty="0" smtClean="0">
                <a:solidFill>
                  <a:srgbClr val="FF0000"/>
                </a:solidFill>
              </a:rPr>
              <a:t>Input </a:t>
            </a:r>
            <a:r>
              <a:rPr lang="en-US" b="1" dirty="0" smtClean="0"/>
              <a:t>	</a:t>
            </a:r>
            <a:r>
              <a:rPr lang="en-US" sz="2200" i="1" dirty="0" smtClean="0"/>
              <a:t>(</a:t>
            </a:r>
            <a:r>
              <a:rPr lang="en-US" sz="2200" i="1" dirty="0"/>
              <a:t>Inputs a value from the keyboard into AC)</a:t>
            </a:r>
          </a:p>
          <a:p>
            <a:pPr marL="457200" lvl="1" indent="0">
              <a:buNone/>
            </a:pPr>
            <a:r>
              <a:rPr lang="en-US" dirty="0" smtClean="0"/>
              <a:t>AC← </a:t>
            </a:r>
            <a:r>
              <a:rPr lang="en-US" dirty="0" err="1" smtClean="0"/>
              <a:t>InREG</a:t>
            </a:r>
            <a:r>
              <a:rPr lang="en-US" dirty="0"/>
              <a:t> </a:t>
            </a:r>
            <a:r>
              <a:rPr lang="en-US" dirty="0" smtClean="0"/>
              <a:t>  	</a:t>
            </a:r>
            <a:r>
              <a:rPr lang="en-US" sz="1900" dirty="0" smtClean="0"/>
              <a:t>Place the content of </a:t>
            </a:r>
            <a:r>
              <a:rPr lang="en-US" sz="1900" dirty="0" err="1" smtClean="0"/>
              <a:t>InREG</a:t>
            </a:r>
            <a:r>
              <a:rPr lang="en-US" sz="1900" dirty="0" smtClean="0"/>
              <a:t> (contains the input) in the</a:t>
            </a:r>
          </a:p>
          <a:p>
            <a:pPr marL="457200" lvl="1" indent="0">
              <a:buNone/>
            </a:pPr>
            <a:r>
              <a:rPr lang="en-US" sz="1900" dirty="0"/>
              <a:t>	</a:t>
            </a:r>
            <a:r>
              <a:rPr lang="en-US" sz="1900" dirty="0" smtClean="0"/>
              <a:t>		AC.</a:t>
            </a:r>
          </a:p>
          <a:p>
            <a:r>
              <a:rPr lang="en-US" b="1" dirty="0" smtClean="0">
                <a:solidFill>
                  <a:srgbClr val="FF0000"/>
                </a:solidFill>
              </a:rPr>
              <a:t>Output 	</a:t>
            </a:r>
            <a:r>
              <a:rPr lang="en-US" sz="2200" i="1" dirty="0" smtClean="0"/>
              <a:t>(</a:t>
            </a:r>
            <a:r>
              <a:rPr lang="en-US" sz="2200" i="1" dirty="0"/>
              <a:t>Output the value in AC to the display)</a:t>
            </a:r>
          </a:p>
          <a:p>
            <a:pPr marL="400050" lvl="1" indent="0">
              <a:buNone/>
            </a:pPr>
            <a:r>
              <a:rPr lang="en-US" dirty="0" err="1" smtClean="0"/>
              <a:t>OutREG</a:t>
            </a:r>
            <a:r>
              <a:rPr lang="en-US" dirty="0"/>
              <a:t>← </a:t>
            </a:r>
            <a:r>
              <a:rPr lang="en-US" dirty="0" smtClean="0"/>
              <a:t>AC 	</a:t>
            </a:r>
            <a:r>
              <a:rPr lang="en-US" sz="1900" dirty="0" smtClean="0"/>
              <a:t>Place </a:t>
            </a:r>
            <a:r>
              <a:rPr lang="en-US" sz="1900" dirty="0"/>
              <a:t>the content of </a:t>
            </a:r>
            <a:r>
              <a:rPr lang="en-US" sz="1900" dirty="0" smtClean="0"/>
              <a:t>AC </a:t>
            </a:r>
            <a:r>
              <a:rPr lang="en-US" sz="1900" dirty="0"/>
              <a:t>(contains the </a:t>
            </a:r>
            <a:r>
              <a:rPr lang="en-US" sz="1900" dirty="0" smtClean="0"/>
              <a:t>output</a:t>
            </a:r>
            <a:r>
              <a:rPr lang="en-US" sz="1900" dirty="0"/>
              <a:t>) </a:t>
            </a:r>
            <a:r>
              <a:rPr lang="en-US" sz="1900" dirty="0" smtClean="0"/>
              <a:t>in the</a:t>
            </a:r>
          </a:p>
          <a:p>
            <a:pPr marL="400050" lvl="1" indent="0">
              <a:buNone/>
            </a:pPr>
            <a:r>
              <a:rPr lang="en-US" sz="1900" dirty="0"/>
              <a:t>	</a:t>
            </a:r>
            <a:r>
              <a:rPr lang="en-US" sz="1900" dirty="0" smtClean="0"/>
              <a:t>		</a:t>
            </a:r>
            <a:r>
              <a:rPr lang="en-US" sz="1900" dirty="0" err="1" smtClean="0"/>
              <a:t>OutREG</a:t>
            </a:r>
            <a:r>
              <a:rPr lang="en-US" sz="1900" dirty="0" smtClean="0"/>
              <a:t> (to sent data to the display)</a:t>
            </a:r>
          </a:p>
          <a:p>
            <a:r>
              <a:rPr lang="en-US" b="1" dirty="0" smtClean="0">
                <a:solidFill>
                  <a:srgbClr val="FF0000"/>
                </a:solidFill>
              </a:rPr>
              <a:t>Halt</a:t>
            </a:r>
            <a:r>
              <a:rPr lang="en-US" b="1" dirty="0" smtClean="0"/>
              <a:t>	</a:t>
            </a:r>
            <a:r>
              <a:rPr lang="en-US" sz="2200" i="1" dirty="0"/>
              <a:t>(Terminate the </a:t>
            </a:r>
            <a:r>
              <a:rPr lang="en-US" sz="2200" i="1" dirty="0" smtClean="0"/>
              <a:t>program)</a:t>
            </a:r>
          </a:p>
          <a:p>
            <a:pPr marL="457200" lvl="1" indent="0">
              <a:buNone/>
            </a:pPr>
            <a:r>
              <a:rPr lang="en-US" dirty="0" smtClean="0"/>
              <a:t>no need for any RTL!</a:t>
            </a:r>
          </a:p>
          <a:p>
            <a:r>
              <a:rPr lang="en-US" b="1" dirty="0" smtClean="0">
                <a:solidFill>
                  <a:srgbClr val="FF0000"/>
                </a:solidFill>
              </a:rPr>
              <a:t>Jump X</a:t>
            </a:r>
            <a:r>
              <a:rPr lang="en-US" b="1" dirty="0" smtClean="0"/>
              <a:t>	</a:t>
            </a:r>
            <a:r>
              <a:rPr lang="en-US" sz="2000" i="1" dirty="0" smtClean="0">
                <a:solidFill>
                  <a:prstClr val="black"/>
                </a:solidFill>
              </a:rPr>
              <a:t>(unconditional </a:t>
            </a:r>
            <a:r>
              <a:rPr lang="en-US" sz="2000" i="1" dirty="0">
                <a:solidFill>
                  <a:prstClr val="black"/>
                </a:solidFill>
              </a:rPr>
              <a:t>branch to the given address, X)</a:t>
            </a:r>
          </a:p>
          <a:p>
            <a:pPr marL="457200" lvl="1" indent="0">
              <a:buNone/>
            </a:pPr>
            <a:r>
              <a:rPr lang="en-US" dirty="0"/>
              <a:t>PC← </a:t>
            </a:r>
            <a:r>
              <a:rPr lang="en-US" i="1" dirty="0" smtClean="0"/>
              <a:t>X		</a:t>
            </a:r>
            <a:r>
              <a:rPr lang="en-US" sz="1900" dirty="0" smtClean="0">
                <a:solidFill>
                  <a:prstClr val="black"/>
                </a:solidFill>
              </a:rPr>
              <a:t>Load </a:t>
            </a:r>
            <a:r>
              <a:rPr lang="en-US" sz="1900" dirty="0">
                <a:solidFill>
                  <a:prstClr val="black"/>
                </a:solidFill>
              </a:rPr>
              <a:t>X into the PC</a:t>
            </a:r>
          </a:p>
        </p:txBody>
      </p:sp>
      <p:sp>
        <p:nvSpPr>
          <p:cNvPr id="5" name="Date Placeholder 4"/>
          <p:cNvSpPr>
            <a:spLocks noGrp="1"/>
          </p:cNvSpPr>
          <p:nvPr>
            <p:ph type="dt" sz="half" idx="10"/>
          </p:nvPr>
        </p:nvSpPr>
        <p:spPr/>
        <p:txBody>
          <a:bodyPr/>
          <a:lstStyle/>
          <a:p>
            <a:fld id="{924385D4-AEDD-4B9B-A186-0CFE59A80DED}"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40</a:t>
            </a:fld>
            <a:endParaRPr lang="en-US"/>
          </a:p>
        </p:txBody>
      </p:sp>
    </p:spTree>
    <p:extLst>
      <p:ext uri="{BB962C8B-B14F-4D97-AF65-F5344CB8AC3E}">
        <p14:creationId xmlns:p14="http://schemas.microsoft.com/office/powerpoint/2010/main" val="257394975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 Transfer Notation </a:t>
            </a:r>
            <a:r>
              <a:rPr lang="en-US" dirty="0" smtClean="0"/>
              <a:t> </a:t>
            </a:r>
            <a:endParaRPr lang="en-US" dirty="0"/>
          </a:p>
        </p:txBody>
      </p:sp>
      <p:sp>
        <p:nvSpPr>
          <p:cNvPr id="4" name="Content Placeholder 3"/>
          <p:cNvSpPr>
            <a:spLocks noGrp="1"/>
          </p:cNvSpPr>
          <p:nvPr>
            <p:ph idx="1"/>
          </p:nvPr>
        </p:nvSpPr>
        <p:spPr>
          <a:xfrm>
            <a:off x="838200" y="1524000"/>
            <a:ext cx="8229600" cy="4525963"/>
          </a:xfrm>
        </p:spPr>
        <p:txBody>
          <a:bodyPr>
            <a:normAutofit/>
          </a:bodyPr>
          <a:lstStyle/>
          <a:p>
            <a:r>
              <a:rPr lang="en-US" b="1" dirty="0" err="1" smtClean="0">
                <a:solidFill>
                  <a:srgbClr val="FF0000"/>
                </a:solidFill>
              </a:rPr>
              <a:t>Skipcond</a:t>
            </a:r>
            <a:endParaRPr lang="en-US" b="1" dirty="0" smtClean="0">
              <a:solidFill>
                <a:srgbClr val="FF0000"/>
              </a:solidFill>
            </a:endParaRPr>
          </a:p>
          <a:p>
            <a:pPr marL="400050" lvl="1" indent="0">
              <a:buNone/>
            </a:pPr>
            <a:r>
              <a:rPr lang="en-US" dirty="0"/>
              <a:t>if IR[11–10] = 00 then </a:t>
            </a:r>
            <a:r>
              <a:rPr lang="en-US" dirty="0" smtClean="0"/>
              <a:t>		</a:t>
            </a:r>
            <a:r>
              <a:rPr lang="en-US" sz="1800" i="1" dirty="0" smtClean="0"/>
              <a:t>{</a:t>
            </a:r>
            <a:r>
              <a:rPr lang="en-US" sz="1800" i="1" dirty="0"/>
              <a:t>if </a:t>
            </a:r>
            <a:r>
              <a:rPr lang="en-US" sz="1800" i="1" dirty="0" smtClean="0"/>
              <a:t>bits 10 and 11 </a:t>
            </a:r>
            <a:r>
              <a:rPr lang="en-US" sz="1800" i="1" dirty="0"/>
              <a:t>in the IR are both 0}</a:t>
            </a:r>
            <a:endParaRPr lang="en-US" i="1" dirty="0"/>
          </a:p>
          <a:p>
            <a:pPr marL="400050" lvl="1" indent="0">
              <a:buNone/>
            </a:pPr>
            <a:r>
              <a:rPr lang="en-US" dirty="0"/>
              <a:t> </a:t>
            </a:r>
            <a:r>
              <a:rPr lang="en-US" dirty="0" smtClean="0"/>
              <a:t> if </a:t>
            </a:r>
            <a:r>
              <a:rPr lang="en-US" dirty="0"/>
              <a:t>AC &lt; 0 then PC ← PC+1</a:t>
            </a:r>
          </a:p>
          <a:p>
            <a:pPr marL="400050" lvl="1" indent="0">
              <a:buNone/>
            </a:pPr>
            <a:r>
              <a:rPr lang="en-US" dirty="0"/>
              <a:t> </a:t>
            </a:r>
            <a:r>
              <a:rPr lang="en-US" dirty="0" smtClean="0"/>
              <a:t>   else if </a:t>
            </a:r>
            <a:r>
              <a:rPr lang="en-US" dirty="0"/>
              <a:t>IR[11–10] = 01 then </a:t>
            </a:r>
            <a:r>
              <a:rPr lang="en-US" dirty="0" smtClean="0"/>
              <a:t>	</a:t>
            </a:r>
            <a:r>
              <a:rPr lang="en-US" sz="1800" dirty="0" smtClean="0"/>
              <a:t>{</a:t>
            </a:r>
            <a:r>
              <a:rPr lang="en-US" sz="1800" dirty="0"/>
              <a:t>if bit 11 = 0 and bit 10 = 1}</a:t>
            </a:r>
            <a:endParaRPr lang="en-US" dirty="0"/>
          </a:p>
          <a:p>
            <a:pPr marL="400050" lvl="1" indent="0">
              <a:buNone/>
            </a:pPr>
            <a:r>
              <a:rPr lang="en-US" dirty="0" smtClean="0"/>
              <a:t>      if </a:t>
            </a:r>
            <a:r>
              <a:rPr lang="en-US" dirty="0"/>
              <a:t>AC = 0 then PC ← PC + 1</a:t>
            </a:r>
          </a:p>
          <a:p>
            <a:pPr marL="400050" lvl="1" indent="0">
              <a:buNone/>
            </a:pPr>
            <a:r>
              <a:rPr lang="en-US" dirty="0" smtClean="0"/>
              <a:t>        else if </a:t>
            </a:r>
            <a:r>
              <a:rPr lang="en-US" dirty="0"/>
              <a:t>IR[11–10] = 10 then </a:t>
            </a:r>
            <a:r>
              <a:rPr lang="en-US" dirty="0" smtClean="0"/>
              <a:t>	</a:t>
            </a:r>
            <a:r>
              <a:rPr lang="en-US" sz="1800" dirty="0" smtClean="0"/>
              <a:t>{</a:t>
            </a:r>
            <a:r>
              <a:rPr lang="en-US" sz="1800" dirty="0"/>
              <a:t>if bit 11 = 1 and bit 10 = 0}</a:t>
            </a:r>
            <a:endParaRPr lang="en-US" sz="2400" dirty="0"/>
          </a:p>
          <a:p>
            <a:pPr marL="400050" lvl="1" indent="0">
              <a:buNone/>
            </a:pPr>
            <a:r>
              <a:rPr lang="en-US" dirty="0" smtClean="0"/>
              <a:t>          if </a:t>
            </a:r>
            <a:r>
              <a:rPr lang="en-US" dirty="0"/>
              <a:t>AC &gt; 0 then PC ← PC + </a:t>
            </a:r>
            <a:r>
              <a:rPr lang="en-US" dirty="0" smtClean="0"/>
              <a:t>1</a:t>
            </a:r>
          </a:p>
        </p:txBody>
      </p:sp>
      <p:sp>
        <p:nvSpPr>
          <p:cNvPr id="5" name="Date Placeholder 4"/>
          <p:cNvSpPr>
            <a:spLocks noGrp="1"/>
          </p:cNvSpPr>
          <p:nvPr>
            <p:ph type="dt" sz="half" idx="10"/>
          </p:nvPr>
        </p:nvSpPr>
        <p:spPr/>
        <p:txBody>
          <a:bodyPr/>
          <a:lstStyle/>
          <a:p>
            <a:fld id="{EBE02072-B33E-45D3-8B47-4E2F2C50F744}"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41</a:t>
            </a:fld>
            <a:endParaRPr lang="en-US"/>
          </a:p>
        </p:txBody>
      </p:sp>
    </p:spTree>
    <p:extLst>
      <p:ext uri="{BB962C8B-B14F-4D97-AF65-F5344CB8AC3E}">
        <p14:creationId xmlns:p14="http://schemas.microsoft.com/office/powerpoint/2010/main" val="312305446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Register Transfer Notation </a:t>
            </a:r>
            <a:r>
              <a:rPr lang="en-US" dirty="0" smtClean="0"/>
              <a:t> </a:t>
            </a:r>
            <a:endParaRPr lang="en-US" dirty="0"/>
          </a:p>
        </p:txBody>
      </p:sp>
      <p:sp>
        <p:nvSpPr>
          <p:cNvPr id="6" name="Rectangle 5"/>
          <p:cNvSpPr/>
          <p:nvPr/>
        </p:nvSpPr>
        <p:spPr>
          <a:xfrm>
            <a:off x="859548" y="883024"/>
            <a:ext cx="8055852" cy="1259512"/>
          </a:xfrm>
          <a:prstGeom prst="rect">
            <a:avLst/>
          </a:prstGeom>
        </p:spPr>
        <p:txBody>
          <a:bodyPr wrap="square">
            <a:spAutoFit/>
          </a:bodyPr>
          <a:lstStyle/>
          <a:p>
            <a:pPr>
              <a:lnSpc>
                <a:spcPct val="107000"/>
              </a:lnSpc>
              <a:spcBef>
                <a:spcPts val="1500"/>
              </a:spcBef>
              <a:spcAft>
                <a:spcPts val="1700"/>
              </a:spcAft>
            </a:pPr>
            <a:r>
              <a:rPr lang="en-US" sz="2400" b="1" dirty="0">
                <a:solidFill>
                  <a:srgbClr val="FF0000"/>
                </a:solidFill>
                <a:latin typeface="Calibri" panose="020F0502020204030204" pitchFamily="34" charset="0"/>
                <a:ea typeface="Times New Roman" panose="02020603050405020304" pitchFamily="18" charset="0"/>
                <a:cs typeface="Times New Roman" panose="02020603050405020304" pitchFamily="18" charset="0"/>
              </a:rPr>
              <a:t>Machine Cycle</a:t>
            </a:r>
            <a:endParaRPr lang="en-US" dirty="0">
              <a:solidFill>
                <a:srgbClr val="FF0000"/>
              </a:solidFill>
              <a:latin typeface="Calibri" panose="020F0502020204030204" pitchFamily="34" charset="0"/>
              <a:ea typeface="Calibri" panose="020F0502020204030204" pitchFamily="34" charset="0"/>
              <a:cs typeface="Arial" panose="020B0604020202020204" pitchFamily="34" charset="0"/>
            </a:endParaRPr>
          </a:p>
          <a:p>
            <a:r>
              <a:rPr lang="en-US" dirty="0">
                <a:latin typeface="Calibri" panose="020F0502020204030204" pitchFamily="34" charset="0"/>
                <a:ea typeface="Calibri" panose="020F0502020204030204" pitchFamily="34" charset="0"/>
                <a:cs typeface="Arial" panose="020B0604020202020204" pitchFamily="34" charset="0"/>
              </a:rPr>
              <a:t>It is worth mentioning that MARIE, like any other computer architecture, </a:t>
            </a:r>
            <a:r>
              <a:rPr lang="en-US" dirty="0" smtClean="0">
                <a:latin typeface="Calibri" panose="020F0502020204030204" pitchFamily="34" charset="0"/>
                <a:ea typeface="Calibri" panose="020F0502020204030204" pitchFamily="34" charset="0"/>
                <a:cs typeface="Arial" panose="020B0604020202020204" pitchFamily="34" charset="0"/>
              </a:rPr>
              <a:t>follows </a:t>
            </a:r>
            <a:r>
              <a:rPr lang="en-US" dirty="0">
                <a:latin typeface="Calibri" panose="020F0502020204030204" pitchFamily="34" charset="0"/>
                <a:ea typeface="Calibri" panose="020F0502020204030204" pitchFamily="34" charset="0"/>
                <a:cs typeface="Arial" panose="020B0604020202020204" pitchFamily="34" charset="0"/>
              </a:rPr>
              <a:t>the basic machine cycle: </a:t>
            </a:r>
            <a:r>
              <a:rPr lang="en-US" b="1" dirty="0">
                <a:latin typeface="Calibri" panose="020F0502020204030204" pitchFamily="34" charset="0"/>
                <a:ea typeface="Calibri" panose="020F0502020204030204" pitchFamily="34" charset="0"/>
                <a:cs typeface="Arial" panose="020B0604020202020204" pitchFamily="34" charset="0"/>
              </a:rPr>
              <a:t>the fetch, decode, and execute cycle. </a:t>
            </a:r>
            <a:endParaRPr lang="en-US" sz="2800" dirty="0"/>
          </a:p>
        </p:txBody>
      </p:sp>
      <p:pic>
        <p:nvPicPr>
          <p:cNvPr id="7" name="Picture 6"/>
          <p:cNvPicPr/>
          <p:nvPr/>
        </p:nvPicPr>
        <p:blipFill>
          <a:blip r:embed="rId2"/>
          <a:stretch>
            <a:fillRect/>
          </a:stretch>
        </p:blipFill>
        <p:spPr>
          <a:xfrm>
            <a:off x="4793344" y="2085649"/>
            <a:ext cx="4280646" cy="4162751"/>
          </a:xfrm>
          <a:prstGeom prst="rect">
            <a:avLst/>
          </a:prstGeom>
        </p:spPr>
      </p:pic>
      <p:sp>
        <p:nvSpPr>
          <p:cNvPr id="8" name="Rectangle 7"/>
          <p:cNvSpPr/>
          <p:nvPr/>
        </p:nvSpPr>
        <p:spPr>
          <a:xfrm>
            <a:off x="850583" y="2273908"/>
            <a:ext cx="4572000" cy="4059060"/>
          </a:xfrm>
          <a:prstGeom prst="rect">
            <a:avLst/>
          </a:prstGeom>
        </p:spPr>
        <p:txBody>
          <a:bodyPr>
            <a:spAutoFit/>
          </a:bodyPr>
          <a:lstStyle/>
          <a:p>
            <a:pPr marL="342900" lvl="0" indent="-342900">
              <a:lnSpc>
                <a:spcPct val="107000"/>
              </a:lnSpc>
              <a:spcAft>
                <a:spcPts val="800"/>
              </a:spcAft>
              <a:buFont typeface="Times New Roman" panose="02020603050405020304" pitchFamily="18" charset="0"/>
              <a:buChar char="•"/>
              <a:tabLst>
                <a:tab pos="457200" algn="l"/>
              </a:tabLst>
            </a:pPr>
            <a:r>
              <a:rPr lang="en-US" dirty="0">
                <a:latin typeface="Calibri" panose="020F0502020204030204" pitchFamily="34" charset="0"/>
                <a:ea typeface="Calibri" panose="020F0502020204030204" pitchFamily="34" charset="0"/>
                <a:cs typeface="Arial" panose="020B0604020202020204" pitchFamily="34" charset="0"/>
              </a:rPr>
              <a:t>The </a:t>
            </a:r>
            <a:r>
              <a:rPr lang="en-US" i="1" dirty="0">
                <a:latin typeface="Calibri" panose="020F0502020204030204" pitchFamily="34" charset="0"/>
                <a:ea typeface="Calibri" panose="020F0502020204030204" pitchFamily="34" charset="0"/>
                <a:cs typeface="Arial" panose="020B0604020202020204" pitchFamily="34" charset="0"/>
              </a:rPr>
              <a:t>fetch-decode-execute cycle</a:t>
            </a:r>
            <a:r>
              <a:rPr lang="en-US" dirty="0">
                <a:latin typeface="Calibri" panose="020F0502020204030204" pitchFamily="34" charset="0"/>
                <a:ea typeface="Calibri" panose="020F0502020204030204" pitchFamily="34" charset="0"/>
                <a:cs typeface="Arial" panose="020B0604020202020204" pitchFamily="34" charset="0"/>
              </a:rPr>
              <a:t> is the series of steps that a computer carries out when it runs a program.</a:t>
            </a:r>
            <a:endParaRPr lang="en-US" sz="16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Times New Roman" panose="02020603050405020304" pitchFamily="18" charset="0"/>
              <a:buChar char="•"/>
              <a:tabLst>
                <a:tab pos="457200" algn="l"/>
              </a:tabLst>
            </a:pPr>
            <a:r>
              <a:rPr lang="en-US" dirty="0">
                <a:latin typeface="Calibri" panose="020F0502020204030204" pitchFamily="34" charset="0"/>
                <a:ea typeface="Calibri" panose="020F0502020204030204" pitchFamily="34" charset="0"/>
                <a:cs typeface="Arial" panose="020B0604020202020204" pitchFamily="34" charset="0"/>
              </a:rPr>
              <a:t>We first have to </a:t>
            </a:r>
            <a:r>
              <a:rPr lang="en-US" i="1" dirty="0">
                <a:latin typeface="Calibri" panose="020F0502020204030204" pitchFamily="34" charset="0"/>
                <a:ea typeface="Calibri" panose="020F0502020204030204" pitchFamily="34" charset="0"/>
                <a:cs typeface="Arial" panose="020B0604020202020204" pitchFamily="34" charset="0"/>
              </a:rPr>
              <a:t>fetch</a:t>
            </a:r>
            <a:r>
              <a:rPr lang="en-US" dirty="0">
                <a:latin typeface="Calibri" panose="020F0502020204030204" pitchFamily="34" charset="0"/>
                <a:ea typeface="Calibri" panose="020F0502020204030204" pitchFamily="34" charset="0"/>
                <a:cs typeface="Arial" panose="020B0604020202020204" pitchFamily="34" charset="0"/>
              </a:rPr>
              <a:t> an instruction from memory, and place it into the IR.</a:t>
            </a:r>
            <a:endParaRPr lang="en-US" sz="16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Times New Roman" panose="02020603050405020304" pitchFamily="18" charset="0"/>
              <a:buChar char="•"/>
              <a:tabLst>
                <a:tab pos="457200" algn="l"/>
              </a:tabLst>
            </a:pPr>
            <a:r>
              <a:rPr lang="en-US" dirty="0">
                <a:latin typeface="Calibri" panose="020F0502020204030204" pitchFamily="34" charset="0"/>
                <a:ea typeface="Calibri" panose="020F0502020204030204" pitchFamily="34" charset="0"/>
                <a:cs typeface="Arial" panose="020B0604020202020204" pitchFamily="34" charset="0"/>
              </a:rPr>
              <a:t>Once in the IR, it is </a:t>
            </a:r>
            <a:r>
              <a:rPr lang="en-US" i="1" dirty="0">
                <a:latin typeface="Calibri" panose="020F0502020204030204" pitchFamily="34" charset="0"/>
                <a:ea typeface="Calibri" panose="020F0502020204030204" pitchFamily="34" charset="0"/>
                <a:cs typeface="Arial" panose="020B0604020202020204" pitchFamily="34" charset="0"/>
              </a:rPr>
              <a:t>decoded </a:t>
            </a:r>
            <a:r>
              <a:rPr lang="en-US" dirty="0">
                <a:latin typeface="Calibri" panose="020F0502020204030204" pitchFamily="34" charset="0"/>
                <a:ea typeface="Calibri" panose="020F0502020204030204" pitchFamily="34" charset="0"/>
                <a:cs typeface="Arial" panose="020B0604020202020204" pitchFamily="34" charset="0"/>
              </a:rPr>
              <a:t>to determine what needs to be done next.</a:t>
            </a:r>
            <a:endParaRPr lang="en-US" sz="16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Times New Roman" panose="02020603050405020304" pitchFamily="18" charset="0"/>
              <a:buChar char="•"/>
              <a:tabLst>
                <a:tab pos="457200" algn="l"/>
              </a:tabLst>
            </a:pPr>
            <a:r>
              <a:rPr lang="en-US" dirty="0">
                <a:latin typeface="Calibri" panose="020F0502020204030204" pitchFamily="34" charset="0"/>
                <a:ea typeface="Calibri" panose="020F0502020204030204" pitchFamily="34" charset="0"/>
                <a:cs typeface="Arial" panose="020B0604020202020204" pitchFamily="34" charset="0"/>
              </a:rPr>
              <a:t>If a memory value (operand) is involved in the operation, it is retrieved and placed into the MBR.</a:t>
            </a:r>
            <a:endParaRPr lang="en-US" sz="16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800"/>
              </a:spcAft>
              <a:buFont typeface="Times New Roman" panose="02020603050405020304" pitchFamily="18" charset="0"/>
              <a:buChar char="•"/>
              <a:tabLst>
                <a:tab pos="457200" algn="l"/>
              </a:tabLst>
            </a:pPr>
            <a:r>
              <a:rPr lang="en-US" dirty="0">
                <a:latin typeface="Calibri" panose="020F0502020204030204" pitchFamily="34" charset="0"/>
                <a:ea typeface="Calibri" panose="020F0502020204030204" pitchFamily="34" charset="0"/>
                <a:cs typeface="Arial" panose="020B0604020202020204" pitchFamily="34" charset="0"/>
              </a:rPr>
              <a:t>With everything in place, the instruction is </a:t>
            </a:r>
            <a:r>
              <a:rPr lang="en-US" i="1" dirty="0">
                <a:latin typeface="Calibri" panose="020F0502020204030204" pitchFamily="34" charset="0"/>
                <a:ea typeface="Calibri" panose="020F0502020204030204" pitchFamily="34" charset="0"/>
                <a:cs typeface="Arial" panose="020B0604020202020204" pitchFamily="34" charset="0"/>
              </a:rPr>
              <a:t>executed</a:t>
            </a:r>
            <a:r>
              <a:rPr lang="en-US" dirty="0">
                <a:latin typeface="Calibri" panose="020F0502020204030204" pitchFamily="34" charset="0"/>
                <a:ea typeface="Calibri" panose="020F0502020204030204" pitchFamily="34" charset="0"/>
                <a:cs typeface="Arial" panose="020B0604020202020204" pitchFamily="34" charset="0"/>
              </a:rPr>
              <a:t>.</a:t>
            </a:r>
            <a:endParaRPr lang="en-US" sz="16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9" name="Date Placeholder 8"/>
          <p:cNvSpPr>
            <a:spLocks noGrp="1"/>
          </p:cNvSpPr>
          <p:nvPr>
            <p:ph type="dt" sz="half" idx="10"/>
          </p:nvPr>
        </p:nvSpPr>
        <p:spPr/>
        <p:txBody>
          <a:bodyPr/>
          <a:lstStyle/>
          <a:p>
            <a:fld id="{3E694741-229F-441D-9EDF-694664721A5E}" type="datetime3">
              <a:rPr lang="en-US" smtClean="0"/>
              <a:t>14 February 2017</a:t>
            </a:fld>
            <a:endParaRPr lang="en-US"/>
          </a:p>
        </p:txBody>
      </p:sp>
      <p:sp>
        <p:nvSpPr>
          <p:cNvPr id="10" name="Footer Placeholder 9"/>
          <p:cNvSpPr>
            <a:spLocks noGrp="1"/>
          </p:cNvSpPr>
          <p:nvPr>
            <p:ph type="ftr" sz="quarter" idx="11"/>
          </p:nvPr>
        </p:nvSpPr>
        <p:spPr/>
        <p:txBody>
          <a:bodyPr/>
          <a:lstStyle/>
          <a:p>
            <a:r>
              <a:rPr lang="en-US" smtClean="0"/>
              <a:t>T103 - Arab open University</a:t>
            </a:r>
            <a:endParaRPr lang="en-US"/>
          </a:p>
        </p:txBody>
      </p:sp>
      <p:sp>
        <p:nvSpPr>
          <p:cNvPr id="11" name="Slide Number Placeholder 10"/>
          <p:cNvSpPr>
            <a:spLocks noGrp="1"/>
          </p:cNvSpPr>
          <p:nvPr>
            <p:ph type="sldNum" sz="quarter" idx="12"/>
          </p:nvPr>
        </p:nvSpPr>
        <p:spPr/>
        <p:txBody>
          <a:bodyPr/>
          <a:lstStyle/>
          <a:p>
            <a:fld id="{20042AC5-0839-4BB6-BBC0-636ECAAE7EE1}" type="slidenum">
              <a:rPr lang="en-US" smtClean="0"/>
              <a:pPr/>
              <a:t>42</a:t>
            </a:fld>
            <a:endParaRPr lang="en-US"/>
          </a:p>
        </p:txBody>
      </p:sp>
    </p:spTree>
    <p:extLst>
      <p:ext uri="{BB962C8B-B14F-4D97-AF65-F5344CB8AC3E}">
        <p14:creationId xmlns:p14="http://schemas.microsoft.com/office/powerpoint/2010/main" val="208932865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Lecture Overview</a:t>
            </a:r>
            <a:endParaRPr lang="en-US" dirty="0"/>
          </a:p>
        </p:txBody>
      </p:sp>
      <p:sp>
        <p:nvSpPr>
          <p:cNvPr id="2" name="Content Placeholder 1"/>
          <p:cNvSpPr>
            <a:spLocks noGrp="1"/>
          </p:cNvSpPr>
          <p:nvPr>
            <p:ph idx="1"/>
          </p:nvPr>
        </p:nvSpPr>
        <p:spPr/>
        <p:txBody>
          <a:bodyPr>
            <a:normAutofit/>
          </a:bodyPr>
          <a:lstStyle/>
          <a:p>
            <a:r>
              <a:rPr lang="en-US" dirty="0" smtClean="0">
                <a:solidFill>
                  <a:schemeClr val="bg1">
                    <a:lumMod val="65000"/>
                  </a:schemeClr>
                </a:solidFill>
              </a:rPr>
              <a:t>Introduction</a:t>
            </a:r>
          </a:p>
          <a:p>
            <a:r>
              <a:rPr lang="en-US" dirty="0" smtClean="0">
                <a:solidFill>
                  <a:schemeClr val="bg1">
                    <a:lumMod val="65000"/>
                  </a:schemeClr>
                </a:solidFill>
              </a:rPr>
              <a:t>MARIE</a:t>
            </a:r>
          </a:p>
          <a:p>
            <a:r>
              <a:rPr lang="en-US" dirty="0" smtClean="0">
                <a:solidFill>
                  <a:schemeClr val="bg1">
                    <a:lumMod val="65000"/>
                  </a:schemeClr>
                </a:solidFill>
              </a:rPr>
              <a:t>Instruction processing</a:t>
            </a:r>
          </a:p>
          <a:p>
            <a:r>
              <a:rPr lang="en-US" b="1" dirty="0" smtClean="0">
                <a:solidFill>
                  <a:srgbClr val="FF0000"/>
                </a:solidFill>
              </a:rPr>
              <a:t>A simple program</a:t>
            </a:r>
          </a:p>
          <a:p>
            <a:r>
              <a:rPr lang="en-US" dirty="0" smtClean="0"/>
              <a:t>Extending our ISA</a:t>
            </a:r>
          </a:p>
          <a:p>
            <a:r>
              <a:rPr lang="en-US" dirty="0"/>
              <a:t>Addressing Modes ( Ch. 5)</a:t>
            </a:r>
          </a:p>
        </p:txBody>
      </p:sp>
      <p:sp>
        <p:nvSpPr>
          <p:cNvPr id="4" name="Date Placeholder 3"/>
          <p:cNvSpPr>
            <a:spLocks noGrp="1"/>
          </p:cNvSpPr>
          <p:nvPr>
            <p:ph type="dt" sz="half" idx="10"/>
          </p:nvPr>
        </p:nvSpPr>
        <p:spPr/>
        <p:txBody>
          <a:bodyPr/>
          <a:lstStyle/>
          <a:p>
            <a:fld id="{031870CB-3AB2-4170-B092-7328D30E447F}" type="datetime3">
              <a:rPr lang="en-US" smtClean="0"/>
              <a:t>14 February 2017</a:t>
            </a:fld>
            <a:endParaRPr lang="en-US"/>
          </a:p>
        </p:txBody>
      </p:sp>
      <p:sp>
        <p:nvSpPr>
          <p:cNvPr id="5" name="Footer Placeholder 4"/>
          <p:cNvSpPr>
            <a:spLocks noGrp="1"/>
          </p:cNvSpPr>
          <p:nvPr>
            <p:ph type="ftr" sz="quarter" idx="11"/>
          </p:nvPr>
        </p:nvSpPr>
        <p:spPr/>
        <p:txBody>
          <a:bodyPr/>
          <a:lstStyle/>
          <a:p>
            <a:r>
              <a:rPr lang="en-US" smtClean="0"/>
              <a:t>T103 - Arab open University</a:t>
            </a:r>
            <a:endParaRPr lang="en-US" dirty="0"/>
          </a:p>
        </p:txBody>
      </p:sp>
      <p:sp>
        <p:nvSpPr>
          <p:cNvPr id="6" name="Slide Number Placeholder 5"/>
          <p:cNvSpPr>
            <a:spLocks noGrp="1"/>
          </p:cNvSpPr>
          <p:nvPr>
            <p:ph type="sldNum" sz="quarter" idx="12"/>
          </p:nvPr>
        </p:nvSpPr>
        <p:spPr/>
        <p:txBody>
          <a:bodyPr/>
          <a:lstStyle/>
          <a:p>
            <a:fld id="{20042AC5-0839-4BB6-BBC0-636ECAAE7EE1}" type="slidenum">
              <a:rPr lang="en-US" smtClean="0"/>
              <a:pPr/>
              <a:t>43</a:t>
            </a:fld>
            <a:endParaRPr lang="en-US"/>
          </a:p>
        </p:txBody>
      </p:sp>
    </p:spTree>
    <p:extLst>
      <p:ext uri="{BB962C8B-B14F-4D97-AF65-F5344CB8AC3E}">
        <p14:creationId xmlns:p14="http://schemas.microsoft.com/office/powerpoint/2010/main" val="35594161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simple </a:t>
            </a:r>
            <a:r>
              <a:rPr lang="en-US" dirty="0" smtClean="0"/>
              <a:t>program</a:t>
            </a:r>
            <a:endParaRPr lang="en-US" dirty="0"/>
          </a:p>
        </p:txBody>
      </p:sp>
      <p:sp>
        <p:nvSpPr>
          <p:cNvPr id="4" name="Content Placeholder 3"/>
          <p:cNvSpPr>
            <a:spLocks noGrp="1"/>
          </p:cNvSpPr>
          <p:nvPr>
            <p:ph idx="1"/>
          </p:nvPr>
        </p:nvSpPr>
        <p:spPr>
          <a:xfrm>
            <a:off x="988594" y="914400"/>
            <a:ext cx="8153400" cy="4525963"/>
          </a:xfrm>
        </p:spPr>
        <p:txBody>
          <a:bodyPr>
            <a:normAutofit/>
          </a:bodyPr>
          <a:lstStyle/>
          <a:p>
            <a:pPr marL="0" indent="0">
              <a:buNone/>
            </a:pPr>
            <a:r>
              <a:rPr lang="en-US" sz="2000" dirty="0" smtClean="0"/>
              <a:t>The table below shows a program written in assembly language for MARIE</a:t>
            </a:r>
          </a:p>
          <a:p>
            <a:pPr marL="0" indent="0">
              <a:buNone/>
            </a:pPr>
            <a:r>
              <a:rPr lang="en-US" sz="2000" dirty="0" smtClean="0"/>
              <a:t>What does this program do?</a:t>
            </a:r>
            <a:endParaRPr lang="en-US" sz="2000" dirty="0"/>
          </a:p>
        </p:txBody>
      </p:sp>
      <p:sp>
        <p:nvSpPr>
          <p:cNvPr id="6" name="Rectangle 5"/>
          <p:cNvSpPr/>
          <p:nvPr/>
        </p:nvSpPr>
        <p:spPr>
          <a:xfrm>
            <a:off x="2587849" y="3910117"/>
            <a:ext cx="3282502" cy="307777"/>
          </a:xfrm>
          <a:prstGeom prst="rect">
            <a:avLst/>
          </a:prstGeom>
        </p:spPr>
        <p:txBody>
          <a:bodyPr wrap="none">
            <a:spAutoFit/>
          </a:bodyPr>
          <a:lstStyle/>
          <a:p>
            <a:r>
              <a:rPr lang="en-US" sz="14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Table </a:t>
            </a:r>
            <a:r>
              <a:rPr lang="ar-SA" sz="1400" i="1" dirty="0" smtClean="0">
                <a:solidFill>
                  <a:schemeClr val="tx2">
                    <a:lumMod val="75000"/>
                  </a:schemeClr>
                </a:solidFill>
                <a:latin typeface="Calibri" panose="020F0502020204030204" pitchFamily="34" charset="0"/>
                <a:ea typeface="Calibri" panose="020F0502020204030204" pitchFamily="34" charset="0"/>
              </a:rPr>
              <a:t>‎</a:t>
            </a:r>
            <a:r>
              <a:rPr lang="en-US" sz="14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4.2: </a:t>
            </a:r>
            <a:r>
              <a:rPr lang="en-US" sz="14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A program To Add Two Numbers</a:t>
            </a:r>
            <a:endParaRPr lang="en-US" sz="2400" i="1" dirty="0">
              <a:solidFill>
                <a:schemeClr val="tx2">
                  <a:lumMod val="75000"/>
                </a:schemeClr>
              </a:solidFill>
            </a:endParaRPr>
          </a:p>
        </p:txBody>
      </p:sp>
      <p:pic>
        <p:nvPicPr>
          <p:cNvPr id="7" name="Picture 6"/>
          <p:cNvPicPr/>
          <p:nvPr/>
        </p:nvPicPr>
        <p:blipFill>
          <a:blip r:embed="rId2"/>
          <a:stretch>
            <a:fillRect/>
          </a:stretch>
        </p:blipFill>
        <p:spPr>
          <a:xfrm>
            <a:off x="1600200" y="1669962"/>
            <a:ext cx="5257800" cy="2292438"/>
          </a:xfrm>
          <a:prstGeom prst="rect">
            <a:avLst/>
          </a:prstGeom>
        </p:spPr>
      </p:pic>
      <p:sp>
        <p:nvSpPr>
          <p:cNvPr id="8" name="Rectangle 7"/>
          <p:cNvSpPr/>
          <p:nvPr/>
        </p:nvSpPr>
        <p:spPr>
          <a:xfrm>
            <a:off x="988594" y="4295135"/>
            <a:ext cx="7819230" cy="2211246"/>
          </a:xfrm>
          <a:prstGeom prst="rect">
            <a:avLst/>
          </a:prstGeom>
        </p:spPr>
        <p:txBody>
          <a:bodyPr wrap="square">
            <a:spAutoFit/>
          </a:bodyPr>
          <a:lstStyle/>
          <a:p>
            <a:pPr eaLnBrk="0" fontAlgn="base" hangingPunct="0">
              <a:lnSpc>
                <a:spcPct val="107000"/>
              </a:lnSpc>
            </a:pPr>
            <a:r>
              <a:rPr lang="en-US"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This program simply adds to numbers and stores the result in the main memory.</a:t>
            </a:r>
            <a:endParaRPr lang="en-US" sz="1600" dirty="0">
              <a:latin typeface="Calibri" panose="020F0502020204030204" pitchFamily="34" charset="0"/>
              <a:ea typeface="Calibri" panose="020F0502020204030204" pitchFamily="34" charset="0"/>
              <a:cs typeface="Arial" panose="020B0604020202020204" pitchFamily="34" charset="0"/>
            </a:endParaRPr>
          </a:p>
          <a:p>
            <a:pPr marL="342900" marR="0" lvl="0" indent="-342900" eaLnBrk="0" fontAlgn="base" hangingPunct="0">
              <a:lnSpc>
                <a:spcPct val="107000"/>
              </a:lnSpc>
              <a:spcBef>
                <a:spcPts val="0"/>
              </a:spcBef>
              <a:spcAft>
                <a:spcPts val="0"/>
              </a:spcAft>
              <a:buFont typeface="Calibri" panose="020F0502020204030204" pitchFamily="34" charset="0"/>
              <a:buChar char="-"/>
            </a:pPr>
            <a:r>
              <a:rPr lang="en-US"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It loads the value stored at the location address 104</a:t>
            </a:r>
            <a:r>
              <a:rPr lang="en-US" baseline="-250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16</a:t>
            </a:r>
            <a:r>
              <a:rPr lang="en-US"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 into AC (the value is 0023</a:t>
            </a:r>
            <a:r>
              <a:rPr lang="en-US" baseline="-250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16</a:t>
            </a:r>
            <a:r>
              <a:rPr lang="en-US"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 = 35</a:t>
            </a:r>
            <a:r>
              <a:rPr lang="en-US" baseline="-250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10</a:t>
            </a:r>
            <a:r>
              <a:rPr lang="en-US"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eaLnBrk="0" fontAlgn="base" hangingPunct="0">
              <a:lnSpc>
                <a:spcPct val="107000"/>
              </a:lnSpc>
              <a:spcBef>
                <a:spcPts val="0"/>
              </a:spcBef>
              <a:spcAft>
                <a:spcPts val="0"/>
              </a:spcAft>
              <a:buFont typeface="Calibri" panose="020F0502020204030204" pitchFamily="34" charset="0"/>
              <a:buChar char="-"/>
            </a:pPr>
            <a:r>
              <a:rPr lang="en-US"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It adds this value to the value stored at the location address 105</a:t>
            </a:r>
            <a:r>
              <a:rPr lang="en-US" baseline="-250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16</a:t>
            </a:r>
            <a:r>
              <a:rPr lang="en-US"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 (the value is FFE9</a:t>
            </a:r>
            <a:r>
              <a:rPr lang="en-US" baseline="-250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16</a:t>
            </a:r>
            <a:r>
              <a:rPr lang="en-US"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 = (-23)</a:t>
            </a:r>
            <a:r>
              <a:rPr lang="en-US" baseline="-250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10</a:t>
            </a:r>
            <a:r>
              <a:rPr lang="en-US"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eaLnBrk="0" fontAlgn="base" hangingPunct="0">
              <a:lnSpc>
                <a:spcPct val="107000"/>
              </a:lnSpc>
              <a:spcBef>
                <a:spcPts val="0"/>
              </a:spcBef>
              <a:spcAft>
                <a:spcPts val="0"/>
              </a:spcAft>
              <a:buFont typeface="Calibri" panose="020F0502020204030204" pitchFamily="34" charset="0"/>
              <a:buChar char="-"/>
            </a:pPr>
            <a:r>
              <a:rPr lang="en-US"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Stores the sum into the location address 106</a:t>
            </a:r>
            <a:r>
              <a:rPr lang="en-US" baseline="-250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16</a:t>
            </a:r>
            <a:r>
              <a:rPr lang="en-US"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eaLnBrk="0" fontAlgn="base" hangingPunct="0">
              <a:spcAft>
                <a:spcPts val="0"/>
              </a:spcAft>
            </a:pPr>
            <a:r>
              <a:rPr lang="en-US" dirty="0">
                <a:solidFill>
                  <a:srgbClr val="000000"/>
                </a:solidFill>
                <a:ea typeface="Times New Roman" panose="02020603050405020304" pitchFamily="18" charset="0"/>
                <a:cs typeface="Times New Roman" panose="02020603050405020304" pitchFamily="18" charset="0"/>
              </a:rPr>
              <a:t>So, what will be stored in the location address 106</a:t>
            </a:r>
            <a:r>
              <a:rPr lang="en-US" baseline="-25000" dirty="0">
                <a:solidFill>
                  <a:srgbClr val="000000"/>
                </a:solidFill>
                <a:ea typeface="Times New Roman" panose="02020603050405020304" pitchFamily="18" charset="0"/>
                <a:cs typeface="Times New Roman" panose="02020603050405020304" pitchFamily="18" charset="0"/>
              </a:rPr>
              <a:t>16</a:t>
            </a:r>
            <a:r>
              <a:rPr lang="en-US" dirty="0">
                <a:solidFill>
                  <a:srgbClr val="000000"/>
                </a:solidFill>
                <a:ea typeface="Times New Roman" panose="02020603050405020304" pitchFamily="18" charset="0"/>
                <a:cs typeface="Times New Roman" panose="02020603050405020304" pitchFamily="18" charset="0"/>
              </a:rPr>
              <a:t>?</a:t>
            </a:r>
            <a:endParaRPr lang="en-US" sz="2800" dirty="0">
              <a:effectLst/>
            </a:endParaRPr>
          </a:p>
        </p:txBody>
      </p:sp>
      <p:sp>
        <p:nvSpPr>
          <p:cNvPr id="9" name="Date Placeholder 8"/>
          <p:cNvSpPr>
            <a:spLocks noGrp="1"/>
          </p:cNvSpPr>
          <p:nvPr>
            <p:ph type="dt" sz="half" idx="10"/>
          </p:nvPr>
        </p:nvSpPr>
        <p:spPr/>
        <p:txBody>
          <a:bodyPr/>
          <a:lstStyle/>
          <a:p>
            <a:fld id="{751FDE03-D292-45B8-831B-1B4591E33CF0}" type="datetime3">
              <a:rPr lang="en-US" smtClean="0"/>
              <a:t>14 February 2017</a:t>
            </a:fld>
            <a:endParaRPr lang="en-US"/>
          </a:p>
        </p:txBody>
      </p:sp>
      <p:sp>
        <p:nvSpPr>
          <p:cNvPr id="10" name="Footer Placeholder 9"/>
          <p:cNvSpPr>
            <a:spLocks noGrp="1"/>
          </p:cNvSpPr>
          <p:nvPr>
            <p:ph type="ftr" sz="quarter" idx="11"/>
          </p:nvPr>
        </p:nvSpPr>
        <p:spPr/>
        <p:txBody>
          <a:bodyPr/>
          <a:lstStyle/>
          <a:p>
            <a:r>
              <a:rPr lang="en-US" smtClean="0"/>
              <a:t>T103 - Arab open University</a:t>
            </a:r>
            <a:endParaRPr lang="en-US"/>
          </a:p>
        </p:txBody>
      </p:sp>
      <p:sp>
        <p:nvSpPr>
          <p:cNvPr id="11" name="Slide Number Placeholder 10"/>
          <p:cNvSpPr>
            <a:spLocks noGrp="1"/>
          </p:cNvSpPr>
          <p:nvPr>
            <p:ph type="sldNum" sz="quarter" idx="12"/>
          </p:nvPr>
        </p:nvSpPr>
        <p:spPr/>
        <p:txBody>
          <a:bodyPr/>
          <a:lstStyle/>
          <a:p>
            <a:fld id="{20042AC5-0839-4BB6-BBC0-636ECAAE7EE1}" type="slidenum">
              <a:rPr lang="en-US" smtClean="0"/>
              <a:pPr/>
              <a:t>44</a:t>
            </a:fld>
            <a:endParaRPr lang="en-US"/>
          </a:p>
        </p:txBody>
      </p:sp>
    </p:spTree>
    <p:extLst>
      <p:ext uri="{BB962C8B-B14F-4D97-AF65-F5344CB8AC3E}">
        <p14:creationId xmlns:p14="http://schemas.microsoft.com/office/powerpoint/2010/main" val="283164881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simple </a:t>
            </a:r>
            <a:r>
              <a:rPr lang="en-US" dirty="0" smtClean="0"/>
              <a:t>program</a:t>
            </a:r>
            <a:endParaRPr lang="en-US" dirty="0"/>
          </a:p>
        </p:txBody>
      </p:sp>
      <p:sp>
        <p:nvSpPr>
          <p:cNvPr id="4" name="Content Placeholder 3"/>
          <p:cNvSpPr>
            <a:spLocks noGrp="1"/>
          </p:cNvSpPr>
          <p:nvPr>
            <p:ph idx="1"/>
          </p:nvPr>
        </p:nvSpPr>
        <p:spPr>
          <a:xfrm>
            <a:off x="908383" y="936812"/>
            <a:ext cx="8153400" cy="4525963"/>
          </a:xfrm>
        </p:spPr>
        <p:txBody>
          <a:bodyPr>
            <a:normAutofit/>
          </a:bodyPr>
          <a:lstStyle/>
          <a:p>
            <a:pPr marL="0" indent="0">
              <a:buNone/>
            </a:pPr>
            <a:r>
              <a:rPr lang="en-US" sz="2400" dirty="0" smtClean="0"/>
              <a:t>This program simply adds to numbers and stores the result in the main memory.</a:t>
            </a:r>
          </a:p>
          <a:p>
            <a:pPr lvl="1"/>
            <a:r>
              <a:rPr lang="en-US" sz="2000" dirty="0" smtClean="0"/>
              <a:t>It loads the value stored at the location address 104</a:t>
            </a:r>
            <a:r>
              <a:rPr lang="en-US" sz="2000" baseline="-25000" dirty="0" smtClean="0"/>
              <a:t>16</a:t>
            </a:r>
            <a:r>
              <a:rPr lang="en-US" sz="2000" dirty="0" smtClean="0"/>
              <a:t> into AC (the value is 0023</a:t>
            </a:r>
            <a:r>
              <a:rPr lang="en-US" sz="2000" baseline="-25000" dirty="0" smtClean="0"/>
              <a:t>16</a:t>
            </a:r>
            <a:r>
              <a:rPr lang="en-US" sz="2000" dirty="0" smtClean="0"/>
              <a:t> = 35</a:t>
            </a:r>
            <a:r>
              <a:rPr lang="en-US" sz="2000" baseline="-25000" dirty="0" smtClean="0"/>
              <a:t>10</a:t>
            </a:r>
            <a:r>
              <a:rPr lang="en-US" sz="2000" dirty="0" smtClean="0"/>
              <a:t>)</a:t>
            </a:r>
          </a:p>
          <a:p>
            <a:pPr lvl="1"/>
            <a:r>
              <a:rPr lang="en-US" sz="2000" dirty="0" smtClean="0"/>
              <a:t>It adds this value to the value stored at </a:t>
            </a:r>
            <a:r>
              <a:rPr lang="en-US" sz="2000" dirty="0"/>
              <a:t>the location address </a:t>
            </a:r>
            <a:r>
              <a:rPr lang="en-US" sz="2000" dirty="0" smtClean="0"/>
              <a:t>105</a:t>
            </a:r>
            <a:r>
              <a:rPr lang="en-US" sz="2000" baseline="-25000" dirty="0" smtClean="0"/>
              <a:t>16</a:t>
            </a:r>
            <a:r>
              <a:rPr lang="en-US" sz="2000" dirty="0" smtClean="0"/>
              <a:t> (</a:t>
            </a:r>
            <a:r>
              <a:rPr lang="en-US" sz="2000" dirty="0"/>
              <a:t>the value is </a:t>
            </a:r>
            <a:r>
              <a:rPr lang="en-US" sz="2000" dirty="0" smtClean="0"/>
              <a:t>FFE9</a:t>
            </a:r>
            <a:r>
              <a:rPr lang="en-US" sz="2000" baseline="-25000" dirty="0" smtClean="0"/>
              <a:t>16</a:t>
            </a:r>
            <a:r>
              <a:rPr lang="en-US" sz="2000" dirty="0" smtClean="0"/>
              <a:t> = (-23)</a:t>
            </a:r>
            <a:r>
              <a:rPr lang="en-US" sz="2000" baseline="-25000" dirty="0" smtClean="0"/>
              <a:t>10</a:t>
            </a:r>
            <a:r>
              <a:rPr lang="en-US" sz="2000" dirty="0" smtClean="0"/>
              <a:t>)</a:t>
            </a:r>
            <a:endParaRPr lang="en-US" sz="2000" dirty="0"/>
          </a:p>
          <a:p>
            <a:pPr lvl="1"/>
            <a:r>
              <a:rPr lang="en-US" sz="2000" dirty="0" smtClean="0"/>
              <a:t>Stores the sum into the location address 106</a:t>
            </a:r>
            <a:r>
              <a:rPr lang="en-US" sz="2000" baseline="-25000" dirty="0" smtClean="0"/>
              <a:t>16</a:t>
            </a:r>
            <a:r>
              <a:rPr lang="en-US" sz="2000" dirty="0" smtClean="0"/>
              <a:t>.</a:t>
            </a:r>
          </a:p>
          <a:p>
            <a:pPr lvl="2"/>
            <a:r>
              <a:rPr lang="en-US" sz="1800" dirty="0" smtClean="0"/>
              <a:t>So what will be stored in the location address 106</a:t>
            </a:r>
            <a:r>
              <a:rPr lang="en-US" sz="1800" baseline="-25000" dirty="0" smtClean="0"/>
              <a:t>16</a:t>
            </a:r>
            <a:r>
              <a:rPr lang="en-US" sz="1800" dirty="0" smtClean="0"/>
              <a:t>?</a:t>
            </a:r>
          </a:p>
          <a:p>
            <a:r>
              <a:rPr lang="en-US" sz="2400" dirty="0" smtClean="0"/>
              <a:t>Now let us discover what happens during each “Fetch, decode, execute” cycle.</a:t>
            </a:r>
            <a:endParaRPr lang="en-US" sz="2400" dirty="0"/>
          </a:p>
        </p:txBody>
      </p:sp>
      <p:sp>
        <p:nvSpPr>
          <p:cNvPr id="5" name="Date Placeholder 4"/>
          <p:cNvSpPr>
            <a:spLocks noGrp="1"/>
          </p:cNvSpPr>
          <p:nvPr>
            <p:ph type="dt" sz="half" idx="10"/>
          </p:nvPr>
        </p:nvSpPr>
        <p:spPr/>
        <p:txBody>
          <a:bodyPr/>
          <a:lstStyle/>
          <a:p>
            <a:fld id="{48A39425-4FBB-45EE-AF98-654F803EBDF2}"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45</a:t>
            </a:fld>
            <a:endParaRPr lang="en-US"/>
          </a:p>
        </p:txBody>
      </p:sp>
    </p:spTree>
    <p:extLst>
      <p:ext uri="{BB962C8B-B14F-4D97-AF65-F5344CB8AC3E}">
        <p14:creationId xmlns:p14="http://schemas.microsoft.com/office/powerpoint/2010/main" val="309107544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simple program</a:t>
            </a:r>
            <a:endParaRPr lang="en-US" dirty="0"/>
          </a:p>
        </p:txBody>
      </p:sp>
      <p:sp>
        <p:nvSpPr>
          <p:cNvPr id="4" name="Content Placeholder 3"/>
          <p:cNvSpPr>
            <a:spLocks noGrp="1"/>
          </p:cNvSpPr>
          <p:nvPr>
            <p:ph idx="1"/>
          </p:nvPr>
        </p:nvSpPr>
        <p:spPr>
          <a:xfrm>
            <a:off x="775855" y="2332037"/>
            <a:ext cx="8153400" cy="487363"/>
          </a:xfrm>
        </p:spPr>
        <p:txBody>
          <a:bodyPr>
            <a:normAutofit lnSpcReduction="10000"/>
          </a:bodyPr>
          <a:lstStyle/>
          <a:p>
            <a:pPr lvl="1"/>
            <a:r>
              <a:rPr lang="en-US" b="1" dirty="0" smtClean="0"/>
              <a:t>Load 104:</a:t>
            </a:r>
            <a:endParaRPr lang="en-US" b="1"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9973" y="2819400"/>
            <a:ext cx="7924800" cy="2903221"/>
          </a:xfrm>
          <a:prstGeom prst="rect">
            <a:avLst/>
          </a:prstGeom>
        </p:spPr>
      </p:pic>
      <p:sp>
        <p:nvSpPr>
          <p:cNvPr id="6" name="Rectangle 5"/>
          <p:cNvSpPr/>
          <p:nvPr/>
        </p:nvSpPr>
        <p:spPr>
          <a:xfrm>
            <a:off x="1008936" y="1007893"/>
            <a:ext cx="7601663" cy="646331"/>
          </a:xfrm>
          <a:prstGeom prst="rect">
            <a:avLst/>
          </a:prstGeom>
        </p:spPr>
        <p:txBody>
          <a:bodyPr wrap="square">
            <a:spAutoFit/>
          </a:bodyPr>
          <a:lstStyle/>
          <a:p>
            <a:pPr eaLnBrk="0" fontAlgn="base" hangingPunct="0">
              <a:spcAft>
                <a:spcPts val="0"/>
              </a:spcAft>
            </a:pPr>
            <a:r>
              <a:rPr lang="en-US" dirty="0">
                <a:solidFill>
                  <a:srgbClr val="000000"/>
                </a:solidFill>
                <a:ea typeface="Times New Roman" panose="02020603050405020304" pitchFamily="18" charset="0"/>
                <a:cs typeface="Times New Roman" panose="02020603050405020304" pitchFamily="18" charset="0"/>
              </a:rPr>
              <a:t>Now, let us discover what happens during each “Fetch, decode, execute” cycle. </a:t>
            </a:r>
            <a:endParaRPr lang="en-US" sz="2800" dirty="0"/>
          </a:p>
          <a:p>
            <a:pPr eaLnBrk="0" fontAlgn="base" hangingPunct="0">
              <a:spcAft>
                <a:spcPts val="0"/>
              </a:spcAft>
            </a:pPr>
            <a:r>
              <a:rPr lang="en-US" dirty="0">
                <a:solidFill>
                  <a:srgbClr val="000000"/>
                </a:solidFill>
                <a:ea typeface="Times New Roman" panose="02020603050405020304" pitchFamily="18" charset="0"/>
                <a:cs typeface="Times New Roman" panose="02020603050405020304" pitchFamily="18" charset="0"/>
              </a:rPr>
              <a:t>The tables below show the effect of each instruction on the registers:</a:t>
            </a:r>
            <a:endParaRPr lang="en-US" sz="2800" dirty="0">
              <a:effectLst/>
            </a:endParaRPr>
          </a:p>
        </p:txBody>
      </p:sp>
      <p:sp>
        <p:nvSpPr>
          <p:cNvPr id="7" name="Rectangle 6"/>
          <p:cNvSpPr/>
          <p:nvPr/>
        </p:nvSpPr>
        <p:spPr>
          <a:xfrm>
            <a:off x="2971800" y="5722621"/>
            <a:ext cx="3325590" cy="276999"/>
          </a:xfrm>
          <a:prstGeom prst="rect">
            <a:avLst/>
          </a:prstGeom>
        </p:spPr>
        <p:txBody>
          <a:bodyPr wrap="none">
            <a:spAutoFit/>
          </a:bodyPr>
          <a:lstStyle/>
          <a:p>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Table </a:t>
            </a:r>
            <a:r>
              <a:rPr lang="en-US" sz="1200" i="1" dirty="0" smtClean="0">
                <a:solidFill>
                  <a:schemeClr val="tx2">
                    <a:lumMod val="75000"/>
                  </a:schemeClr>
                </a:solidFill>
                <a:latin typeface="Calibri" panose="020F0502020204030204" pitchFamily="34" charset="0"/>
                <a:ea typeface="Calibri" panose="020F0502020204030204" pitchFamily="34" charset="0"/>
              </a:rPr>
              <a:t>4.3</a:t>
            </a:r>
            <a:r>
              <a:rPr lang="en-US" sz="12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 </a:t>
            </a:r>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Fetch-decode-execute cycle of </a:t>
            </a:r>
            <a:r>
              <a:rPr lang="en-US" sz="1200" b="1"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Load 104</a:t>
            </a:r>
            <a:endParaRPr lang="en-US" sz="2000" i="1" dirty="0">
              <a:solidFill>
                <a:schemeClr val="tx2">
                  <a:lumMod val="75000"/>
                </a:schemeClr>
              </a:solidFill>
            </a:endParaRPr>
          </a:p>
        </p:txBody>
      </p:sp>
      <p:sp>
        <p:nvSpPr>
          <p:cNvPr id="8" name="Date Placeholder 7"/>
          <p:cNvSpPr>
            <a:spLocks noGrp="1"/>
          </p:cNvSpPr>
          <p:nvPr>
            <p:ph type="dt" sz="half" idx="10"/>
          </p:nvPr>
        </p:nvSpPr>
        <p:spPr/>
        <p:txBody>
          <a:bodyPr/>
          <a:lstStyle/>
          <a:p>
            <a:fld id="{F1366045-F4CF-454C-8B6F-00357FE71500}" type="datetime3">
              <a:rPr lang="en-US" smtClean="0"/>
              <a:t>14 February 2017</a:t>
            </a:fld>
            <a:endParaRPr lang="en-US"/>
          </a:p>
        </p:txBody>
      </p:sp>
      <p:sp>
        <p:nvSpPr>
          <p:cNvPr id="9" name="Footer Placeholder 8"/>
          <p:cNvSpPr>
            <a:spLocks noGrp="1"/>
          </p:cNvSpPr>
          <p:nvPr>
            <p:ph type="ftr" sz="quarter" idx="11"/>
          </p:nvPr>
        </p:nvSpPr>
        <p:spPr/>
        <p:txBody>
          <a:bodyPr/>
          <a:lstStyle/>
          <a:p>
            <a:r>
              <a:rPr lang="en-US" smtClean="0"/>
              <a:t>T103 - Arab open University</a:t>
            </a:r>
            <a:endParaRPr lang="en-US"/>
          </a:p>
        </p:txBody>
      </p:sp>
      <p:sp>
        <p:nvSpPr>
          <p:cNvPr id="10" name="Slide Number Placeholder 9"/>
          <p:cNvSpPr>
            <a:spLocks noGrp="1"/>
          </p:cNvSpPr>
          <p:nvPr>
            <p:ph type="sldNum" sz="quarter" idx="12"/>
          </p:nvPr>
        </p:nvSpPr>
        <p:spPr/>
        <p:txBody>
          <a:bodyPr/>
          <a:lstStyle/>
          <a:p>
            <a:fld id="{20042AC5-0839-4BB6-BBC0-636ECAAE7EE1}" type="slidenum">
              <a:rPr lang="en-US" smtClean="0"/>
              <a:pPr/>
              <a:t>46</a:t>
            </a:fld>
            <a:endParaRPr lang="en-US"/>
          </a:p>
        </p:txBody>
      </p:sp>
    </p:spTree>
    <p:extLst>
      <p:ext uri="{BB962C8B-B14F-4D97-AF65-F5344CB8AC3E}">
        <p14:creationId xmlns:p14="http://schemas.microsoft.com/office/powerpoint/2010/main" val="286103976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10658" y="4114800"/>
            <a:ext cx="5861742" cy="2317564"/>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58258" y="1219200"/>
            <a:ext cx="6014142" cy="2235801"/>
          </a:xfrm>
          <a:prstGeom prst="rect">
            <a:avLst/>
          </a:prstGeom>
        </p:spPr>
      </p:pic>
      <p:sp>
        <p:nvSpPr>
          <p:cNvPr id="2" name="Title 1"/>
          <p:cNvSpPr>
            <a:spLocks noGrp="1"/>
          </p:cNvSpPr>
          <p:nvPr>
            <p:ph type="title"/>
          </p:nvPr>
        </p:nvSpPr>
        <p:spPr/>
        <p:txBody>
          <a:bodyPr/>
          <a:lstStyle/>
          <a:p>
            <a:r>
              <a:rPr lang="en-US" dirty="0" smtClean="0"/>
              <a:t>A simple program</a:t>
            </a:r>
            <a:endParaRPr lang="en-US" dirty="0"/>
          </a:p>
        </p:txBody>
      </p:sp>
      <p:sp>
        <p:nvSpPr>
          <p:cNvPr id="4" name="Content Placeholder 3"/>
          <p:cNvSpPr>
            <a:spLocks noGrp="1"/>
          </p:cNvSpPr>
          <p:nvPr>
            <p:ph idx="1"/>
          </p:nvPr>
        </p:nvSpPr>
        <p:spPr>
          <a:xfrm>
            <a:off x="457200" y="838200"/>
            <a:ext cx="7848600" cy="3733800"/>
          </a:xfrm>
        </p:spPr>
        <p:txBody>
          <a:bodyPr/>
          <a:lstStyle/>
          <a:p>
            <a:pPr lvl="1"/>
            <a:r>
              <a:rPr lang="en-US" b="1" dirty="0" smtClean="0"/>
              <a:t>Add 105:</a:t>
            </a:r>
          </a:p>
          <a:p>
            <a:pPr lvl="1"/>
            <a:endParaRPr lang="en-US" b="1" dirty="0" smtClean="0"/>
          </a:p>
          <a:p>
            <a:pPr lvl="1"/>
            <a:endParaRPr lang="en-US" b="1" dirty="0"/>
          </a:p>
          <a:p>
            <a:pPr lvl="1"/>
            <a:endParaRPr lang="en-US" b="1" dirty="0" smtClean="0"/>
          </a:p>
          <a:p>
            <a:pPr marL="457200" lvl="1" indent="0">
              <a:buNone/>
            </a:pPr>
            <a:endParaRPr lang="en-US" b="1" dirty="0" smtClean="0"/>
          </a:p>
          <a:p>
            <a:pPr marL="457200" lvl="1" indent="0">
              <a:buNone/>
            </a:pPr>
            <a:endParaRPr lang="en-US" sz="900" b="1" dirty="0"/>
          </a:p>
          <a:p>
            <a:pPr lvl="1">
              <a:spcBef>
                <a:spcPts val="1200"/>
              </a:spcBef>
            </a:pPr>
            <a:r>
              <a:rPr lang="en-US" b="1" dirty="0" smtClean="0"/>
              <a:t>Store 106:</a:t>
            </a:r>
            <a:endParaRPr lang="en-US" b="1" dirty="0"/>
          </a:p>
        </p:txBody>
      </p:sp>
      <p:sp>
        <p:nvSpPr>
          <p:cNvPr id="7" name="Rectangle 6"/>
          <p:cNvSpPr/>
          <p:nvPr/>
        </p:nvSpPr>
        <p:spPr>
          <a:xfrm>
            <a:off x="3124200" y="3345791"/>
            <a:ext cx="3312766" cy="276999"/>
          </a:xfrm>
          <a:prstGeom prst="rect">
            <a:avLst/>
          </a:prstGeom>
        </p:spPr>
        <p:txBody>
          <a:bodyPr wrap="none">
            <a:spAutoFit/>
          </a:bodyPr>
          <a:lstStyle/>
          <a:p>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Table </a:t>
            </a:r>
            <a:r>
              <a:rPr lang="en-US" sz="1200" i="1" dirty="0" smtClean="0">
                <a:solidFill>
                  <a:schemeClr val="tx2">
                    <a:lumMod val="75000"/>
                  </a:schemeClr>
                </a:solidFill>
                <a:latin typeface="Calibri" panose="020F0502020204030204" pitchFamily="34" charset="0"/>
                <a:ea typeface="Calibri" panose="020F0502020204030204" pitchFamily="34" charset="0"/>
              </a:rPr>
              <a:t>4.4</a:t>
            </a:r>
            <a:r>
              <a:rPr lang="en-US" sz="12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  </a:t>
            </a:r>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Fetch-decode-execute cycle of </a:t>
            </a:r>
            <a:r>
              <a:rPr lang="en-US" sz="1200" b="1"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Add 105</a:t>
            </a:r>
            <a:endParaRPr lang="en-US" sz="2000" i="1" dirty="0">
              <a:solidFill>
                <a:schemeClr val="tx2">
                  <a:lumMod val="75000"/>
                </a:schemeClr>
              </a:solidFill>
            </a:endParaRPr>
          </a:p>
        </p:txBody>
      </p:sp>
      <p:sp>
        <p:nvSpPr>
          <p:cNvPr id="8" name="Rectangle 7"/>
          <p:cNvSpPr/>
          <p:nvPr/>
        </p:nvSpPr>
        <p:spPr>
          <a:xfrm>
            <a:off x="3135119" y="6302747"/>
            <a:ext cx="3389711" cy="276999"/>
          </a:xfrm>
          <a:prstGeom prst="rect">
            <a:avLst/>
          </a:prstGeom>
        </p:spPr>
        <p:txBody>
          <a:bodyPr wrap="none">
            <a:spAutoFit/>
          </a:bodyPr>
          <a:lstStyle/>
          <a:p>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Table </a:t>
            </a:r>
            <a:r>
              <a:rPr lang="ar-SA" sz="1200" i="1" dirty="0" smtClean="0">
                <a:solidFill>
                  <a:schemeClr val="tx2">
                    <a:lumMod val="75000"/>
                  </a:schemeClr>
                </a:solidFill>
                <a:latin typeface="Calibri" panose="020F0502020204030204" pitchFamily="34" charset="0"/>
                <a:ea typeface="Calibri" panose="020F0502020204030204" pitchFamily="34" charset="0"/>
              </a:rPr>
              <a:t>‎</a:t>
            </a:r>
            <a:r>
              <a:rPr lang="en-US" sz="12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4.5:  </a:t>
            </a:r>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Fetch-decode-execute cycle of </a:t>
            </a:r>
            <a:r>
              <a:rPr lang="en-US" sz="1200" b="1"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Store 106</a:t>
            </a:r>
            <a:endParaRPr lang="en-US" sz="2000" i="1" dirty="0">
              <a:solidFill>
                <a:schemeClr val="tx2">
                  <a:lumMod val="75000"/>
                </a:schemeClr>
              </a:solidFill>
            </a:endParaRPr>
          </a:p>
        </p:txBody>
      </p:sp>
      <p:sp>
        <p:nvSpPr>
          <p:cNvPr id="9" name="Date Placeholder 8"/>
          <p:cNvSpPr>
            <a:spLocks noGrp="1"/>
          </p:cNvSpPr>
          <p:nvPr>
            <p:ph type="dt" sz="half" idx="10"/>
          </p:nvPr>
        </p:nvSpPr>
        <p:spPr>
          <a:xfrm>
            <a:off x="1013010" y="6432364"/>
            <a:ext cx="2133600" cy="365125"/>
          </a:xfrm>
        </p:spPr>
        <p:txBody>
          <a:bodyPr/>
          <a:lstStyle/>
          <a:p>
            <a:fld id="{25FE08FE-C760-464D-8480-97D56D24DE43}" type="datetime3">
              <a:rPr lang="en-US" smtClean="0"/>
              <a:t>14 February 2017</a:t>
            </a:fld>
            <a:endParaRPr lang="en-US"/>
          </a:p>
        </p:txBody>
      </p:sp>
      <p:sp>
        <p:nvSpPr>
          <p:cNvPr id="10" name="Footer Placeholder 9"/>
          <p:cNvSpPr>
            <a:spLocks noGrp="1"/>
          </p:cNvSpPr>
          <p:nvPr>
            <p:ph type="ftr" sz="quarter" idx="11"/>
          </p:nvPr>
        </p:nvSpPr>
        <p:spPr>
          <a:xfrm>
            <a:off x="3541366" y="6464612"/>
            <a:ext cx="2895600" cy="365125"/>
          </a:xfrm>
        </p:spPr>
        <p:txBody>
          <a:bodyPr/>
          <a:lstStyle/>
          <a:p>
            <a:r>
              <a:rPr lang="en-US" smtClean="0"/>
              <a:t>T103 - Arab open University</a:t>
            </a:r>
            <a:endParaRPr lang="en-US"/>
          </a:p>
        </p:txBody>
      </p:sp>
      <p:sp>
        <p:nvSpPr>
          <p:cNvPr id="11" name="Slide Number Placeholder 10"/>
          <p:cNvSpPr>
            <a:spLocks noGrp="1"/>
          </p:cNvSpPr>
          <p:nvPr>
            <p:ph type="sldNum" sz="quarter" idx="12"/>
          </p:nvPr>
        </p:nvSpPr>
        <p:spPr/>
        <p:txBody>
          <a:bodyPr/>
          <a:lstStyle/>
          <a:p>
            <a:fld id="{20042AC5-0839-4BB6-BBC0-636ECAAE7EE1}" type="slidenum">
              <a:rPr lang="en-US" smtClean="0"/>
              <a:pPr/>
              <a:t>47</a:t>
            </a:fld>
            <a:endParaRPr lang="en-US"/>
          </a:p>
        </p:txBody>
      </p:sp>
    </p:spTree>
    <p:extLst>
      <p:ext uri="{BB962C8B-B14F-4D97-AF65-F5344CB8AC3E}">
        <p14:creationId xmlns:p14="http://schemas.microsoft.com/office/powerpoint/2010/main" val="6244814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simple program</a:t>
            </a:r>
          </a:p>
        </p:txBody>
      </p:sp>
      <p:sp>
        <p:nvSpPr>
          <p:cNvPr id="4" name="Rectangle 3"/>
          <p:cNvSpPr/>
          <p:nvPr/>
        </p:nvSpPr>
        <p:spPr>
          <a:xfrm>
            <a:off x="828173" y="759519"/>
            <a:ext cx="8087227" cy="5822300"/>
          </a:xfrm>
          <a:prstGeom prst="rect">
            <a:avLst/>
          </a:prstGeom>
        </p:spPr>
        <p:txBody>
          <a:bodyPr wrap="square">
            <a:spAutoFit/>
          </a:bodyPr>
          <a:lstStyle/>
          <a:p>
            <a:pPr marL="228600" marR="0">
              <a:lnSpc>
                <a:spcPct val="107000"/>
              </a:lnSpc>
            </a:pPr>
            <a:r>
              <a:rPr lang="en-US" sz="2400" b="1" dirty="0">
                <a:solidFill>
                  <a:srgbClr val="FF0000"/>
                </a:solidFill>
                <a:latin typeface="Calibri" panose="020F0502020204030204" pitchFamily="34" charset="0"/>
                <a:ea typeface="Times New Roman" panose="02020603050405020304" pitchFamily="18" charset="0"/>
                <a:cs typeface="Times New Roman" panose="02020603050405020304" pitchFamily="18" charset="0"/>
              </a:rPr>
              <a:t>Directives and Labels</a:t>
            </a:r>
            <a:endParaRPr lang="en-US" dirty="0">
              <a:latin typeface="Calibri" panose="020F0502020204030204" pitchFamily="34" charset="0"/>
              <a:ea typeface="Calibri" panose="020F0502020204030204" pitchFamily="34" charset="0"/>
              <a:cs typeface="Arial" panose="020B0604020202020204" pitchFamily="34" charset="0"/>
            </a:endParaRPr>
          </a:p>
          <a:p>
            <a:pPr marL="228600" marR="0">
              <a:lnSpc>
                <a:spcPct val="107000"/>
              </a:lnSpc>
            </a:pPr>
            <a:r>
              <a:rPr lang="en-US" sz="2000" dirty="0">
                <a:solidFill>
                  <a:srgbClr val="7030A0"/>
                </a:solidFill>
                <a:latin typeface="Calibri" panose="020F0502020204030204" pitchFamily="34" charset="0"/>
                <a:ea typeface="Times New Roman" panose="02020603050405020304" pitchFamily="18" charset="0"/>
                <a:cs typeface="Times New Roman" panose="02020603050405020304" pitchFamily="18" charset="0"/>
              </a:rPr>
              <a:t>An assembler </a:t>
            </a:r>
            <a:r>
              <a:rPr lang="en-US" sz="2000" b="1" dirty="0">
                <a:solidFill>
                  <a:srgbClr val="7030A0"/>
                </a:solidFill>
                <a:latin typeface="Calibri" panose="020F0502020204030204" pitchFamily="34" charset="0"/>
                <a:ea typeface="Times New Roman" panose="02020603050405020304" pitchFamily="18" charset="0"/>
                <a:cs typeface="Times New Roman" panose="02020603050405020304" pitchFamily="18" charset="0"/>
              </a:rPr>
              <a:t>directive</a:t>
            </a:r>
            <a:r>
              <a:rPr lang="en-US" sz="2000" dirty="0">
                <a:solidFill>
                  <a:srgbClr val="7030A0"/>
                </a:solidFill>
                <a:latin typeface="Calibri" panose="020F0502020204030204" pitchFamily="34" charset="0"/>
                <a:ea typeface="Times New Roman" panose="02020603050405020304" pitchFamily="18" charset="0"/>
                <a:cs typeface="Times New Roman" panose="02020603050405020304" pitchFamily="18" charset="0"/>
              </a:rPr>
              <a:t> is an instruction that is </a:t>
            </a:r>
            <a:r>
              <a:rPr lang="en-US" sz="2000" u="sng" dirty="0">
                <a:solidFill>
                  <a:srgbClr val="7030A0"/>
                </a:solidFill>
                <a:latin typeface="Calibri" panose="020F0502020204030204" pitchFamily="34" charset="0"/>
                <a:ea typeface="Times New Roman" panose="02020603050405020304" pitchFamily="18" charset="0"/>
                <a:cs typeface="Times New Roman" panose="02020603050405020304" pitchFamily="18" charset="0"/>
              </a:rPr>
              <a:t>not supposed</a:t>
            </a:r>
            <a:r>
              <a:rPr lang="en-US" sz="2000" dirty="0">
                <a:solidFill>
                  <a:srgbClr val="7030A0"/>
                </a:solidFill>
                <a:latin typeface="Calibri" panose="020F0502020204030204" pitchFamily="34" charset="0"/>
                <a:ea typeface="Times New Roman" panose="02020603050405020304" pitchFamily="18" charset="0"/>
                <a:cs typeface="Times New Roman" panose="02020603050405020304" pitchFamily="18" charset="0"/>
              </a:rPr>
              <a:t> to be translated into machine code</a:t>
            </a:r>
            <a:r>
              <a:rPr lang="en-US" sz="2000" dirty="0" smtClean="0">
                <a:solidFill>
                  <a:srgbClr val="7030A0"/>
                </a:solidFill>
                <a:latin typeface="Calibri" panose="020F0502020204030204" pitchFamily="34" charset="0"/>
                <a:ea typeface="Times New Roman" panose="02020603050405020304" pitchFamily="18" charset="0"/>
                <a:cs typeface="Times New Roman" panose="02020603050405020304" pitchFamily="18" charset="0"/>
              </a:rPr>
              <a:t>.</a:t>
            </a:r>
          </a:p>
          <a:p>
            <a:pPr marL="228600" marR="0">
              <a:lnSpc>
                <a:spcPct val="107000"/>
              </a:lnSpc>
            </a:pPr>
            <a:r>
              <a:rPr lang="en-US" dirty="0"/>
              <a:t>There are four directives that the MARIE assembler </a:t>
            </a:r>
            <a:r>
              <a:rPr lang="en-US" dirty="0" smtClean="0"/>
              <a:t>recognizes: </a:t>
            </a:r>
          </a:p>
          <a:p>
            <a:pPr marL="228600" marR="0">
              <a:lnSpc>
                <a:spcPct val="107000"/>
              </a:lnSpc>
            </a:pPr>
            <a:endParaRPr lang="en-US" dirty="0" smtClean="0"/>
          </a:p>
          <a:p>
            <a:pPr marL="228600" marR="0">
              <a:lnSpc>
                <a:spcPct val="107000"/>
              </a:lnSpc>
            </a:pPr>
            <a:r>
              <a:rPr lang="en-US" dirty="0" smtClean="0"/>
              <a:t>The </a:t>
            </a:r>
            <a:r>
              <a:rPr lang="en-US" dirty="0"/>
              <a:t>first of these is the origination directive, </a:t>
            </a:r>
            <a:r>
              <a:rPr lang="en-US" b="1" dirty="0">
                <a:solidFill>
                  <a:schemeClr val="tx2">
                    <a:lumMod val="75000"/>
                  </a:schemeClr>
                </a:solidFill>
              </a:rPr>
              <a:t>ORG</a:t>
            </a:r>
            <a:r>
              <a:rPr lang="en-US" dirty="0"/>
              <a:t>. The ORG directive controls the starting address of your program. If you do not include an ORG directive in your code, the first address of your program is automatically 000h.</a:t>
            </a:r>
            <a:endParaRPr lang="en-US" dirty="0">
              <a:solidFill>
                <a:srgbClr val="7030A0"/>
              </a:solidFill>
              <a:latin typeface="Calibri" panose="020F0502020204030204" pitchFamily="34" charset="0"/>
              <a:ea typeface="Calibri" panose="020F0502020204030204" pitchFamily="34" charset="0"/>
              <a:cs typeface="Arial" panose="020B0604020202020204" pitchFamily="34" charset="0"/>
            </a:endParaRPr>
          </a:p>
          <a:p>
            <a:pPr marL="228600" marR="0">
              <a:lnSpc>
                <a:spcPct val="107000"/>
              </a:lnSpc>
            </a:pPr>
            <a:endParaRPr lang="en-US" dirty="0" smtClean="0"/>
          </a:p>
          <a:p>
            <a:pPr marL="228600" marR="0">
              <a:lnSpc>
                <a:spcPct val="107000"/>
              </a:lnSpc>
            </a:pPr>
            <a:r>
              <a:rPr lang="en-US" dirty="0" smtClean="0"/>
              <a:t>The </a:t>
            </a:r>
            <a:r>
              <a:rPr lang="en-US" dirty="0"/>
              <a:t>other three directives enable you to put constants in your program as decimal (</a:t>
            </a:r>
            <a:r>
              <a:rPr lang="en-US" b="1" dirty="0">
                <a:solidFill>
                  <a:schemeClr val="tx2">
                    <a:lumMod val="75000"/>
                  </a:schemeClr>
                </a:solidFill>
              </a:rPr>
              <a:t>DEC</a:t>
            </a:r>
            <a:r>
              <a:rPr lang="en-US" dirty="0"/>
              <a:t>), octal (</a:t>
            </a:r>
            <a:r>
              <a:rPr lang="en-US" b="1" dirty="0">
                <a:solidFill>
                  <a:schemeClr val="tx2">
                    <a:lumMod val="75000"/>
                  </a:schemeClr>
                </a:solidFill>
              </a:rPr>
              <a:t>OCT</a:t>
            </a:r>
            <a:r>
              <a:rPr lang="en-US" dirty="0"/>
              <a:t>), and hexadecimal (</a:t>
            </a:r>
            <a:r>
              <a:rPr lang="en-US" b="1" dirty="0">
                <a:solidFill>
                  <a:schemeClr val="tx2">
                    <a:lumMod val="75000"/>
                  </a:schemeClr>
                </a:solidFill>
              </a:rPr>
              <a:t>HEX</a:t>
            </a:r>
            <a:r>
              <a:rPr lang="en-US" dirty="0"/>
              <a:t>) numbers. </a:t>
            </a:r>
            <a:endParaRPr lang="en-US" dirty="0" smtClean="0"/>
          </a:p>
          <a:p>
            <a:pPr marL="228600" marR="0">
              <a:lnSpc>
                <a:spcPct val="107000"/>
              </a:lnSpc>
            </a:pPr>
            <a:endParaRPr lang="en-US" sz="2000" dirty="0">
              <a:solidFill>
                <a:srgbClr val="7030A0"/>
              </a:solidFill>
              <a:latin typeface="Calibri" panose="020F0502020204030204" pitchFamily="34" charset="0"/>
              <a:ea typeface="Times New Roman" panose="02020603050405020304" pitchFamily="18" charset="0"/>
              <a:cs typeface="Times New Roman" panose="02020603050405020304" pitchFamily="18" charset="0"/>
            </a:endParaRPr>
          </a:p>
          <a:p>
            <a:pPr marL="228600" marR="0">
              <a:lnSpc>
                <a:spcPct val="107000"/>
              </a:lnSpc>
            </a:pPr>
            <a:r>
              <a:rPr lang="en-US" sz="2000" dirty="0" smtClean="0">
                <a:solidFill>
                  <a:srgbClr val="7030A0"/>
                </a:solidFill>
                <a:latin typeface="Calibri" panose="020F0502020204030204" pitchFamily="34" charset="0"/>
                <a:ea typeface="Times New Roman" panose="02020603050405020304" pitchFamily="18" charset="0"/>
                <a:cs typeface="Times New Roman" panose="02020603050405020304" pitchFamily="18" charset="0"/>
              </a:rPr>
              <a:t>In </a:t>
            </a:r>
            <a:r>
              <a:rPr lang="en-US" sz="2000" dirty="0">
                <a:solidFill>
                  <a:srgbClr val="7030A0"/>
                </a:solidFill>
                <a:latin typeface="Calibri" panose="020F0502020204030204" pitchFamily="34" charset="0"/>
                <a:ea typeface="Times New Roman" panose="02020603050405020304" pitchFamily="18" charset="0"/>
                <a:cs typeface="Times New Roman" panose="02020603050405020304" pitchFamily="18" charset="0"/>
              </a:rPr>
              <a:t>assembly language, we can also use </a:t>
            </a:r>
            <a:r>
              <a:rPr lang="en-US" sz="2000" b="1" dirty="0">
                <a:solidFill>
                  <a:srgbClr val="7030A0"/>
                </a:solidFill>
                <a:latin typeface="Calibri" panose="020F0502020204030204" pitchFamily="34" charset="0"/>
                <a:ea typeface="Times New Roman" panose="02020603050405020304" pitchFamily="18" charset="0"/>
                <a:cs typeface="Times New Roman" panose="02020603050405020304" pitchFamily="18" charset="0"/>
              </a:rPr>
              <a:t>labels</a:t>
            </a:r>
            <a:r>
              <a:rPr lang="en-US" sz="2000" dirty="0">
                <a:solidFill>
                  <a:srgbClr val="7030A0"/>
                </a:solidFill>
                <a:latin typeface="Calibri" panose="020F0502020204030204" pitchFamily="34" charset="0"/>
                <a:ea typeface="Times New Roman" panose="02020603050405020304" pitchFamily="18" charset="0"/>
                <a:cs typeface="Times New Roman" panose="02020603050405020304" pitchFamily="18" charset="0"/>
              </a:rPr>
              <a:t> in order to clarify the program.</a:t>
            </a:r>
            <a:endParaRPr lang="en-US" dirty="0">
              <a:solidFill>
                <a:srgbClr val="7030A0"/>
              </a:solidFill>
              <a:latin typeface="Calibri" panose="020F0502020204030204" pitchFamily="34" charset="0"/>
              <a:ea typeface="Calibri" panose="020F0502020204030204" pitchFamily="34" charset="0"/>
              <a:cs typeface="Arial" panose="020B0604020202020204" pitchFamily="34" charset="0"/>
            </a:endParaRPr>
          </a:p>
          <a:p>
            <a:pPr marL="228600" marR="0">
              <a:lnSpc>
                <a:spcPct val="107000"/>
              </a:lnSpc>
            </a:pPr>
            <a:r>
              <a:rPr lang="en-US" sz="20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Substituting simple alphanumeric names for the opcodes makes programming much easier. We can also substitute labels (simple names) to identify or name particular memory addresses, making the task of writing assembly programs even simpler. </a:t>
            </a:r>
            <a:endParaRPr lang="en-US" dirty="0">
              <a:latin typeface="Calibri" panose="020F0502020204030204" pitchFamily="34" charset="0"/>
              <a:ea typeface="Calibri" panose="020F0502020204030204" pitchFamily="34" charset="0"/>
              <a:cs typeface="Arial" panose="020B0604020202020204" pitchFamily="34" charset="0"/>
            </a:endParaRPr>
          </a:p>
        </p:txBody>
      </p:sp>
      <p:sp>
        <p:nvSpPr>
          <p:cNvPr id="5" name="Date Placeholder 4"/>
          <p:cNvSpPr>
            <a:spLocks noGrp="1"/>
          </p:cNvSpPr>
          <p:nvPr>
            <p:ph type="dt" sz="half" idx="10"/>
          </p:nvPr>
        </p:nvSpPr>
        <p:spPr/>
        <p:txBody>
          <a:bodyPr/>
          <a:lstStyle/>
          <a:p>
            <a:fld id="{4B038A7F-83E2-4FFB-A313-2392FAD8B24A}"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48</a:t>
            </a:fld>
            <a:endParaRPr lang="en-US"/>
          </a:p>
        </p:txBody>
      </p:sp>
    </p:spTree>
    <p:extLst>
      <p:ext uri="{BB962C8B-B14F-4D97-AF65-F5344CB8AC3E}">
        <p14:creationId xmlns:p14="http://schemas.microsoft.com/office/powerpoint/2010/main" val="412389622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simple program</a:t>
            </a:r>
          </a:p>
        </p:txBody>
      </p:sp>
      <p:sp>
        <p:nvSpPr>
          <p:cNvPr id="4" name="Rectangle 3"/>
          <p:cNvSpPr/>
          <p:nvPr/>
        </p:nvSpPr>
        <p:spPr>
          <a:xfrm>
            <a:off x="805761" y="838200"/>
            <a:ext cx="8087227" cy="1773884"/>
          </a:xfrm>
          <a:prstGeom prst="rect">
            <a:avLst/>
          </a:prstGeom>
        </p:spPr>
        <p:txBody>
          <a:bodyPr wrap="square">
            <a:spAutoFit/>
          </a:bodyPr>
          <a:lstStyle/>
          <a:p>
            <a:pPr marL="228600" marR="0">
              <a:lnSpc>
                <a:spcPct val="107000"/>
              </a:lnSpc>
              <a:spcBef>
                <a:spcPts val="1500"/>
              </a:spcBef>
              <a:spcAft>
                <a:spcPts val="1700"/>
              </a:spcAft>
            </a:pPr>
            <a:r>
              <a:rPr lang="en-US" sz="2000" dirty="0" smtClean="0">
                <a:solidFill>
                  <a:srgbClr val="000000"/>
                </a:solidFill>
                <a:latin typeface="Calibri" panose="020F0502020204030204" pitchFamily="34" charset="0"/>
                <a:ea typeface="Times New Roman" panose="02020603050405020304" pitchFamily="18" charset="0"/>
                <a:cs typeface="Times New Roman" panose="02020603050405020304" pitchFamily="18" charset="0"/>
              </a:rPr>
              <a:t>For </a:t>
            </a:r>
            <a:r>
              <a:rPr lang="en-US" sz="20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example, in our program to add two numbers, we can use labels to indicate the memory addresses, thus making it unnecessary to know the exact memory address of the operands for instructions</a:t>
            </a:r>
            <a:r>
              <a:rPr lang="en-US" sz="2000" dirty="0" smtClean="0">
                <a:solidFill>
                  <a:srgbClr val="000000"/>
                </a:solidFill>
                <a:latin typeface="Calibri" panose="020F0502020204030204" pitchFamily="34" charset="0"/>
                <a:ea typeface="Times New Roman" panose="02020603050405020304" pitchFamily="18" charset="0"/>
                <a:cs typeface="Times New Roman" panose="02020603050405020304" pitchFamily="18" charset="0"/>
              </a:rPr>
              <a:t>.</a:t>
            </a:r>
          </a:p>
          <a:p>
            <a:pPr marL="228600">
              <a:lnSpc>
                <a:spcPct val="107000"/>
              </a:lnSpc>
              <a:spcBef>
                <a:spcPts val="1500"/>
              </a:spcBef>
              <a:spcAft>
                <a:spcPts val="1700"/>
              </a:spcAft>
            </a:pPr>
            <a:r>
              <a:rPr lang="en-US" dirty="0"/>
              <a:t>Table </a:t>
            </a:r>
            <a:r>
              <a:rPr lang="en-US" dirty="0" smtClean="0"/>
              <a:t>4.6 </a:t>
            </a:r>
            <a:r>
              <a:rPr lang="en-US" dirty="0"/>
              <a:t>shows how labels and directives could be used</a:t>
            </a:r>
            <a:r>
              <a:rPr lang="en-US" dirty="0" smtClean="0"/>
              <a:t>:</a:t>
            </a:r>
            <a:endParaRPr lang="en-US" dirty="0"/>
          </a:p>
        </p:txBody>
      </p:sp>
      <p:pic>
        <p:nvPicPr>
          <p:cNvPr id="5" name="Picture 4"/>
          <p:cNvPicPr/>
          <p:nvPr/>
        </p:nvPicPr>
        <p:blipFill>
          <a:blip r:embed="rId2"/>
          <a:stretch>
            <a:fillRect/>
          </a:stretch>
        </p:blipFill>
        <p:spPr>
          <a:xfrm>
            <a:off x="1600200" y="2895600"/>
            <a:ext cx="6477000" cy="2971800"/>
          </a:xfrm>
          <a:prstGeom prst="rect">
            <a:avLst/>
          </a:prstGeom>
        </p:spPr>
      </p:pic>
      <p:sp>
        <p:nvSpPr>
          <p:cNvPr id="3" name="Rectangle 2"/>
          <p:cNvSpPr/>
          <p:nvPr/>
        </p:nvSpPr>
        <p:spPr>
          <a:xfrm>
            <a:off x="3200400" y="5736595"/>
            <a:ext cx="3144643" cy="276999"/>
          </a:xfrm>
          <a:prstGeom prst="rect">
            <a:avLst/>
          </a:prstGeom>
        </p:spPr>
        <p:txBody>
          <a:bodyPr wrap="none">
            <a:spAutoFit/>
          </a:bodyPr>
          <a:lstStyle/>
          <a:p>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Table </a:t>
            </a:r>
            <a:r>
              <a:rPr lang="ar-SA" sz="1200" i="1" dirty="0" smtClean="0">
                <a:solidFill>
                  <a:schemeClr val="tx2">
                    <a:lumMod val="75000"/>
                  </a:schemeClr>
                </a:solidFill>
                <a:latin typeface="Calibri" panose="020F0502020204030204" pitchFamily="34" charset="0"/>
                <a:ea typeface="Calibri" panose="020F0502020204030204" pitchFamily="34" charset="0"/>
              </a:rPr>
              <a:t>‎</a:t>
            </a:r>
            <a:r>
              <a:rPr lang="en-US" sz="1200" i="1" dirty="0" smtClean="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4.6: </a:t>
            </a:r>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Using </a:t>
            </a:r>
            <a:r>
              <a:rPr lang="en-US" sz="1200" b="1"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Labels </a:t>
            </a:r>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and </a:t>
            </a:r>
            <a:r>
              <a:rPr lang="en-US" sz="1200" b="1"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Directives </a:t>
            </a:r>
            <a:r>
              <a:rPr lang="en-US" sz="1200" i="1" dirty="0">
                <a:solidFill>
                  <a:schemeClr val="tx2">
                    <a:lumMod val="75000"/>
                  </a:schemeClr>
                </a:solidFill>
                <a:latin typeface="Calibri" panose="020F0502020204030204" pitchFamily="34" charset="0"/>
                <a:ea typeface="Calibri" panose="020F0502020204030204" pitchFamily="34" charset="0"/>
                <a:cs typeface="Arial" panose="020B0604020202020204" pitchFamily="34" charset="0"/>
              </a:rPr>
              <a:t>in MARIE</a:t>
            </a:r>
            <a:endParaRPr lang="en-US" sz="2000" i="1" dirty="0">
              <a:solidFill>
                <a:schemeClr val="tx2">
                  <a:lumMod val="75000"/>
                </a:schemeClr>
              </a:solidFill>
            </a:endParaRPr>
          </a:p>
        </p:txBody>
      </p:sp>
      <p:sp>
        <p:nvSpPr>
          <p:cNvPr id="6" name="Date Placeholder 5"/>
          <p:cNvSpPr>
            <a:spLocks noGrp="1"/>
          </p:cNvSpPr>
          <p:nvPr>
            <p:ph type="dt" sz="half" idx="10"/>
          </p:nvPr>
        </p:nvSpPr>
        <p:spPr/>
        <p:txBody>
          <a:bodyPr/>
          <a:lstStyle/>
          <a:p>
            <a:fld id="{50A415C3-8EB7-4BAF-9DA7-09F30267ABBC}" type="datetime3">
              <a:rPr lang="en-US" smtClean="0"/>
              <a:t>14 February 2017</a:t>
            </a:fld>
            <a:endParaRPr lang="en-US"/>
          </a:p>
        </p:txBody>
      </p:sp>
      <p:sp>
        <p:nvSpPr>
          <p:cNvPr id="7" name="Footer Placeholder 6"/>
          <p:cNvSpPr>
            <a:spLocks noGrp="1"/>
          </p:cNvSpPr>
          <p:nvPr>
            <p:ph type="ftr" sz="quarter" idx="11"/>
          </p:nvPr>
        </p:nvSpPr>
        <p:spPr/>
        <p:txBody>
          <a:bodyPr/>
          <a:lstStyle/>
          <a:p>
            <a:r>
              <a:rPr lang="en-US" smtClean="0"/>
              <a:t>T103 - Arab open University</a:t>
            </a:r>
            <a:endParaRPr lang="en-US"/>
          </a:p>
        </p:txBody>
      </p:sp>
      <p:sp>
        <p:nvSpPr>
          <p:cNvPr id="8" name="Slide Number Placeholder 7"/>
          <p:cNvSpPr>
            <a:spLocks noGrp="1"/>
          </p:cNvSpPr>
          <p:nvPr>
            <p:ph type="sldNum" sz="quarter" idx="12"/>
          </p:nvPr>
        </p:nvSpPr>
        <p:spPr/>
        <p:txBody>
          <a:bodyPr/>
          <a:lstStyle/>
          <a:p>
            <a:fld id="{20042AC5-0839-4BB6-BBC0-636ECAAE7EE1}" type="slidenum">
              <a:rPr lang="en-US" smtClean="0"/>
              <a:pPr/>
              <a:t>49</a:t>
            </a:fld>
            <a:endParaRPr lang="en-US"/>
          </a:p>
        </p:txBody>
      </p:sp>
    </p:spTree>
    <p:extLst>
      <p:ext uri="{BB962C8B-B14F-4D97-AF65-F5344CB8AC3E}">
        <p14:creationId xmlns:p14="http://schemas.microsoft.com/office/powerpoint/2010/main" val="28860414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Lecture Overview</a:t>
            </a:r>
            <a:endParaRPr lang="en-US" dirty="0"/>
          </a:p>
        </p:txBody>
      </p:sp>
      <p:sp>
        <p:nvSpPr>
          <p:cNvPr id="2" name="Content Placeholder 1"/>
          <p:cNvSpPr>
            <a:spLocks noGrp="1"/>
          </p:cNvSpPr>
          <p:nvPr>
            <p:ph idx="1"/>
          </p:nvPr>
        </p:nvSpPr>
        <p:spPr/>
        <p:txBody>
          <a:bodyPr>
            <a:normAutofit/>
          </a:bodyPr>
          <a:lstStyle/>
          <a:p>
            <a:r>
              <a:rPr lang="en-US" dirty="0" smtClean="0">
                <a:solidFill>
                  <a:schemeClr val="bg1">
                    <a:lumMod val="65000"/>
                  </a:schemeClr>
                </a:solidFill>
              </a:rPr>
              <a:t>Introduction</a:t>
            </a:r>
          </a:p>
          <a:p>
            <a:r>
              <a:rPr lang="en-US" dirty="0" smtClean="0">
                <a:solidFill>
                  <a:schemeClr val="bg1">
                    <a:lumMod val="65000"/>
                  </a:schemeClr>
                </a:solidFill>
              </a:rPr>
              <a:t>MARIE</a:t>
            </a:r>
          </a:p>
          <a:p>
            <a:r>
              <a:rPr lang="en-US" dirty="0" smtClean="0">
                <a:solidFill>
                  <a:schemeClr val="bg1">
                    <a:lumMod val="65000"/>
                  </a:schemeClr>
                </a:solidFill>
              </a:rPr>
              <a:t>Instruction processing</a:t>
            </a:r>
          </a:p>
          <a:p>
            <a:r>
              <a:rPr lang="en-US" dirty="0" smtClean="0">
                <a:solidFill>
                  <a:schemeClr val="bg1">
                    <a:lumMod val="65000"/>
                  </a:schemeClr>
                </a:solidFill>
              </a:rPr>
              <a:t>A simple program</a:t>
            </a:r>
          </a:p>
          <a:p>
            <a:r>
              <a:rPr lang="en-US" b="1" dirty="0" smtClean="0">
                <a:solidFill>
                  <a:srgbClr val="FF0000"/>
                </a:solidFill>
              </a:rPr>
              <a:t>Extending our ISA</a:t>
            </a:r>
          </a:p>
          <a:p>
            <a:r>
              <a:rPr lang="en-US" dirty="0">
                <a:solidFill>
                  <a:schemeClr val="bg1">
                    <a:lumMod val="65000"/>
                  </a:schemeClr>
                </a:solidFill>
              </a:rPr>
              <a:t>Addressing Modes ( Ch. 5)</a:t>
            </a:r>
          </a:p>
          <a:p>
            <a:pPr>
              <a:buNone/>
            </a:pPr>
            <a:endParaRPr lang="en-US" b="1" dirty="0">
              <a:solidFill>
                <a:srgbClr val="FF0000"/>
              </a:solidFill>
            </a:endParaRPr>
          </a:p>
        </p:txBody>
      </p:sp>
      <p:sp>
        <p:nvSpPr>
          <p:cNvPr id="4" name="Date Placeholder 3"/>
          <p:cNvSpPr>
            <a:spLocks noGrp="1"/>
          </p:cNvSpPr>
          <p:nvPr>
            <p:ph type="dt" sz="half" idx="10"/>
          </p:nvPr>
        </p:nvSpPr>
        <p:spPr/>
        <p:txBody>
          <a:bodyPr/>
          <a:lstStyle/>
          <a:p>
            <a:fld id="{3A8864A7-362D-4C54-B224-9787BAC7686E}" type="datetime3">
              <a:rPr lang="en-US" smtClean="0"/>
              <a:t>14 February 2017</a:t>
            </a:fld>
            <a:endParaRPr lang="en-US"/>
          </a:p>
        </p:txBody>
      </p:sp>
      <p:sp>
        <p:nvSpPr>
          <p:cNvPr id="5" name="Footer Placeholder 4"/>
          <p:cNvSpPr>
            <a:spLocks noGrp="1"/>
          </p:cNvSpPr>
          <p:nvPr>
            <p:ph type="ftr" sz="quarter" idx="11"/>
          </p:nvPr>
        </p:nvSpPr>
        <p:spPr/>
        <p:txBody>
          <a:bodyPr/>
          <a:lstStyle/>
          <a:p>
            <a:r>
              <a:rPr lang="en-US" smtClean="0"/>
              <a:t>T103 - Arab open University</a:t>
            </a:r>
            <a:endParaRPr lang="en-US" dirty="0"/>
          </a:p>
        </p:txBody>
      </p:sp>
      <p:sp>
        <p:nvSpPr>
          <p:cNvPr id="6" name="Slide Number Placeholder 5"/>
          <p:cNvSpPr>
            <a:spLocks noGrp="1"/>
          </p:cNvSpPr>
          <p:nvPr>
            <p:ph type="sldNum" sz="quarter" idx="12"/>
          </p:nvPr>
        </p:nvSpPr>
        <p:spPr/>
        <p:txBody>
          <a:bodyPr/>
          <a:lstStyle/>
          <a:p>
            <a:fld id="{20042AC5-0839-4BB6-BBC0-636ECAAE7EE1}" type="slidenum">
              <a:rPr lang="en-US" smtClean="0"/>
              <a:pPr/>
              <a:t>50</a:t>
            </a:fld>
            <a:endParaRPr lang="en-US"/>
          </a:p>
        </p:txBody>
      </p:sp>
    </p:spTree>
    <p:extLst>
      <p:ext uri="{BB962C8B-B14F-4D97-AF65-F5344CB8AC3E}">
        <p14:creationId xmlns:p14="http://schemas.microsoft.com/office/powerpoint/2010/main" val="57988429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Extending our instruction </a:t>
            </a:r>
            <a:r>
              <a:rPr lang="en-US" dirty="0" smtClean="0"/>
              <a:t>set</a:t>
            </a:r>
            <a:endParaRPr lang="en-US" dirty="0"/>
          </a:p>
        </p:txBody>
      </p:sp>
      <p:sp>
        <p:nvSpPr>
          <p:cNvPr id="4" name="Content Placeholder 3"/>
          <p:cNvSpPr>
            <a:spLocks noGrp="1"/>
          </p:cNvSpPr>
          <p:nvPr>
            <p:ph idx="1"/>
          </p:nvPr>
        </p:nvSpPr>
        <p:spPr>
          <a:xfrm>
            <a:off x="990600" y="1066801"/>
            <a:ext cx="8153400" cy="1676399"/>
          </a:xfrm>
        </p:spPr>
        <p:txBody>
          <a:bodyPr>
            <a:normAutofit/>
          </a:bodyPr>
          <a:lstStyle/>
          <a:p>
            <a:pPr marL="0" indent="0">
              <a:buNone/>
            </a:pPr>
            <a:r>
              <a:rPr lang="en-US" sz="2400" dirty="0" smtClean="0"/>
              <a:t>For MARIE, we have seen only 9 instructions while we have 4 bits, so we can have 16 different instructions.</a:t>
            </a:r>
          </a:p>
          <a:p>
            <a:pPr marL="0" indent="0">
              <a:buNone/>
            </a:pPr>
            <a:r>
              <a:rPr lang="en-US" sz="2400" dirty="0" smtClean="0"/>
              <a:t>We will now extend our ISA by adding 4 new instructions: </a:t>
            </a:r>
            <a:r>
              <a:rPr lang="en-US" sz="2400" dirty="0" err="1" smtClean="0"/>
              <a:t>JnS</a:t>
            </a:r>
            <a:r>
              <a:rPr lang="en-US" sz="2400" dirty="0" smtClean="0"/>
              <a:t>, Clear, </a:t>
            </a:r>
            <a:r>
              <a:rPr lang="en-US" sz="2400" dirty="0" err="1" smtClean="0"/>
              <a:t>AddI</a:t>
            </a:r>
            <a:r>
              <a:rPr lang="en-US" sz="2400" dirty="0" smtClean="0"/>
              <a:t> and JumpI</a:t>
            </a:r>
            <a:endParaRPr lang="en-US" sz="2400"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43000" y="2895600"/>
            <a:ext cx="7845380" cy="2957639"/>
          </a:xfrm>
          <a:prstGeom prst="rect">
            <a:avLst/>
          </a:prstGeom>
        </p:spPr>
      </p:pic>
      <p:sp>
        <p:nvSpPr>
          <p:cNvPr id="6" name="Date Placeholder 5"/>
          <p:cNvSpPr>
            <a:spLocks noGrp="1"/>
          </p:cNvSpPr>
          <p:nvPr>
            <p:ph type="dt" sz="half" idx="10"/>
          </p:nvPr>
        </p:nvSpPr>
        <p:spPr/>
        <p:txBody>
          <a:bodyPr/>
          <a:lstStyle/>
          <a:p>
            <a:fld id="{5D8242D0-9528-4121-A922-9C7EBD70014D}" type="datetime3">
              <a:rPr lang="en-US" smtClean="0"/>
              <a:t>14 February 2017</a:t>
            </a:fld>
            <a:endParaRPr lang="en-US"/>
          </a:p>
        </p:txBody>
      </p:sp>
      <p:sp>
        <p:nvSpPr>
          <p:cNvPr id="7" name="Footer Placeholder 6"/>
          <p:cNvSpPr>
            <a:spLocks noGrp="1"/>
          </p:cNvSpPr>
          <p:nvPr>
            <p:ph type="ftr" sz="quarter" idx="11"/>
          </p:nvPr>
        </p:nvSpPr>
        <p:spPr/>
        <p:txBody>
          <a:bodyPr/>
          <a:lstStyle/>
          <a:p>
            <a:r>
              <a:rPr lang="en-US" smtClean="0"/>
              <a:t>T103 - Arab open University</a:t>
            </a:r>
            <a:endParaRPr lang="en-US"/>
          </a:p>
        </p:txBody>
      </p:sp>
      <p:sp>
        <p:nvSpPr>
          <p:cNvPr id="8" name="Slide Number Placeholder 7"/>
          <p:cNvSpPr>
            <a:spLocks noGrp="1"/>
          </p:cNvSpPr>
          <p:nvPr>
            <p:ph type="sldNum" sz="quarter" idx="12"/>
          </p:nvPr>
        </p:nvSpPr>
        <p:spPr/>
        <p:txBody>
          <a:bodyPr/>
          <a:lstStyle/>
          <a:p>
            <a:fld id="{20042AC5-0839-4BB6-BBC0-636ECAAE7EE1}" type="slidenum">
              <a:rPr lang="en-US" smtClean="0"/>
              <a:pPr/>
              <a:t>51</a:t>
            </a:fld>
            <a:endParaRPr lang="en-US"/>
          </a:p>
        </p:txBody>
      </p:sp>
    </p:spTree>
    <p:extLst>
      <p:ext uri="{BB962C8B-B14F-4D97-AF65-F5344CB8AC3E}">
        <p14:creationId xmlns:p14="http://schemas.microsoft.com/office/powerpoint/2010/main" val="407888332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Extending our instruction </a:t>
            </a:r>
            <a:r>
              <a:rPr lang="en-US" dirty="0" smtClean="0"/>
              <a:t>set</a:t>
            </a:r>
            <a:endParaRPr lang="en-US" dirty="0"/>
          </a:p>
        </p:txBody>
      </p:sp>
      <p:sp>
        <p:nvSpPr>
          <p:cNvPr id="4" name="Content Placeholder 3"/>
          <p:cNvSpPr>
            <a:spLocks noGrp="1"/>
          </p:cNvSpPr>
          <p:nvPr>
            <p:ph idx="1"/>
          </p:nvPr>
        </p:nvSpPr>
        <p:spPr>
          <a:xfrm>
            <a:off x="990600" y="945776"/>
            <a:ext cx="8153400" cy="4525963"/>
          </a:xfrm>
        </p:spPr>
        <p:txBody>
          <a:bodyPr>
            <a:normAutofit/>
          </a:bodyPr>
          <a:lstStyle/>
          <a:p>
            <a:r>
              <a:rPr lang="en-US" sz="2000" b="1" dirty="0" err="1" smtClean="0"/>
              <a:t>JnS</a:t>
            </a:r>
            <a:r>
              <a:rPr lang="en-US" sz="2000" b="1" dirty="0" smtClean="0"/>
              <a:t>: Jump-and-Store instruction</a:t>
            </a:r>
          </a:p>
          <a:p>
            <a:pPr lvl="1"/>
            <a:r>
              <a:rPr lang="en-US" sz="1800" dirty="0" smtClean="0"/>
              <a:t>Allows </a:t>
            </a:r>
            <a:r>
              <a:rPr lang="en-US" sz="1800" dirty="0"/>
              <a:t>us to store a pointer </a:t>
            </a:r>
            <a:r>
              <a:rPr lang="en-US" sz="1800" dirty="0" smtClean="0"/>
              <a:t>and </a:t>
            </a:r>
            <a:r>
              <a:rPr lang="en-US" sz="1800" dirty="0"/>
              <a:t>then proceeds to set the PC to a different </a:t>
            </a:r>
            <a:r>
              <a:rPr lang="en-US" sz="1800" dirty="0" smtClean="0"/>
              <a:t>instruction</a:t>
            </a:r>
          </a:p>
          <a:p>
            <a:pPr lvl="1"/>
            <a:r>
              <a:rPr lang="en-US" sz="1800" dirty="0"/>
              <a:t>This </a:t>
            </a:r>
            <a:r>
              <a:rPr lang="en-US" sz="1800" dirty="0" smtClean="0"/>
              <a:t>enables us </a:t>
            </a:r>
            <a:r>
              <a:rPr lang="en-US" sz="1800" dirty="0"/>
              <a:t>to call procedures and other subroutines, and then return to the calling point </a:t>
            </a:r>
            <a:r>
              <a:rPr lang="en-US" sz="1800" dirty="0" smtClean="0"/>
              <a:t>in our </a:t>
            </a:r>
            <a:r>
              <a:rPr lang="en-US" sz="1800" dirty="0"/>
              <a:t>code </a:t>
            </a:r>
            <a:r>
              <a:rPr lang="en-US" sz="1800" dirty="0" smtClean="0"/>
              <a:t>once </a:t>
            </a:r>
            <a:r>
              <a:rPr lang="en-US" sz="1800" dirty="0"/>
              <a:t>the subroutine has finished</a:t>
            </a:r>
            <a:r>
              <a:rPr lang="en-US" sz="1800" dirty="0" smtClean="0"/>
              <a:t>.</a:t>
            </a:r>
          </a:p>
          <a:p>
            <a:r>
              <a:rPr lang="en-US" sz="2000" b="1" dirty="0" smtClean="0"/>
              <a:t>Clear: </a:t>
            </a:r>
          </a:p>
          <a:p>
            <a:pPr lvl="1"/>
            <a:r>
              <a:rPr lang="en-US" sz="1800" dirty="0" smtClean="0"/>
              <a:t>This instruction </a:t>
            </a:r>
            <a:r>
              <a:rPr lang="en-US" sz="1800" dirty="0"/>
              <a:t>moves all </a:t>
            </a:r>
            <a:r>
              <a:rPr lang="en-US" sz="1800" dirty="0" smtClean="0"/>
              <a:t>zeros into </a:t>
            </a:r>
            <a:r>
              <a:rPr lang="en-US" sz="1800" dirty="0"/>
              <a:t>the </a:t>
            </a:r>
            <a:r>
              <a:rPr lang="en-US" sz="1800" dirty="0" smtClean="0"/>
              <a:t>accumulator.</a:t>
            </a:r>
          </a:p>
          <a:p>
            <a:pPr lvl="1"/>
            <a:r>
              <a:rPr lang="en-US" sz="1800" dirty="0" smtClean="0"/>
              <a:t>This </a:t>
            </a:r>
            <a:r>
              <a:rPr lang="en-US" sz="1800" dirty="0"/>
              <a:t>saves the machine cycles that would otherwise </a:t>
            </a:r>
            <a:r>
              <a:rPr lang="en-US" sz="1800" dirty="0" smtClean="0"/>
              <a:t>be expended </a:t>
            </a:r>
            <a:r>
              <a:rPr lang="en-US" sz="1800" dirty="0"/>
              <a:t>in loading a 0 operand from memory.</a:t>
            </a:r>
          </a:p>
        </p:txBody>
      </p:sp>
      <p:graphicFrame>
        <p:nvGraphicFramePr>
          <p:cNvPr id="5" name="Table 4"/>
          <p:cNvGraphicFramePr>
            <a:graphicFrameLocks noGrp="1"/>
          </p:cNvGraphicFramePr>
          <p:nvPr>
            <p:extLst>
              <p:ext uri="{D42A27DB-BD31-4B8C-83A1-F6EECF244321}">
                <p14:modId xmlns:p14="http://schemas.microsoft.com/office/powerpoint/2010/main" val="243061243"/>
              </p:ext>
            </p:extLst>
          </p:nvPr>
        </p:nvGraphicFramePr>
        <p:xfrm>
          <a:off x="1517983" y="3810000"/>
          <a:ext cx="6934200" cy="2667000"/>
        </p:xfrm>
        <a:graphic>
          <a:graphicData uri="http://schemas.openxmlformats.org/drawingml/2006/table">
            <a:tbl>
              <a:tblPr firstRow="1" bandRow="1">
                <a:tableStyleId>{5C22544A-7EE6-4342-B048-85BDC9FD1C3A}</a:tableStyleId>
              </a:tblPr>
              <a:tblGrid>
                <a:gridCol w="3467100"/>
                <a:gridCol w="3467100"/>
              </a:tblGrid>
              <a:tr h="434286">
                <a:tc>
                  <a:txBody>
                    <a:bodyPr/>
                    <a:lstStyle/>
                    <a:p>
                      <a:pPr algn="ctr"/>
                      <a:r>
                        <a:rPr lang="en-US" sz="1800" b="1" dirty="0" err="1" smtClean="0"/>
                        <a:t>JnS</a:t>
                      </a:r>
                      <a:r>
                        <a:rPr lang="en-US" sz="1800" b="1" dirty="0" smtClean="0"/>
                        <a:t> RTL</a:t>
                      </a:r>
                      <a:endParaRPr lang="en-US" sz="1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smtClean="0"/>
                        <a:t>Clear RTL</a:t>
                      </a:r>
                      <a:endParaRPr lang="en-US" sz="1800" dirty="0"/>
                    </a:p>
                  </a:txBody>
                  <a:tcPr/>
                </a:tc>
              </a:tr>
              <a:tr h="2232714">
                <a:tc>
                  <a:txBody>
                    <a:bodyPr/>
                    <a:lstStyle/>
                    <a:p>
                      <a:pPr marL="457200" lvl="1" indent="0" algn="l">
                        <a:lnSpc>
                          <a:spcPct val="110000"/>
                        </a:lnSpc>
                        <a:spcBef>
                          <a:spcPts val="0"/>
                        </a:spcBef>
                        <a:buNone/>
                      </a:pPr>
                      <a:r>
                        <a:rPr lang="en-US" sz="1800" dirty="0" smtClean="0"/>
                        <a:t>MBR ← PC</a:t>
                      </a:r>
                    </a:p>
                    <a:p>
                      <a:pPr marL="457200" lvl="1" indent="0" algn="l">
                        <a:lnSpc>
                          <a:spcPct val="110000"/>
                        </a:lnSpc>
                        <a:spcBef>
                          <a:spcPts val="0"/>
                        </a:spcBef>
                        <a:buNone/>
                      </a:pPr>
                      <a:r>
                        <a:rPr lang="en-US" sz="1800" dirty="0" smtClean="0"/>
                        <a:t>MAR ← X</a:t>
                      </a:r>
                    </a:p>
                    <a:p>
                      <a:pPr marL="457200" lvl="1" indent="0" algn="l">
                        <a:lnSpc>
                          <a:spcPct val="110000"/>
                        </a:lnSpc>
                        <a:spcBef>
                          <a:spcPts val="0"/>
                        </a:spcBef>
                        <a:buNone/>
                      </a:pPr>
                      <a:r>
                        <a:rPr lang="en-US" sz="1800" dirty="0" smtClean="0"/>
                        <a:t>M[MAR] ← MBR</a:t>
                      </a:r>
                    </a:p>
                    <a:p>
                      <a:pPr marL="457200" lvl="1" indent="0" algn="l">
                        <a:lnSpc>
                          <a:spcPct val="110000"/>
                        </a:lnSpc>
                        <a:spcBef>
                          <a:spcPts val="0"/>
                        </a:spcBef>
                        <a:buNone/>
                      </a:pPr>
                      <a:r>
                        <a:rPr lang="en-US" sz="1800" dirty="0" smtClean="0"/>
                        <a:t>MBR ← X</a:t>
                      </a:r>
                    </a:p>
                    <a:p>
                      <a:pPr marL="457200" lvl="1" indent="0" algn="l">
                        <a:lnSpc>
                          <a:spcPct val="110000"/>
                        </a:lnSpc>
                        <a:spcBef>
                          <a:spcPts val="0"/>
                        </a:spcBef>
                        <a:buNone/>
                      </a:pPr>
                      <a:r>
                        <a:rPr lang="en-US" sz="1800" dirty="0" smtClean="0"/>
                        <a:t>AC ← 1</a:t>
                      </a:r>
                    </a:p>
                    <a:p>
                      <a:pPr marL="457200" lvl="1" indent="0" algn="l">
                        <a:lnSpc>
                          <a:spcPct val="110000"/>
                        </a:lnSpc>
                        <a:spcBef>
                          <a:spcPts val="0"/>
                        </a:spcBef>
                        <a:buNone/>
                      </a:pPr>
                      <a:r>
                        <a:rPr lang="en-US" sz="1800" dirty="0" smtClean="0"/>
                        <a:t>AC ← AC + MBR</a:t>
                      </a:r>
                    </a:p>
                    <a:p>
                      <a:pPr marL="457200" lvl="1" indent="0" algn="l">
                        <a:lnSpc>
                          <a:spcPct val="110000"/>
                        </a:lnSpc>
                        <a:spcBef>
                          <a:spcPts val="0"/>
                        </a:spcBef>
                        <a:buNone/>
                      </a:pPr>
                      <a:r>
                        <a:rPr lang="en-US" sz="1800" dirty="0" smtClean="0"/>
                        <a:t>PC ← AC</a:t>
                      </a:r>
                    </a:p>
                  </a:txBody>
                  <a:tcPr/>
                </a:tc>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US" sz="1800" dirty="0" smtClean="0"/>
                        <a:t>AC ← 0</a:t>
                      </a:r>
                    </a:p>
                  </a:txBody>
                  <a:tcPr/>
                </a:tc>
              </a:tr>
            </a:tbl>
          </a:graphicData>
        </a:graphic>
      </p:graphicFrame>
      <p:sp>
        <p:nvSpPr>
          <p:cNvPr id="6" name="Date Placeholder 5"/>
          <p:cNvSpPr>
            <a:spLocks noGrp="1"/>
          </p:cNvSpPr>
          <p:nvPr>
            <p:ph type="dt" sz="half" idx="10"/>
          </p:nvPr>
        </p:nvSpPr>
        <p:spPr/>
        <p:txBody>
          <a:bodyPr/>
          <a:lstStyle/>
          <a:p>
            <a:fld id="{91E201E0-258C-4C65-A6B9-31119E4A52F1}" type="datetime3">
              <a:rPr lang="en-US" smtClean="0"/>
              <a:t>14 February 2017</a:t>
            </a:fld>
            <a:endParaRPr lang="en-US"/>
          </a:p>
        </p:txBody>
      </p:sp>
      <p:sp>
        <p:nvSpPr>
          <p:cNvPr id="7" name="Footer Placeholder 6"/>
          <p:cNvSpPr>
            <a:spLocks noGrp="1"/>
          </p:cNvSpPr>
          <p:nvPr>
            <p:ph type="ftr" sz="quarter" idx="11"/>
          </p:nvPr>
        </p:nvSpPr>
        <p:spPr/>
        <p:txBody>
          <a:bodyPr/>
          <a:lstStyle/>
          <a:p>
            <a:r>
              <a:rPr lang="en-US" smtClean="0"/>
              <a:t>T103 - Arab open University</a:t>
            </a:r>
            <a:endParaRPr lang="en-US"/>
          </a:p>
        </p:txBody>
      </p:sp>
      <p:sp>
        <p:nvSpPr>
          <p:cNvPr id="8" name="Slide Number Placeholder 7"/>
          <p:cNvSpPr>
            <a:spLocks noGrp="1"/>
          </p:cNvSpPr>
          <p:nvPr>
            <p:ph type="sldNum" sz="quarter" idx="12"/>
          </p:nvPr>
        </p:nvSpPr>
        <p:spPr/>
        <p:txBody>
          <a:bodyPr/>
          <a:lstStyle/>
          <a:p>
            <a:fld id="{20042AC5-0839-4BB6-BBC0-636ECAAE7EE1}" type="slidenum">
              <a:rPr lang="en-US" smtClean="0"/>
              <a:pPr/>
              <a:t>52</a:t>
            </a:fld>
            <a:endParaRPr lang="en-US"/>
          </a:p>
        </p:txBody>
      </p:sp>
    </p:spTree>
    <p:extLst>
      <p:ext uri="{BB962C8B-B14F-4D97-AF65-F5344CB8AC3E}">
        <p14:creationId xmlns:p14="http://schemas.microsoft.com/office/powerpoint/2010/main" val="76476787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Extending our instruction </a:t>
            </a:r>
            <a:r>
              <a:rPr lang="en-US" dirty="0" smtClean="0"/>
              <a:t>set</a:t>
            </a:r>
            <a:endParaRPr lang="en-US" dirty="0"/>
          </a:p>
        </p:txBody>
      </p:sp>
      <p:sp>
        <p:nvSpPr>
          <p:cNvPr id="6" name="Rectangle 5"/>
          <p:cNvSpPr/>
          <p:nvPr/>
        </p:nvSpPr>
        <p:spPr>
          <a:xfrm>
            <a:off x="1066800" y="1066800"/>
            <a:ext cx="7543800" cy="3956661"/>
          </a:xfrm>
          <a:prstGeom prst="rect">
            <a:avLst/>
          </a:prstGeom>
        </p:spPr>
        <p:txBody>
          <a:bodyPr wrap="square">
            <a:spAutoFit/>
          </a:bodyPr>
          <a:lstStyle/>
          <a:p>
            <a:pPr>
              <a:lnSpc>
                <a:spcPct val="107000"/>
              </a:lnSpc>
              <a:spcAft>
                <a:spcPts val="800"/>
              </a:spcAft>
            </a:pPr>
            <a:r>
              <a:rPr lang="en-US" sz="2400" dirty="0">
                <a:latin typeface="Calibri" panose="020F0502020204030204" pitchFamily="34" charset="0"/>
                <a:ea typeface="Calibri" panose="020F0502020204030204" pitchFamily="34" charset="0"/>
                <a:cs typeface="Arial" panose="020B0604020202020204" pitchFamily="34" charset="0"/>
              </a:rPr>
              <a:t>So far, all of the MARIE instructions that we have discussed use a direct addressing mode.</a:t>
            </a:r>
            <a:endParaRPr lang="en-US" sz="20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2400" dirty="0">
                <a:latin typeface="Calibri" panose="020F0502020204030204" pitchFamily="34" charset="0"/>
                <a:ea typeface="Calibri" panose="020F0502020204030204" pitchFamily="34" charset="0"/>
                <a:cs typeface="Arial" panose="020B0604020202020204" pitchFamily="34" charset="0"/>
              </a:rPr>
              <a:t>This means that the address (not the value!) of the operand is explicitly stated in the instruction. </a:t>
            </a:r>
            <a:endParaRPr lang="en-US" sz="2000" dirty="0">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sz="2400" dirty="0">
                <a:latin typeface="Calibri" panose="020F0502020204030204" pitchFamily="34" charset="0"/>
                <a:ea typeface="Calibri" panose="020F0502020204030204" pitchFamily="34" charset="0"/>
                <a:cs typeface="Arial" panose="020B0604020202020204" pitchFamily="34" charset="0"/>
              </a:rPr>
              <a:t>It is often useful to employ an </a:t>
            </a:r>
            <a:r>
              <a:rPr lang="en-US" sz="2400" b="1" dirty="0">
                <a:latin typeface="Calibri" panose="020F0502020204030204" pitchFamily="34" charset="0"/>
                <a:ea typeface="Calibri" panose="020F0502020204030204" pitchFamily="34" charset="0"/>
                <a:cs typeface="Arial" panose="020B0604020202020204" pitchFamily="34" charset="0"/>
              </a:rPr>
              <a:t>indirect addressing</a:t>
            </a:r>
            <a:r>
              <a:rPr lang="en-US" sz="2400" dirty="0">
                <a:latin typeface="Calibri" panose="020F0502020204030204" pitchFamily="34" charset="0"/>
                <a:ea typeface="Calibri" panose="020F0502020204030204" pitchFamily="34" charset="0"/>
                <a:cs typeface="Arial" panose="020B0604020202020204" pitchFamily="34" charset="0"/>
              </a:rPr>
              <a:t>:</a:t>
            </a:r>
            <a:endParaRPr lang="en-US" sz="20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Calibri" panose="020F0502020204030204" pitchFamily="34" charset="0"/>
              <a:buChar char="-"/>
              <a:tabLst>
                <a:tab pos="685800" algn="l"/>
              </a:tabLst>
            </a:pPr>
            <a:r>
              <a:rPr lang="en-US" sz="2400" dirty="0">
                <a:solidFill>
                  <a:srgbClr val="7030A0"/>
                </a:solidFill>
                <a:latin typeface="Calibri" panose="020F0502020204030204" pitchFamily="34" charset="0"/>
                <a:ea typeface="Calibri" panose="020F0502020204030204" pitchFamily="34" charset="0"/>
                <a:cs typeface="Times New Roman" panose="02020603050405020304" pitchFamily="18" charset="0"/>
              </a:rPr>
              <a:t>The address of the address of the operand is given in the instruction. </a:t>
            </a:r>
            <a:endParaRPr lang="en-US" sz="2000" dirty="0">
              <a:solidFill>
                <a:srgbClr val="7030A0"/>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Calibri" panose="020F0502020204030204" pitchFamily="34" charset="0"/>
              <a:buChar char="-"/>
              <a:tabLst>
                <a:tab pos="685800" algn="l"/>
              </a:tabLst>
            </a:pPr>
            <a:r>
              <a:rPr lang="en-US" sz="2400" dirty="0">
                <a:latin typeface="Calibri" panose="020F0502020204030204" pitchFamily="34" charset="0"/>
                <a:ea typeface="Calibri" panose="020F0502020204030204" pitchFamily="34" charset="0"/>
                <a:cs typeface="Times New Roman" panose="02020603050405020304" pitchFamily="18" charset="0"/>
              </a:rPr>
              <a:t>This means that the content of the given address is the address of the needed value.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67DD4FED-F24C-458C-9DBA-9567905E72AB}" type="datetime3">
              <a:rPr lang="en-US" smtClean="0"/>
              <a:t>14 February 2017</a:t>
            </a:fld>
            <a:endParaRPr lang="en-US"/>
          </a:p>
        </p:txBody>
      </p:sp>
      <p:sp>
        <p:nvSpPr>
          <p:cNvPr id="8" name="Footer Placeholder 7"/>
          <p:cNvSpPr>
            <a:spLocks noGrp="1"/>
          </p:cNvSpPr>
          <p:nvPr>
            <p:ph type="ftr" sz="quarter" idx="11"/>
          </p:nvPr>
        </p:nvSpPr>
        <p:spPr/>
        <p:txBody>
          <a:bodyPr/>
          <a:lstStyle/>
          <a:p>
            <a:r>
              <a:rPr lang="en-US" smtClean="0"/>
              <a:t>T103 - Arab open University</a:t>
            </a:r>
            <a:endParaRPr lang="en-US"/>
          </a:p>
        </p:txBody>
      </p:sp>
      <p:sp>
        <p:nvSpPr>
          <p:cNvPr id="9" name="Slide Number Placeholder 8"/>
          <p:cNvSpPr>
            <a:spLocks noGrp="1"/>
          </p:cNvSpPr>
          <p:nvPr>
            <p:ph type="sldNum" sz="quarter" idx="12"/>
          </p:nvPr>
        </p:nvSpPr>
        <p:spPr/>
        <p:txBody>
          <a:bodyPr/>
          <a:lstStyle/>
          <a:p>
            <a:fld id="{20042AC5-0839-4BB6-BBC0-636ECAAE7EE1}" type="slidenum">
              <a:rPr lang="en-US" smtClean="0"/>
              <a:pPr/>
              <a:t>53</a:t>
            </a:fld>
            <a:endParaRPr lang="en-US"/>
          </a:p>
        </p:txBody>
      </p:sp>
    </p:spTree>
    <p:extLst>
      <p:ext uri="{BB962C8B-B14F-4D97-AF65-F5344CB8AC3E}">
        <p14:creationId xmlns:p14="http://schemas.microsoft.com/office/powerpoint/2010/main" val="194092210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Extending our instruction </a:t>
            </a:r>
            <a:r>
              <a:rPr lang="en-US" dirty="0" smtClean="0"/>
              <a:t>set</a:t>
            </a:r>
            <a:endParaRPr lang="en-US" dirty="0"/>
          </a:p>
        </p:txBody>
      </p:sp>
      <p:sp>
        <p:nvSpPr>
          <p:cNvPr id="4" name="Content Placeholder 3"/>
          <p:cNvSpPr>
            <a:spLocks noGrp="1"/>
          </p:cNvSpPr>
          <p:nvPr>
            <p:ph idx="1"/>
          </p:nvPr>
        </p:nvSpPr>
        <p:spPr>
          <a:xfrm>
            <a:off x="914400" y="1066800"/>
            <a:ext cx="8153400" cy="4525963"/>
          </a:xfrm>
        </p:spPr>
        <p:txBody>
          <a:bodyPr>
            <a:normAutofit/>
          </a:bodyPr>
          <a:lstStyle/>
          <a:p>
            <a:r>
              <a:rPr lang="en-US" sz="2400" b="1" dirty="0" smtClean="0"/>
              <a:t>JumpI</a:t>
            </a:r>
            <a:r>
              <a:rPr lang="en-US" sz="2400" dirty="0" smtClean="0"/>
              <a:t> and </a:t>
            </a:r>
            <a:r>
              <a:rPr lang="en-US" sz="2400" b="1" dirty="0" err="1" smtClean="0"/>
              <a:t>AddI</a:t>
            </a:r>
            <a:r>
              <a:rPr lang="en-US" sz="2400" dirty="0" smtClean="0"/>
              <a:t> use indirect addressing</a:t>
            </a:r>
          </a:p>
          <a:p>
            <a:r>
              <a:rPr lang="en-US" sz="2400" dirty="0" smtClean="0"/>
              <a:t>Their RTL are shown in the table below</a:t>
            </a:r>
          </a:p>
        </p:txBody>
      </p:sp>
      <p:graphicFrame>
        <p:nvGraphicFramePr>
          <p:cNvPr id="5" name="Table 4"/>
          <p:cNvGraphicFramePr>
            <a:graphicFrameLocks noGrp="1"/>
          </p:cNvGraphicFramePr>
          <p:nvPr>
            <p:extLst>
              <p:ext uri="{D42A27DB-BD31-4B8C-83A1-F6EECF244321}">
                <p14:modId xmlns:p14="http://schemas.microsoft.com/office/powerpoint/2010/main" val="509411436"/>
              </p:ext>
            </p:extLst>
          </p:nvPr>
        </p:nvGraphicFramePr>
        <p:xfrm>
          <a:off x="1219200" y="2514600"/>
          <a:ext cx="6934200" cy="2667000"/>
        </p:xfrm>
        <a:graphic>
          <a:graphicData uri="http://schemas.openxmlformats.org/drawingml/2006/table">
            <a:tbl>
              <a:tblPr firstRow="1" bandRow="1">
                <a:tableStyleId>{5C22544A-7EE6-4342-B048-85BDC9FD1C3A}</a:tableStyleId>
              </a:tblPr>
              <a:tblGrid>
                <a:gridCol w="3467100"/>
                <a:gridCol w="3467100"/>
              </a:tblGrid>
              <a:tr h="533400">
                <a:tc>
                  <a:txBody>
                    <a:bodyPr/>
                    <a:lstStyle/>
                    <a:p>
                      <a:pPr algn="ctr"/>
                      <a:r>
                        <a:rPr lang="en-US" sz="2400" b="1" dirty="0" smtClean="0"/>
                        <a:t>JumpI RTL</a:t>
                      </a:r>
                      <a:endParaRPr lang="en-US" sz="24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1" dirty="0" err="1" smtClean="0"/>
                        <a:t>AddI</a:t>
                      </a:r>
                      <a:r>
                        <a:rPr lang="en-US" sz="2400" b="1" dirty="0" smtClean="0"/>
                        <a:t> RTL</a:t>
                      </a:r>
                      <a:endParaRPr lang="en-US" sz="2400" dirty="0"/>
                    </a:p>
                  </a:txBody>
                  <a:tcPr/>
                </a:tc>
              </a:tr>
              <a:tr h="2133600">
                <a:tc>
                  <a:txBody>
                    <a:bodyPr/>
                    <a:lstStyle/>
                    <a:p>
                      <a:pPr lvl="1"/>
                      <a:r>
                        <a:rPr lang="en-US" sz="2400" dirty="0" smtClean="0"/>
                        <a:t>MAR ← X</a:t>
                      </a:r>
                    </a:p>
                    <a:p>
                      <a:pPr lvl="1"/>
                      <a:r>
                        <a:rPr lang="en-US" sz="2400" dirty="0" smtClean="0"/>
                        <a:t>MBR ← M[MAR]</a:t>
                      </a:r>
                    </a:p>
                    <a:p>
                      <a:pPr lvl="1"/>
                      <a:r>
                        <a:rPr lang="en-US" sz="2400" dirty="0" smtClean="0"/>
                        <a:t>PC ← MBR</a:t>
                      </a:r>
                      <a:endParaRPr lang="en-US" sz="2400" dirty="0"/>
                    </a:p>
                  </a:txBody>
                  <a:tcPr/>
                </a:tc>
                <a:tc>
                  <a:txBody>
                    <a:bodyPr/>
                    <a:lstStyle/>
                    <a:p>
                      <a:pPr marL="457200" marR="0" lvl="2" indent="0" algn="l" defTabSz="914400" rtl="0" eaLnBrk="1" fontAlgn="auto" latinLnBrk="0" hangingPunct="1">
                        <a:lnSpc>
                          <a:spcPct val="100000"/>
                        </a:lnSpc>
                        <a:spcBef>
                          <a:spcPts val="0"/>
                        </a:spcBef>
                        <a:spcAft>
                          <a:spcPts val="0"/>
                        </a:spcAft>
                        <a:buClrTx/>
                        <a:buSzTx/>
                        <a:buFontTx/>
                        <a:buNone/>
                        <a:tabLst/>
                        <a:defRPr/>
                      </a:pPr>
                      <a:r>
                        <a:rPr lang="pt-BR" sz="2400" dirty="0" smtClean="0"/>
                        <a:t>MAR ← X</a:t>
                      </a:r>
                    </a:p>
                    <a:p>
                      <a:pPr marL="457200" marR="0" lvl="2" indent="0" algn="l" defTabSz="914400" rtl="0" eaLnBrk="1" fontAlgn="auto" latinLnBrk="0" hangingPunct="1">
                        <a:lnSpc>
                          <a:spcPct val="100000"/>
                        </a:lnSpc>
                        <a:spcBef>
                          <a:spcPts val="0"/>
                        </a:spcBef>
                        <a:spcAft>
                          <a:spcPts val="0"/>
                        </a:spcAft>
                        <a:buClrTx/>
                        <a:buSzTx/>
                        <a:buFontTx/>
                        <a:buNone/>
                        <a:tabLst/>
                        <a:defRPr/>
                      </a:pPr>
                      <a:r>
                        <a:rPr lang="pt-BR" sz="2400" dirty="0" smtClean="0"/>
                        <a:t>MBR ← M[MAR]</a:t>
                      </a:r>
                    </a:p>
                    <a:p>
                      <a:pPr marL="457200" marR="0" lvl="2" indent="0" algn="l" defTabSz="914400" rtl="0" eaLnBrk="1" fontAlgn="auto" latinLnBrk="0" hangingPunct="1">
                        <a:lnSpc>
                          <a:spcPct val="100000"/>
                        </a:lnSpc>
                        <a:spcBef>
                          <a:spcPts val="0"/>
                        </a:spcBef>
                        <a:spcAft>
                          <a:spcPts val="0"/>
                        </a:spcAft>
                        <a:buClrTx/>
                        <a:buSzTx/>
                        <a:buFontTx/>
                        <a:buNone/>
                        <a:tabLst/>
                        <a:defRPr/>
                      </a:pPr>
                      <a:r>
                        <a:rPr lang="pt-BR" sz="2400" dirty="0" smtClean="0"/>
                        <a:t>MAR ← MBR</a:t>
                      </a:r>
                    </a:p>
                    <a:p>
                      <a:pPr marL="457200" marR="0" lvl="2" indent="0" algn="l" defTabSz="914400" rtl="0" eaLnBrk="1" fontAlgn="auto" latinLnBrk="0" hangingPunct="1">
                        <a:lnSpc>
                          <a:spcPct val="100000"/>
                        </a:lnSpc>
                        <a:spcBef>
                          <a:spcPts val="0"/>
                        </a:spcBef>
                        <a:spcAft>
                          <a:spcPts val="0"/>
                        </a:spcAft>
                        <a:buClrTx/>
                        <a:buSzTx/>
                        <a:buFontTx/>
                        <a:buNone/>
                        <a:tabLst/>
                        <a:defRPr/>
                      </a:pPr>
                      <a:r>
                        <a:rPr lang="pt-BR" sz="2400" dirty="0" smtClean="0"/>
                        <a:t>MBR ← M[MAR]</a:t>
                      </a:r>
                    </a:p>
                    <a:p>
                      <a:pPr marL="457200" marR="0" lvl="2" indent="0" algn="l" defTabSz="914400" rtl="0" eaLnBrk="1" fontAlgn="auto" latinLnBrk="0" hangingPunct="1">
                        <a:lnSpc>
                          <a:spcPct val="100000"/>
                        </a:lnSpc>
                        <a:spcBef>
                          <a:spcPts val="0"/>
                        </a:spcBef>
                        <a:spcAft>
                          <a:spcPts val="0"/>
                        </a:spcAft>
                        <a:buClrTx/>
                        <a:buSzTx/>
                        <a:buFontTx/>
                        <a:buNone/>
                        <a:tabLst/>
                        <a:defRPr/>
                      </a:pPr>
                      <a:r>
                        <a:rPr lang="pt-BR" sz="2400" dirty="0" smtClean="0"/>
                        <a:t>AC ← AC + MBR</a:t>
                      </a:r>
                      <a:endParaRPr lang="en-US" sz="2400" dirty="0" smtClean="0"/>
                    </a:p>
                  </a:txBody>
                  <a:tcPr/>
                </a:tc>
              </a:tr>
            </a:tbl>
          </a:graphicData>
        </a:graphic>
      </p:graphicFrame>
      <p:sp>
        <p:nvSpPr>
          <p:cNvPr id="7" name="Date Placeholder 6"/>
          <p:cNvSpPr>
            <a:spLocks noGrp="1"/>
          </p:cNvSpPr>
          <p:nvPr>
            <p:ph type="dt" sz="half" idx="10"/>
          </p:nvPr>
        </p:nvSpPr>
        <p:spPr/>
        <p:txBody>
          <a:bodyPr/>
          <a:lstStyle/>
          <a:p>
            <a:fld id="{AAB04476-4EA4-4757-A4F2-25E5A9C1F4FF}" type="datetime3">
              <a:rPr lang="en-US" smtClean="0"/>
              <a:t>14 February 2017</a:t>
            </a:fld>
            <a:endParaRPr lang="en-US"/>
          </a:p>
        </p:txBody>
      </p:sp>
      <p:sp>
        <p:nvSpPr>
          <p:cNvPr id="8" name="Footer Placeholder 7"/>
          <p:cNvSpPr>
            <a:spLocks noGrp="1"/>
          </p:cNvSpPr>
          <p:nvPr>
            <p:ph type="ftr" sz="quarter" idx="11"/>
          </p:nvPr>
        </p:nvSpPr>
        <p:spPr/>
        <p:txBody>
          <a:bodyPr/>
          <a:lstStyle/>
          <a:p>
            <a:r>
              <a:rPr lang="en-US" smtClean="0"/>
              <a:t>T103 - Arab open University</a:t>
            </a:r>
            <a:endParaRPr lang="en-US"/>
          </a:p>
        </p:txBody>
      </p:sp>
      <p:sp>
        <p:nvSpPr>
          <p:cNvPr id="9" name="Slide Number Placeholder 8"/>
          <p:cNvSpPr>
            <a:spLocks noGrp="1"/>
          </p:cNvSpPr>
          <p:nvPr>
            <p:ph type="sldNum" sz="quarter" idx="12"/>
          </p:nvPr>
        </p:nvSpPr>
        <p:spPr/>
        <p:txBody>
          <a:bodyPr/>
          <a:lstStyle/>
          <a:p>
            <a:fld id="{20042AC5-0839-4BB6-BBC0-636ECAAE7EE1}" type="slidenum">
              <a:rPr lang="en-US" smtClean="0"/>
              <a:pPr/>
              <a:t>54</a:t>
            </a:fld>
            <a:endParaRPr lang="en-US"/>
          </a:p>
        </p:txBody>
      </p:sp>
    </p:spTree>
    <p:extLst>
      <p:ext uri="{BB962C8B-B14F-4D97-AF65-F5344CB8AC3E}">
        <p14:creationId xmlns:p14="http://schemas.microsoft.com/office/powerpoint/2010/main" val="71952485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 NEXT LECTURE (1/1)</a:t>
            </a:r>
            <a:endParaRPr lang="en-US" dirty="0"/>
          </a:p>
        </p:txBody>
      </p:sp>
      <p:sp>
        <p:nvSpPr>
          <p:cNvPr id="4" name="Content Placeholder 3"/>
          <p:cNvSpPr>
            <a:spLocks noGrp="1"/>
          </p:cNvSpPr>
          <p:nvPr>
            <p:ph idx="1"/>
          </p:nvPr>
        </p:nvSpPr>
        <p:spPr/>
        <p:txBody>
          <a:bodyPr/>
          <a:lstStyle/>
          <a:p>
            <a:r>
              <a:rPr lang="en-US" b="1" dirty="0" smtClean="0"/>
              <a:t>Exercise:</a:t>
            </a:r>
          </a:p>
          <a:p>
            <a:pPr marL="971550" lvl="1" indent="-514350">
              <a:buFont typeface="+mj-lt"/>
              <a:buAutoNum type="arabicPeriod"/>
            </a:pPr>
            <a:r>
              <a:rPr lang="en-US" dirty="0" smtClean="0"/>
              <a:t>Write a program that calculates 2X + Y - Z where X, Y, Z are three different numbers in three different memory locations. Store the result in the main memory and display it.</a:t>
            </a:r>
          </a:p>
          <a:p>
            <a:pPr marL="971550" lvl="1" indent="-514350">
              <a:buFont typeface="+mj-lt"/>
              <a:buAutoNum type="arabicPeriod"/>
            </a:pPr>
            <a:r>
              <a:rPr lang="en-US" dirty="0" smtClean="0"/>
              <a:t>Implement your code in MARIE simulator.</a:t>
            </a:r>
          </a:p>
          <a:p>
            <a:pPr marL="971550" lvl="1" indent="-514350">
              <a:buFont typeface="+mj-lt"/>
              <a:buAutoNum type="arabicPeriod"/>
            </a:pPr>
            <a:r>
              <a:rPr lang="en-US" dirty="0" smtClean="0"/>
              <a:t>Check if you have errors.</a:t>
            </a:r>
          </a:p>
          <a:p>
            <a:pPr marL="971550" lvl="1" indent="-514350">
              <a:buFont typeface="+mj-lt"/>
              <a:buAutoNum type="arabicPeriod"/>
            </a:pPr>
            <a:r>
              <a:rPr lang="en-US" dirty="0" smtClean="0"/>
              <a:t>Correct your errors and run your program.</a:t>
            </a:r>
            <a:endParaRPr lang="en-US" dirty="0"/>
          </a:p>
        </p:txBody>
      </p:sp>
      <p:sp>
        <p:nvSpPr>
          <p:cNvPr id="5" name="Date Placeholder 4"/>
          <p:cNvSpPr>
            <a:spLocks noGrp="1"/>
          </p:cNvSpPr>
          <p:nvPr>
            <p:ph type="dt" sz="half" idx="10"/>
          </p:nvPr>
        </p:nvSpPr>
        <p:spPr/>
        <p:txBody>
          <a:bodyPr/>
          <a:lstStyle/>
          <a:p>
            <a:fld id="{400AFB92-B798-4F77-BA60-487E4D2D08C4}"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55</a:t>
            </a:fld>
            <a:endParaRPr lang="en-US"/>
          </a:p>
        </p:txBody>
      </p:sp>
    </p:spTree>
    <p:extLst>
      <p:ext uri="{BB962C8B-B14F-4D97-AF65-F5344CB8AC3E}">
        <p14:creationId xmlns:p14="http://schemas.microsoft.com/office/powerpoint/2010/main" val="78533164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Lecture Overview</a:t>
            </a:r>
            <a:endParaRPr lang="en-US" dirty="0"/>
          </a:p>
        </p:txBody>
      </p:sp>
      <p:sp>
        <p:nvSpPr>
          <p:cNvPr id="2" name="Content Placeholder 1"/>
          <p:cNvSpPr>
            <a:spLocks noGrp="1"/>
          </p:cNvSpPr>
          <p:nvPr>
            <p:ph idx="1"/>
          </p:nvPr>
        </p:nvSpPr>
        <p:spPr/>
        <p:txBody>
          <a:bodyPr>
            <a:normAutofit/>
          </a:bodyPr>
          <a:lstStyle/>
          <a:p>
            <a:r>
              <a:rPr lang="en-US" dirty="0" smtClean="0">
                <a:solidFill>
                  <a:schemeClr val="bg1">
                    <a:lumMod val="65000"/>
                  </a:schemeClr>
                </a:solidFill>
              </a:rPr>
              <a:t>Introduction</a:t>
            </a:r>
          </a:p>
          <a:p>
            <a:r>
              <a:rPr lang="en-US" dirty="0" smtClean="0">
                <a:solidFill>
                  <a:schemeClr val="bg1">
                    <a:lumMod val="65000"/>
                  </a:schemeClr>
                </a:solidFill>
              </a:rPr>
              <a:t>MARIE</a:t>
            </a:r>
          </a:p>
          <a:p>
            <a:r>
              <a:rPr lang="en-US" dirty="0" smtClean="0">
                <a:solidFill>
                  <a:schemeClr val="bg1">
                    <a:lumMod val="65000"/>
                  </a:schemeClr>
                </a:solidFill>
              </a:rPr>
              <a:t>Instruction processing</a:t>
            </a:r>
          </a:p>
          <a:p>
            <a:r>
              <a:rPr lang="en-US" dirty="0" smtClean="0">
                <a:solidFill>
                  <a:schemeClr val="bg1">
                    <a:lumMod val="65000"/>
                  </a:schemeClr>
                </a:solidFill>
              </a:rPr>
              <a:t>A simple program</a:t>
            </a:r>
          </a:p>
          <a:p>
            <a:r>
              <a:rPr lang="en-US" dirty="0" smtClean="0">
                <a:solidFill>
                  <a:schemeClr val="bg1">
                    <a:lumMod val="75000"/>
                  </a:schemeClr>
                </a:solidFill>
              </a:rPr>
              <a:t>Extending our ISA</a:t>
            </a:r>
          </a:p>
          <a:p>
            <a:r>
              <a:rPr lang="en-US" b="1" dirty="0">
                <a:solidFill>
                  <a:srgbClr val="FF0000"/>
                </a:solidFill>
              </a:rPr>
              <a:t>Addressing Modes ( Ch. 5)</a:t>
            </a:r>
          </a:p>
          <a:p>
            <a:pPr>
              <a:buNone/>
            </a:pPr>
            <a:endParaRPr lang="en-US" b="1" dirty="0">
              <a:solidFill>
                <a:srgbClr val="FF0000"/>
              </a:solidFill>
            </a:endParaRPr>
          </a:p>
        </p:txBody>
      </p:sp>
      <p:sp>
        <p:nvSpPr>
          <p:cNvPr id="4" name="Date Placeholder 3"/>
          <p:cNvSpPr>
            <a:spLocks noGrp="1"/>
          </p:cNvSpPr>
          <p:nvPr>
            <p:ph type="dt" sz="half" idx="10"/>
          </p:nvPr>
        </p:nvSpPr>
        <p:spPr/>
        <p:txBody>
          <a:bodyPr/>
          <a:lstStyle/>
          <a:p>
            <a:fld id="{84C4555F-B4FE-4EAA-ABF7-2526A6343560}" type="datetime3">
              <a:rPr lang="en-US" smtClean="0"/>
              <a:t>14 February 2017</a:t>
            </a:fld>
            <a:endParaRPr lang="en-US"/>
          </a:p>
        </p:txBody>
      </p:sp>
      <p:sp>
        <p:nvSpPr>
          <p:cNvPr id="5" name="Footer Placeholder 4"/>
          <p:cNvSpPr>
            <a:spLocks noGrp="1"/>
          </p:cNvSpPr>
          <p:nvPr>
            <p:ph type="ftr" sz="quarter" idx="11"/>
          </p:nvPr>
        </p:nvSpPr>
        <p:spPr/>
        <p:txBody>
          <a:bodyPr/>
          <a:lstStyle/>
          <a:p>
            <a:r>
              <a:rPr lang="en-US" smtClean="0"/>
              <a:t>T103 - Arab open University</a:t>
            </a:r>
            <a:endParaRPr lang="en-US" dirty="0"/>
          </a:p>
        </p:txBody>
      </p:sp>
      <p:sp>
        <p:nvSpPr>
          <p:cNvPr id="6" name="Slide Number Placeholder 5"/>
          <p:cNvSpPr>
            <a:spLocks noGrp="1"/>
          </p:cNvSpPr>
          <p:nvPr>
            <p:ph type="sldNum" sz="quarter" idx="12"/>
          </p:nvPr>
        </p:nvSpPr>
        <p:spPr/>
        <p:txBody>
          <a:bodyPr/>
          <a:lstStyle/>
          <a:p>
            <a:fld id="{20042AC5-0839-4BB6-BBC0-636ECAAE7EE1}" type="slidenum">
              <a:rPr lang="en-US" smtClean="0"/>
              <a:pPr/>
              <a:t>56</a:t>
            </a:fld>
            <a:endParaRPr lang="en-US"/>
          </a:p>
        </p:txBody>
      </p:sp>
    </p:spTree>
    <p:extLst>
      <p:ext uri="{BB962C8B-B14F-4D97-AF65-F5344CB8AC3E}">
        <p14:creationId xmlns:p14="http://schemas.microsoft.com/office/powerpoint/2010/main" val="409429954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chemeClr val="tx2">
                    <a:lumMod val="75000"/>
                  </a:schemeClr>
                </a:solidFill>
                <a:ea typeface="+mn-ea"/>
                <a:cs typeface="+mn-cs"/>
              </a:rPr>
              <a:t>Addressing Modes</a:t>
            </a:r>
            <a:endParaRPr lang="en-US" b="1" dirty="0">
              <a:solidFill>
                <a:schemeClr val="tx2">
                  <a:lumMod val="75000"/>
                </a:schemeClr>
              </a:solidFill>
            </a:endParaRPr>
          </a:p>
        </p:txBody>
      </p:sp>
      <p:sp>
        <p:nvSpPr>
          <p:cNvPr id="4" name="Rectangle 3"/>
          <p:cNvSpPr/>
          <p:nvPr/>
        </p:nvSpPr>
        <p:spPr>
          <a:xfrm>
            <a:off x="1066800" y="1066800"/>
            <a:ext cx="7620000" cy="4535601"/>
          </a:xfrm>
          <a:prstGeom prst="rect">
            <a:avLst/>
          </a:prstGeom>
        </p:spPr>
        <p:txBody>
          <a:bodyPr wrap="square">
            <a:spAutoFit/>
          </a:bodyPr>
          <a:lstStyle/>
          <a:p>
            <a:pPr>
              <a:lnSpc>
                <a:spcPct val="107000"/>
              </a:lnSpc>
              <a:spcBef>
                <a:spcPts val="1500"/>
              </a:spcBef>
              <a:spcAft>
                <a:spcPts val="1700"/>
              </a:spcAft>
            </a:pPr>
            <a:r>
              <a:rPr lang="en-US" sz="2000" dirty="0">
                <a:latin typeface="Calibri" panose="020F0502020204030204" pitchFamily="34" charset="0"/>
                <a:ea typeface="Times New Roman" panose="02020603050405020304" pitchFamily="18" charset="0"/>
                <a:cs typeface="Times New Roman" panose="02020603050405020304" pitchFamily="18" charset="0"/>
              </a:rPr>
              <a:t>We saw in the previous </a:t>
            </a:r>
            <a:r>
              <a:rPr lang="en-US" sz="2000" dirty="0" smtClean="0">
                <a:latin typeface="Calibri" panose="020F0502020204030204" pitchFamily="34" charset="0"/>
                <a:ea typeface="Times New Roman" panose="02020603050405020304" pitchFamily="18" charset="0"/>
                <a:cs typeface="Times New Roman" panose="02020603050405020304" pitchFamily="18" charset="0"/>
              </a:rPr>
              <a:t>sections, </a:t>
            </a:r>
            <a:r>
              <a:rPr lang="en-US" sz="2000" dirty="0">
                <a:latin typeface="Calibri" panose="020F0502020204030204" pitchFamily="34" charset="0"/>
                <a:ea typeface="Times New Roman" panose="02020603050405020304" pitchFamily="18" charset="0"/>
                <a:cs typeface="Times New Roman" panose="02020603050405020304" pitchFamily="18" charset="0"/>
              </a:rPr>
              <a:t>while discussing the MARIE’s Instructions, that the 12 bits in the operand field can be interpreted in two different ways: the 12 bits represents either the memory address of the operand (direct addressing) or a pointer to a physical memory address ( indirect addressing). </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1500"/>
              </a:spcBef>
              <a:spcAft>
                <a:spcPts val="1700"/>
              </a:spcAft>
            </a:pPr>
            <a:r>
              <a:rPr lang="en-US" sz="2000" dirty="0">
                <a:latin typeface="Calibri" panose="020F0502020204030204" pitchFamily="34" charset="0"/>
                <a:ea typeface="Times New Roman" panose="02020603050405020304" pitchFamily="18" charset="0"/>
                <a:cs typeface="Times New Roman" panose="02020603050405020304" pitchFamily="18" charset="0"/>
              </a:rPr>
              <a:t>Addressing modes allow us to specify where the operands are located. An addressing mode can specify a constant, a register, or a location in memory. Certain modes allow shorter addresses, and some allow us to determine the location of the actual operand, often called the effective address of the operand, dynamically.</a:t>
            </a:r>
            <a:endParaRPr lang="en-US" dirty="0">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1500"/>
              </a:spcBef>
              <a:spcAft>
                <a:spcPts val="1700"/>
              </a:spcAft>
            </a:pPr>
            <a:r>
              <a:rPr lang="en-US" sz="2000" dirty="0" smtClean="0">
                <a:latin typeface="Calibri" panose="020F0502020204030204" pitchFamily="34" charset="0"/>
                <a:ea typeface="Times New Roman" panose="02020603050405020304" pitchFamily="18" charset="0"/>
                <a:cs typeface="Times New Roman" panose="02020603050405020304" pitchFamily="18" charset="0"/>
              </a:rPr>
              <a:t>In this section, </a:t>
            </a:r>
            <a:r>
              <a:rPr lang="en-US" sz="2000" dirty="0">
                <a:latin typeface="Calibri" panose="020F0502020204030204" pitchFamily="34" charset="0"/>
                <a:ea typeface="Times New Roman" panose="02020603050405020304" pitchFamily="18" charset="0"/>
                <a:cs typeface="Times New Roman" panose="02020603050405020304" pitchFamily="18" charset="0"/>
              </a:rPr>
              <a:t>we will investigate the most basic addressing modes.</a:t>
            </a:r>
            <a:endParaRPr lang="en-US" dirty="0">
              <a:effectLst/>
              <a:latin typeface="Calibri" panose="020F0502020204030204" pitchFamily="34" charset="0"/>
              <a:ea typeface="Calibri" panose="020F0502020204030204" pitchFamily="34" charset="0"/>
              <a:cs typeface="Arial" panose="020B0604020202020204" pitchFamily="34" charset="0"/>
            </a:endParaRPr>
          </a:p>
        </p:txBody>
      </p:sp>
      <p:sp>
        <p:nvSpPr>
          <p:cNvPr id="5" name="Date Placeholder 4"/>
          <p:cNvSpPr>
            <a:spLocks noGrp="1"/>
          </p:cNvSpPr>
          <p:nvPr>
            <p:ph type="dt" sz="half" idx="10"/>
          </p:nvPr>
        </p:nvSpPr>
        <p:spPr/>
        <p:txBody>
          <a:bodyPr/>
          <a:lstStyle/>
          <a:p>
            <a:fld id="{9431600A-9E97-49C8-9A4D-41117E5DECEB}" type="datetime3">
              <a:rPr lang="en-US" smtClean="0"/>
              <a:t>14 February 2017</a:t>
            </a:fld>
            <a:endParaRPr lang="en-US"/>
          </a:p>
        </p:txBody>
      </p:sp>
      <p:sp>
        <p:nvSpPr>
          <p:cNvPr id="6" name="Footer Placeholder 5"/>
          <p:cNvSpPr>
            <a:spLocks noGrp="1"/>
          </p:cNvSpPr>
          <p:nvPr>
            <p:ph type="ftr" sz="quarter" idx="11"/>
          </p:nvPr>
        </p:nvSpPr>
        <p:spPr/>
        <p:txBody>
          <a:bodyPr/>
          <a:lstStyle/>
          <a:p>
            <a:r>
              <a:rPr lang="en-US" smtClean="0"/>
              <a:t>T103 - Arab open University</a:t>
            </a:r>
            <a:endParaRPr lang="en-US" dirty="0"/>
          </a:p>
        </p:txBody>
      </p:sp>
      <p:sp>
        <p:nvSpPr>
          <p:cNvPr id="7" name="Slide Number Placeholder 6"/>
          <p:cNvSpPr>
            <a:spLocks noGrp="1"/>
          </p:cNvSpPr>
          <p:nvPr>
            <p:ph type="sldNum" sz="quarter" idx="12"/>
          </p:nvPr>
        </p:nvSpPr>
        <p:spPr/>
        <p:txBody>
          <a:bodyPr/>
          <a:lstStyle/>
          <a:p>
            <a:fld id="{20042AC5-0839-4BB6-BBC0-636ECAAE7EE1}" type="slidenum">
              <a:rPr lang="en-US" smtClean="0"/>
              <a:pPr/>
              <a:t>57</a:t>
            </a:fld>
            <a:endParaRPr lang="en-US"/>
          </a:p>
        </p:txBody>
      </p:sp>
    </p:spTree>
    <p:extLst>
      <p:ext uri="{BB962C8B-B14F-4D97-AF65-F5344CB8AC3E}">
        <p14:creationId xmlns:p14="http://schemas.microsoft.com/office/powerpoint/2010/main" val="303794890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Addressing - Introduction</a:t>
            </a:r>
            <a:endParaRPr lang="en-US" dirty="0"/>
          </a:p>
        </p:txBody>
      </p:sp>
      <p:sp>
        <p:nvSpPr>
          <p:cNvPr id="4" name="Content Placeholder 3"/>
          <p:cNvSpPr>
            <a:spLocks noGrp="1"/>
          </p:cNvSpPr>
          <p:nvPr>
            <p:ph idx="1"/>
          </p:nvPr>
        </p:nvSpPr>
        <p:spPr>
          <a:xfrm>
            <a:off x="828173" y="1066800"/>
            <a:ext cx="8153400" cy="4525963"/>
          </a:xfrm>
        </p:spPr>
        <p:txBody>
          <a:bodyPr>
            <a:normAutofit/>
          </a:bodyPr>
          <a:lstStyle/>
          <a:p>
            <a:pPr marL="0" indent="0">
              <a:buNone/>
            </a:pPr>
            <a:r>
              <a:rPr lang="en-US" sz="2400" b="1" dirty="0"/>
              <a:t>Addressing modes </a:t>
            </a:r>
            <a:r>
              <a:rPr lang="en-US" sz="2400" dirty="0"/>
              <a:t>specify where an operand is located.</a:t>
            </a:r>
          </a:p>
          <a:p>
            <a:pPr marL="0" indent="0">
              <a:buNone/>
            </a:pPr>
            <a:r>
              <a:rPr lang="en-US" sz="2400" dirty="0"/>
              <a:t>They can specify a constant, a register, or a memory location.</a:t>
            </a:r>
          </a:p>
          <a:p>
            <a:pPr marL="0" indent="0">
              <a:buNone/>
            </a:pPr>
            <a:r>
              <a:rPr lang="en-US" sz="2400" dirty="0"/>
              <a:t>The actual location of an operand is its </a:t>
            </a:r>
            <a:r>
              <a:rPr lang="en-US" sz="2400" b="1" dirty="0"/>
              <a:t>effective address.</a:t>
            </a:r>
          </a:p>
          <a:p>
            <a:pPr marL="0" indent="0">
              <a:buNone/>
            </a:pPr>
            <a:r>
              <a:rPr lang="en-US" sz="2400" dirty="0"/>
              <a:t>Certain addressing modes allow us to determine the address of an operand dynamically</a:t>
            </a:r>
            <a:r>
              <a:rPr lang="en-US" sz="2400" dirty="0" smtClean="0"/>
              <a:t>.</a:t>
            </a:r>
          </a:p>
          <a:p>
            <a:pPr marL="0" indent="0">
              <a:buNone/>
            </a:pPr>
            <a:endParaRPr lang="en-US" dirty="0"/>
          </a:p>
        </p:txBody>
      </p:sp>
      <p:sp>
        <p:nvSpPr>
          <p:cNvPr id="5" name="Rectangle 4"/>
          <p:cNvSpPr/>
          <p:nvPr/>
        </p:nvSpPr>
        <p:spPr>
          <a:xfrm>
            <a:off x="990599" y="3656335"/>
            <a:ext cx="7990973" cy="2199961"/>
          </a:xfrm>
          <a:prstGeom prst="rect">
            <a:avLst/>
          </a:prstGeom>
        </p:spPr>
        <p:txBody>
          <a:bodyPr wrap="square">
            <a:spAutoFit/>
          </a:bodyPr>
          <a:lstStyle/>
          <a:p>
            <a:pPr eaLnBrk="0" fontAlgn="base" hangingPunct="0">
              <a:lnSpc>
                <a:spcPct val="107000"/>
              </a:lnSpc>
            </a:pPr>
            <a:r>
              <a:rPr lang="en-US" sz="2400" dirty="0">
                <a:solidFill>
                  <a:srgbClr val="000000"/>
                </a:solidFill>
                <a:latin typeface="Calibri" panose="020F0502020204030204" pitchFamily="34" charset="0"/>
              </a:rPr>
              <a:t>Although there are other different addressing modes, we will focus on four modes:</a:t>
            </a:r>
            <a:endParaRPr lang="en-US" dirty="0">
              <a:latin typeface="Calibri" panose="020F0502020204030204" pitchFamily="34" charset="0"/>
              <a:ea typeface="Calibri" panose="020F0502020204030204" pitchFamily="34" charset="0"/>
              <a:cs typeface="Arial" panose="020B0604020202020204" pitchFamily="34" charset="0"/>
            </a:endParaRPr>
          </a:p>
          <a:p>
            <a:pPr marL="342900" marR="0" lvl="0" indent="-342900" eaLnBrk="0" fontAlgn="base" hangingPunct="0">
              <a:lnSpc>
                <a:spcPct val="107000"/>
              </a:lnSpc>
              <a:spcBef>
                <a:spcPts val="0"/>
              </a:spcBef>
              <a:spcAft>
                <a:spcPts val="0"/>
              </a:spcAft>
              <a:buFont typeface="Calibri" panose="020F0502020204030204" pitchFamily="34" charset="0"/>
              <a:buChar char="-"/>
            </a:pPr>
            <a:r>
              <a:rPr lang="en-US" sz="2000" b="1"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Immediate Addressing.</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eaLnBrk="0" fontAlgn="base" hangingPunct="0">
              <a:lnSpc>
                <a:spcPct val="107000"/>
              </a:lnSpc>
              <a:spcBef>
                <a:spcPts val="0"/>
              </a:spcBef>
              <a:spcAft>
                <a:spcPts val="0"/>
              </a:spcAft>
              <a:buFont typeface="Calibri" panose="020F0502020204030204" pitchFamily="34" charset="0"/>
              <a:buChar char="-"/>
            </a:pPr>
            <a:r>
              <a:rPr lang="en-US" sz="2000" b="1"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Direct Addressing.</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eaLnBrk="0" fontAlgn="base" hangingPunct="0">
              <a:lnSpc>
                <a:spcPct val="107000"/>
              </a:lnSpc>
              <a:spcBef>
                <a:spcPts val="0"/>
              </a:spcBef>
              <a:spcAft>
                <a:spcPts val="0"/>
              </a:spcAft>
              <a:buFont typeface="Calibri" panose="020F0502020204030204" pitchFamily="34" charset="0"/>
              <a:buChar char="-"/>
            </a:pPr>
            <a:r>
              <a:rPr lang="en-US" sz="2000" b="1"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Indirect Addressing.</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eaLnBrk="0" fontAlgn="base" hangingPunct="0">
              <a:lnSpc>
                <a:spcPct val="107000"/>
              </a:lnSpc>
              <a:spcBef>
                <a:spcPts val="0"/>
              </a:spcBef>
              <a:spcAft>
                <a:spcPts val="0"/>
              </a:spcAft>
              <a:buFont typeface="Calibri" panose="020F0502020204030204" pitchFamily="34" charset="0"/>
              <a:buChar char="-"/>
            </a:pPr>
            <a:r>
              <a:rPr lang="en-US" sz="2000" b="1"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Indexed Addressing.</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262A20B9-AB41-4E49-B56F-BA0DB7A0ADA3}" type="datetime3">
              <a:rPr lang="en-US" smtClean="0"/>
              <a:t>14 February 2017</a:t>
            </a:fld>
            <a:endParaRPr lang="en-US"/>
          </a:p>
        </p:txBody>
      </p:sp>
      <p:sp>
        <p:nvSpPr>
          <p:cNvPr id="7" name="Footer Placeholder 6"/>
          <p:cNvSpPr>
            <a:spLocks noGrp="1"/>
          </p:cNvSpPr>
          <p:nvPr>
            <p:ph type="ftr" sz="quarter" idx="11"/>
          </p:nvPr>
        </p:nvSpPr>
        <p:spPr/>
        <p:txBody>
          <a:bodyPr/>
          <a:lstStyle/>
          <a:p>
            <a:r>
              <a:rPr lang="en-US" smtClean="0"/>
              <a:t>T103 - Arab open University</a:t>
            </a:r>
            <a:endParaRPr lang="en-US"/>
          </a:p>
        </p:txBody>
      </p:sp>
      <p:sp>
        <p:nvSpPr>
          <p:cNvPr id="8" name="Slide Number Placeholder 7"/>
          <p:cNvSpPr>
            <a:spLocks noGrp="1"/>
          </p:cNvSpPr>
          <p:nvPr>
            <p:ph type="sldNum" sz="quarter" idx="12"/>
          </p:nvPr>
        </p:nvSpPr>
        <p:spPr/>
        <p:txBody>
          <a:bodyPr/>
          <a:lstStyle/>
          <a:p>
            <a:fld id="{20042AC5-0839-4BB6-BBC0-636ECAAE7EE1}" type="slidenum">
              <a:rPr lang="en-US" smtClean="0"/>
              <a:pPr/>
              <a:t>58</a:t>
            </a:fld>
            <a:endParaRPr lang="en-US"/>
          </a:p>
        </p:txBody>
      </p:sp>
    </p:spTree>
    <p:extLst>
      <p:ext uri="{BB962C8B-B14F-4D97-AF65-F5344CB8AC3E}">
        <p14:creationId xmlns:p14="http://schemas.microsoft.com/office/powerpoint/2010/main" val="149900670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Addressing Modes</a:t>
            </a:r>
            <a:endParaRPr lang="en-US" dirty="0"/>
          </a:p>
        </p:txBody>
      </p:sp>
      <p:sp>
        <p:nvSpPr>
          <p:cNvPr id="6" name="Rectangle 5"/>
          <p:cNvSpPr/>
          <p:nvPr/>
        </p:nvSpPr>
        <p:spPr>
          <a:xfrm>
            <a:off x="1066800" y="1447800"/>
            <a:ext cx="7696200" cy="3600986"/>
          </a:xfrm>
          <a:prstGeom prst="rect">
            <a:avLst/>
          </a:prstGeom>
        </p:spPr>
        <p:txBody>
          <a:bodyPr wrap="square">
            <a:spAutoFit/>
          </a:bodyPr>
          <a:lstStyle/>
          <a:p>
            <a:pPr>
              <a:spcAft>
                <a:spcPts val="0"/>
              </a:spcAft>
            </a:pPr>
            <a:r>
              <a:rPr lang="en-US" sz="2400" b="1" dirty="0">
                <a:solidFill>
                  <a:srgbClr val="FF0000"/>
                </a:solidFill>
              </a:rPr>
              <a:t>Immediate addressing: </a:t>
            </a:r>
            <a:r>
              <a:rPr lang="en-US" sz="2000" dirty="0">
                <a:solidFill>
                  <a:srgbClr val="000000"/>
                </a:solidFill>
              </a:rPr>
              <a:t>where the data is part of the instruction.</a:t>
            </a:r>
            <a:endParaRPr lang="en-US" sz="2000" dirty="0"/>
          </a:p>
          <a:p>
            <a:pPr>
              <a:spcAft>
                <a:spcPts val="0"/>
              </a:spcAft>
            </a:pPr>
            <a:r>
              <a:rPr lang="en-US" sz="2000" b="1" dirty="0">
                <a:solidFill>
                  <a:srgbClr val="000000"/>
                </a:solidFill>
              </a:rPr>
              <a:t>              </a:t>
            </a:r>
            <a:endParaRPr lang="en-US" sz="2000" dirty="0"/>
          </a:p>
          <a:p>
            <a:pPr>
              <a:spcAft>
                <a:spcPts val="0"/>
              </a:spcAft>
            </a:pPr>
            <a:r>
              <a:rPr lang="en-US" sz="2000" b="1" dirty="0">
                <a:solidFill>
                  <a:srgbClr val="000000"/>
                </a:solidFill>
              </a:rPr>
              <a:t>   </a:t>
            </a:r>
            <a:r>
              <a:rPr lang="en-US" sz="2000" b="1" dirty="0">
                <a:solidFill>
                  <a:srgbClr val="00B050"/>
                </a:solidFill>
              </a:rPr>
              <a:t>Example:</a:t>
            </a:r>
            <a:r>
              <a:rPr lang="en-US" sz="2000" b="1" dirty="0">
                <a:solidFill>
                  <a:srgbClr val="000000"/>
                </a:solidFill>
              </a:rPr>
              <a:t> </a:t>
            </a:r>
            <a:r>
              <a:rPr lang="en-US" sz="2000" dirty="0">
                <a:solidFill>
                  <a:srgbClr val="000000"/>
                </a:solidFill>
              </a:rPr>
              <a:t>If we have the instruction</a:t>
            </a:r>
            <a:r>
              <a:rPr lang="en-US" sz="2000" b="1" dirty="0">
                <a:solidFill>
                  <a:srgbClr val="000000"/>
                </a:solidFill>
              </a:rPr>
              <a:t> Load 008</a:t>
            </a:r>
            <a:r>
              <a:rPr lang="en-US" sz="2000" dirty="0">
                <a:solidFill>
                  <a:srgbClr val="000000"/>
                </a:solidFill>
              </a:rPr>
              <a:t>,</a:t>
            </a:r>
            <a:r>
              <a:rPr lang="en-US" sz="2000" b="1" dirty="0">
                <a:solidFill>
                  <a:srgbClr val="000000"/>
                </a:solidFill>
              </a:rPr>
              <a:t> </a:t>
            </a:r>
            <a:r>
              <a:rPr lang="en-US" sz="2000" dirty="0">
                <a:solidFill>
                  <a:srgbClr val="000000"/>
                </a:solidFill>
              </a:rPr>
              <a:t>the numeric value </a:t>
            </a:r>
            <a:r>
              <a:rPr lang="en-US" sz="2000" b="1" dirty="0">
                <a:solidFill>
                  <a:schemeClr val="tx2">
                    <a:lumMod val="75000"/>
                  </a:schemeClr>
                </a:solidFill>
              </a:rPr>
              <a:t>8</a:t>
            </a:r>
            <a:r>
              <a:rPr lang="en-US" sz="2000" dirty="0">
                <a:solidFill>
                  <a:srgbClr val="000000"/>
                </a:solidFill>
              </a:rPr>
              <a:t> is loaded into the </a:t>
            </a:r>
            <a:r>
              <a:rPr lang="en-US" sz="2000" b="1" dirty="0">
                <a:solidFill>
                  <a:srgbClr val="000000"/>
                </a:solidFill>
              </a:rPr>
              <a:t>AC.</a:t>
            </a:r>
            <a:endParaRPr lang="en-US" sz="2000" dirty="0"/>
          </a:p>
          <a:p>
            <a:pPr>
              <a:spcAft>
                <a:spcPts val="0"/>
              </a:spcAft>
            </a:pPr>
            <a:r>
              <a:rPr lang="en-US" sz="2000" b="1" dirty="0">
                <a:solidFill>
                  <a:srgbClr val="000000"/>
                </a:solidFill>
              </a:rPr>
              <a:t> </a:t>
            </a:r>
            <a:endParaRPr lang="en-US" sz="2000" dirty="0"/>
          </a:p>
          <a:p>
            <a:pPr>
              <a:spcAft>
                <a:spcPts val="0"/>
              </a:spcAft>
            </a:pPr>
            <a:r>
              <a:rPr lang="en-US" sz="2000" b="1" dirty="0">
                <a:ea typeface="Times New Roman" panose="02020603050405020304" pitchFamily="18" charset="0"/>
              </a:rPr>
              <a:t> </a:t>
            </a:r>
            <a:endParaRPr lang="en-US" sz="2000" dirty="0"/>
          </a:p>
          <a:p>
            <a:pPr>
              <a:spcAft>
                <a:spcPts val="0"/>
              </a:spcAft>
            </a:pPr>
            <a:r>
              <a:rPr lang="en-US" sz="2400" b="1" dirty="0">
                <a:solidFill>
                  <a:srgbClr val="FF0000"/>
                </a:solidFill>
              </a:rPr>
              <a:t>Direct addressing: </a:t>
            </a:r>
            <a:r>
              <a:rPr lang="en-US" sz="2000" dirty="0">
                <a:solidFill>
                  <a:srgbClr val="000000"/>
                </a:solidFill>
              </a:rPr>
              <a:t>where the address of the data is given in the instruction.</a:t>
            </a:r>
            <a:endParaRPr lang="en-US" sz="2000" dirty="0"/>
          </a:p>
          <a:p>
            <a:pPr>
              <a:spcAft>
                <a:spcPts val="0"/>
              </a:spcAft>
            </a:pPr>
            <a:r>
              <a:rPr lang="en-US" sz="2000" dirty="0">
                <a:solidFill>
                  <a:srgbClr val="000000"/>
                </a:solidFill>
              </a:rPr>
              <a:t>            </a:t>
            </a:r>
            <a:endParaRPr lang="en-US" sz="2000" dirty="0"/>
          </a:p>
          <a:p>
            <a:pPr>
              <a:spcAft>
                <a:spcPts val="0"/>
              </a:spcAft>
            </a:pPr>
            <a:r>
              <a:rPr lang="en-US" sz="2000" dirty="0">
                <a:solidFill>
                  <a:srgbClr val="000000"/>
                </a:solidFill>
              </a:rPr>
              <a:t>   </a:t>
            </a:r>
            <a:r>
              <a:rPr lang="en-US" sz="2000" b="1" dirty="0">
                <a:solidFill>
                  <a:srgbClr val="00B050"/>
                </a:solidFill>
              </a:rPr>
              <a:t>Example:</a:t>
            </a:r>
            <a:r>
              <a:rPr lang="en-US" sz="2000" dirty="0">
                <a:solidFill>
                  <a:srgbClr val="000000"/>
                </a:solidFill>
              </a:rPr>
              <a:t> For the instruction </a:t>
            </a:r>
            <a:r>
              <a:rPr lang="en-US" sz="2000" b="1" dirty="0">
                <a:solidFill>
                  <a:srgbClr val="000000"/>
                </a:solidFill>
              </a:rPr>
              <a:t>Load 008</a:t>
            </a:r>
            <a:r>
              <a:rPr lang="en-US" sz="2000" dirty="0">
                <a:solidFill>
                  <a:srgbClr val="000000"/>
                </a:solidFill>
              </a:rPr>
              <a:t>, the </a:t>
            </a:r>
            <a:r>
              <a:rPr lang="en-US" sz="2000" u="sng" dirty="0">
                <a:solidFill>
                  <a:srgbClr val="000000"/>
                </a:solidFill>
              </a:rPr>
              <a:t>data value found </a:t>
            </a:r>
            <a:r>
              <a:rPr lang="en-US" sz="2000" dirty="0">
                <a:solidFill>
                  <a:srgbClr val="000000"/>
                </a:solidFill>
              </a:rPr>
              <a:t>at memory address </a:t>
            </a:r>
            <a:r>
              <a:rPr lang="en-US" sz="2000" b="1" dirty="0">
                <a:solidFill>
                  <a:schemeClr val="tx2">
                    <a:lumMod val="75000"/>
                  </a:schemeClr>
                </a:solidFill>
              </a:rPr>
              <a:t>008</a:t>
            </a:r>
            <a:r>
              <a:rPr lang="en-US" sz="2000" dirty="0">
                <a:solidFill>
                  <a:srgbClr val="000000"/>
                </a:solidFill>
              </a:rPr>
              <a:t> is </a:t>
            </a:r>
            <a:r>
              <a:rPr lang="en-US" sz="2000" dirty="0" smtClean="0">
                <a:solidFill>
                  <a:srgbClr val="000000"/>
                </a:solidFill>
              </a:rPr>
              <a:t>loaded </a:t>
            </a:r>
            <a:r>
              <a:rPr lang="en-US" sz="2000" dirty="0">
                <a:solidFill>
                  <a:srgbClr val="000000"/>
                </a:solidFill>
              </a:rPr>
              <a:t>into the </a:t>
            </a:r>
            <a:r>
              <a:rPr lang="en-US" sz="2000" b="1" dirty="0">
                <a:solidFill>
                  <a:srgbClr val="000000"/>
                </a:solidFill>
              </a:rPr>
              <a:t>AC.</a:t>
            </a:r>
            <a:endParaRPr lang="en-US" sz="2000" dirty="0">
              <a:effectLst/>
            </a:endParaRPr>
          </a:p>
        </p:txBody>
      </p:sp>
      <p:sp>
        <p:nvSpPr>
          <p:cNvPr id="7" name="Date Placeholder 6"/>
          <p:cNvSpPr>
            <a:spLocks noGrp="1"/>
          </p:cNvSpPr>
          <p:nvPr>
            <p:ph type="dt" sz="half" idx="10"/>
          </p:nvPr>
        </p:nvSpPr>
        <p:spPr/>
        <p:txBody>
          <a:bodyPr/>
          <a:lstStyle/>
          <a:p>
            <a:fld id="{51B853AE-9D70-4FAC-ABAD-8B95B93649DF}" type="datetime3">
              <a:rPr lang="en-US" smtClean="0"/>
              <a:t>14 February 2017</a:t>
            </a:fld>
            <a:endParaRPr lang="en-US"/>
          </a:p>
        </p:txBody>
      </p:sp>
      <p:sp>
        <p:nvSpPr>
          <p:cNvPr id="8" name="Footer Placeholder 7"/>
          <p:cNvSpPr>
            <a:spLocks noGrp="1"/>
          </p:cNvSpPr>
          <p:nvPr>
            <p:ph type="ftr" sz="quarter" idx="11"/>
          </p:nvPr>
        </p:nvSpPr>
        <p:spPr/>
        <p:txBody>
          <a:bodyPr/>
          <a:lstStyle/>
          <a:p>
            <a:r>
              <a:rPr lang="en-US" smtClean="0"/>
              <a:t>T103 - Arab open University</a:t>
            </a:r>
            <a:endParaRPr lang="en-US"/>
          </a:p>
        </p:txBody>
      </p:sp>
      <p:sp>
        <p:nvSpPr>
          <p:cNvPr id="9" name="Slide Number Placeholder 8"/>
          <p:cNvSpPr>
            <a:spLocks noGrp="1"/>
          </p:cNvSpPr>
          <p:nvPr>
            <p:ph type="sldNum" sz="quarter" idx="12"/>
          </p:nvPr>
        </p:nvSpPr>
        <p:spPr/>
        <p:txBody>
          <a:bodyPr/>
          <a:lstStyle/>
          <a:p>
            <a:fld id="{20042AC5-0839-4BB6-BBC0-636ECAAE7EE1}" type="slidenum">
              <a:rPr lang="en-US" smtClean="0"/>
              <a:pPr/>
              <a:t>59</a:t>
            </a:fld>
            <a:endParaRPr lang="en-US"/>
          </a:p>
        </p:txBody>
      </p:sp>
    </p:spTree>
    <p:extLst>
      <p:ext uri="{BB962C8B-B14F-4D97-AF65-F5344CB8AC3E}">
        <p14:creationId xmlns:p14="http://schemas.microsoft.com/office/powerpoint/2010/main" val="176695079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Addressing Modes</a:t>
            </a:r>
            <a:endParaRPr lang="en-US" dirty="0"/>
          </a:p>
        </p:txBody>
      </p:sp>
      <p:sp>
        <p:nvSpPr>
          <p:cNvPr id="6" name="Rectangle 5"/>
          <p:cNvSpPr/>
          <p:nvPr/>
        </p:nvSpPr>
        <p:spPr>
          <a:xfrm>
            <a:off x="990600" y="909918"/>
            <a:ext cx="7696200" cy="5578130"/>
          </a:xfrm>
          <a:prstGeom prst="rect">
            <a:avLst/>
          </a:prstGeom>
        </p:spPr>
        <p:txBody>
          <a:bodyPr wrap="square">
            <a:spAutoFit/>
          </a:bodyPr>
          <a:lstStyle/>
          <a:p>
            <a:pPr>
              <a:spcAft>
                <a:spcPts val="0"/>
              </a:spcAft>
            </a:pPr>
            <a:r>
              <a:rPr lang="en-US" sz="2400" b="1" dirty="0">
                <a:solidFill>
                  <a:srgbClr val="FF0000"/>
                </a:solidFill>
                <a:latin typeface="Calibri" panose="020F0502020204030204" pitchFamily="34" charset="0"/>
              </a:rPr>
              <a:t>Indirect addressing: </a:t>
            </a:r>
            <a:r>
              <a:rPr lang="en-US" sz="2000" dirty="0">
                <a:solidFill>
                  <a:srgbClr val="000000"/>
                </a:solidFill>
                <a:latin typeface="Calibri" panose="020F0502020204030204" pitchFamily="34" charset="0"/>
              </a:rPr>
              <a:t>Gives the address of the address of the data in the instruction.</a:t>
            </a:r>
            <a:endParaRPr lang="en-US" dirty="0"/>
          </a:p>
          <a:p>
            <a:pPr marL="457200" marR="0">
              <a:spcBef>
                <a:spcPts val="0"/>
              </a:spcBef>
              <a:spcAft>
                <a:spcPts val="0"/>
              </a:spcAft>
            </a:pPr>
            <a:r>
              <a:rPr lang="en-US" sz="2000" b="1" dirty="0">
                <a:solidFill>
                  <a:srgbClr val="00B050"/>
                </a:solidFill>
                <a:latin typeface="Calibri" panose="020F0502020204030204" pitchFamily="34" charset="0"/>
              </a:rPr>
              <a:t> </a:t>
            </a:r>
            <a:endParaRPr lang="en-US" dirty="0"/>
          </a:p>
          <a:p>
            <a:pPr>
              <a:spcAft>
                <a:spcPts val="0"/>
              </a:spcAft>
            </a:pPr>
            <a:r>
              <a:rPr lang="en-US" sz="2000" b="1" dirty="0">
                <a:solidFill>
                  <a:srgbClr val="00B050"/>
                </a:solidFill>
                <a:latin typeface="Calibri" panose="020F0502020204030204" pitchFamily="34" charset="0"/>
              </a:rPr>
              <a:t>    </a:t>
            </a:r>
            <a:r>
              <a:rPr lang="en-US" b="1" dirty="0">
                <a:solidFill>
                  <a:srgbClr val="00B050"/>
                </a:solidFill>
                <a:latin typeface="Calibri" panose="020F0502020204030204" pitchFamily="34" charset="0"/>
              </a:rPr>
              <a:t>Example: </a:t>
            </a:r>
            <a:r>
              <a:rPr lang="en-US" dirty="0">
                <a:latin typeface="Calibri" panose="020F0502020204030204" pitchFamily="34" charset="0"/>
              </a:rPr>
              <a:t>Consider the instruction</a:t>
            </a:r>
            <a:r>
              <a:rPr lang="en-US" b="1" dirty="0">
                <a:latin typeface="Calibri" panose="020F0502020204030204" pitchFamily="34" charset="0"/>
              </a:rPr>
              <a:t> </a:t>
            </a:r>
            <a:r>
              <a:rPr lang="en-US" b="1" dirty="0">
                <a:solidFill>
                  <a:srgbClr val="000000"/>
                </a:solidFill>
                <a:latin typeface="Calibri" panose="020F0502020204030204" pitchFamily="34" charset="0"/>
              </a:rPr>
              <a:t>Load 008.</a:t>
            </a:r>
            <a:endParaRPr lang="en-US" dirty="0"/>
          </a:p>
          <a:p>
            <a:pPr marL="457200" marR="0">
              <a:spcBef>
                <a:spcPts val="0"/>
              </a:spcBef>
              <a:spcAft>
                <a:spcPts val="0"/>
              </a:spcAft>
            </a:pPr>
            <a:r>
              <a:rPr lang="en-US" dirty="0">
                <a:solidFill>
                  <a:srgbClr val="000000"/>
                </a:solidFill>
                <a:latin typeface="Calibri" panose="020F0502020204030204" pitchFamily="34" charset="0"/>
              </a:rPr>
              <a:t>The data value found at memory address 008 is actually the effective address of the desired operand.</a:t>
            </a:r>
            <a:endParaRPr lang="en-US" dirty="0"/>
          </a:p>
          <a:p>
            <a:pPr marL="457200" marR="0">
              <a:spcBef>
                <a:spcPts val="0"/>
              </a:spcBef>
              <a:spcAft>
                <a:spcPts val="0"/>
              </a:spcAft>
            </a:pPr>
            <a:r>
              <a:rPr lang="en-US" dirty="0">
                <a:solidFill>
                  <a:srgbClr val="000000"/>
                </a:solidFill>
                <a:latin typeface="Calibri" panose="020F0502020204030204" pitchFamily="34" charset="0"/>
              </a:rPr>
              <a:t>Now, suppose we find the value 2A0 stored in location 008. </a:t>
            </a:r>
            <a:endParaRPr lang="en-US" dirty="0"/>
          </a:p>
          <a:p>
            <a:pPr marL="457200" marR="0">
              <a:spcBef>
                <a:spcPts val="0"/>
              </a:spcBef>
              <a:spcAft>
                <a:spcPts val="0"/>
              </a:spcAft>
            </a:pPr>
            <a:r>
              <a:rPr lang="en-US" dirty="0">
                <a:solidFill>
                  <a:srgbClr val="000000"/>
                </a:solidFill>
                <a:latin typeface="Calibri" panose="020F0502020204030204" pitchFamily="34" charset="0"/>
              </a:rPr>
              <a:t>2A0 is the “real” address of the value we want. </a:t>
            </a:r>
            <a:endParaRPr lang="en-US" dirty="0"/>
          </a:p>
          <a:p>
            <a:pPr marL="457200" marR="0">
              <a:spcBef>
                <a:spcPts val="0"/>
              </a:spcBef>
              <a:spcAft>
                <a:spcPts val="0"/>
              </a:spcAft>
            </a:pPr>
            <a:r>
              <a:rPr lang="en-US" dirty="0">
                <a:solidFill>
                  <a:srgbClr val="000000"/>
                </a:solidFill>
                <a:latin typeface="Calibri" panose="020F0502020204030204" pitchFamily="34" charset="0"/>
              </a:rPr>
              <a:t>Then, the value found at location 2A0 is loaded into the </a:t>
            </a:r>
            <a:r>
              <a:rPr lang="en-US" b="1" dirty="0">
                <a:latin typeface="Calibri" panose="020F0502020204030204" pitchFamily="34" charset="0"/>
              </a:rPr>
              <a:t>AC.</a:t>
            </a:r>
            <a:endParaRPr lang="en-US" dirty="0"/>
          </a:p>
          <a:p>
            <a:pPr marL="457200" marR="0">
              <a:spcBef>
                <a:spcPts val="0"/>
              </a:spcBef>
              <a:spcAft>
                <a:spcPts val="0"/>
              </a:spcAft>
            </a:pPr>
            <a:r>
              <a:rPr lang="en-US" sz="2000" b="1" dirty="0">
                <a:latin typeface="Times New Roman" panose="02020603050405020304" pitchFamily="18" charset="0"/>
                <a:ea typeface="Times New Roman" panose="02020603050405020304" pitchFamily="18" charset="0"/>
              </a:rPr>
              <a:t> </a:t>
            </a:r>
            <a:endParaRPr lang="en-US" dirty="0"/>
          </a:p>
          <a:p>
            <a:pPr>
              <a:lnSpc>
                <a:spcPct val="107000"/>
              </a:lnSpc>
            </a:pPr>
            <a:r>
              <a:rPr lang="en-US" sz="600" b="1" dirty="0">
                <a:solidFill>
                  <a:srgbClr val="000000"/>
                </a:solidFill>
                <a:latin typeface="Calibri" panose="020F0502020204030204" pitchFamily="34" charset="0"/>
                <a:ea typeface="Times New Roman" panose="02020603050405020304" pitchFamily="18" charset="0"/>
                <a:cs typeface="Times New Roman" panose="02020603050405020304" pitchFamily="18" charset="0"/>
              </a:rPr>
              <a:t> </a:t>
            </a:r>
            <a:r>
              <a:rPr lang="en-US" sz="2400" b="1" dirty="0">
                <a:solidFill>
                  <a:srgbClr val="FF0000"/>
                </a:solidFill>
                <a:latin typeface="Calibri" panose="020F0502020204030204" pitchFamily="34" charset="0"/>
              </a:rPr>
              <a:t>Indexed addressing: </a:t>
            </a:r>
            <a:r>
              <a:rPr lang="en-US" sz="2000" dirty="0">
                <a:solidFill>
                  <a:srgbClr val="000000"/>
                </a:solidFill>
                <a:latin typeface="Calibri" panose="020F0502020204030204" pitchFamily="34" charset="0"/>
              </a:rPr>
              <a:t>uses a register (implicitly or explicitly) as an </a:t>
            </a:r>
            <a:r>
              <a:rPr lang="en-US" sz="2000" b="1" dirty="0">
                <a:solidFill>
                  <a:srgbClr val="000000"/>
                </a:solidFill>
                <a:latin typeface="Calibri" panose="020F0502020204030204" pitchFamily="34" charset="0"/>
              </a:rPr>
              <a:t>offset</a:t>
            </a:r>
            <a:r>
              <a:rPr lang="en-US" sz="2000" dirty="0">
                <a:solidFill>
                  <a:srgbClr val="000000"/>
                </a:solidFill>
                <a:latin typeface="Calibri" panose="020F0502020204030204" pitchFamily="34" charset="0"/>
              </a:rPr>
              <a:t>, which is added to the address in the operand to determine the effective address of the data.</a:t>
            </a:r>
            <a:endParaRPr lang="en-US" sz="1600" dirty="0">
              <a:latin typeface="Calibri" panose="020F0502020204030204" pitchFamily="34" charset="0"/>
              <a:ea typeface="Calibri" panose="020F0502020204030204" pitchFamily="34" charset="0"/>
              <a:cs typeface="Arial" panose="020B0604020202020204" pitchFamily="34" charset="0"/>
            </a:endParaRPr>
          </a:p>
          <a:p>
            <a:pPr>
              <a:spcAft>
                <a:spcPts val="0"/>
              </a:spcAft>
            </a:pPr>
            <a:r>
              <a:rPr lang="en-US" sz="2000" b="1" dirty="0">
                <a:solidFill>
                  <a:srgbClr val="00B050"/>
                </a:solidFill>
                <a:latin typeface="Calibri" panose="020F0502020204030204" pitchFamily="34" charset="0"/>
              </a:rPr>
              <a:t> </a:t>
            </a:r>
            <a:endParaRPr lang="en-US" dirty="0"/>
          </a:p>
          <a:p>
            <a:pPr algn="just">
              <a:spcAft>
                <a:spcPts val="0"/>
              </a:spcAft>
            </a:pPr>
            <a:r>
              <a:rPr lang="en-US" sz="2000" b="1" dirty="0">
                <a:solidFill>
                  <a:srgbClr val="00B050"/>
                </a:solidFill>
                <a:latin typeface="Calibri" panose="020F0502020204030204" pitchFamily="34" charset="0"/>
              </a:rPr>
              <a:t>       </a:t>
            </a:r>
            <a:r>
              <a:rPr lang="en-US" b="1" dirty="0">
                <a:solidFill>
                  <a:srgbClr val="00B050"/>
                </a:solidFill>
                <a:latin typeface="Calibri" panose="020F0502020204030204" pitchFamily="34" charset="0"/>
              </a:rPr>
              <a:t>Example: </a:t>
            </a:r>
            <a:r>
              <a:rPr lang="en-US" dirty="0">
                <a:latin typeface="Calibri" panose="020F0502020204030204" pitchFamily="34" charset="0"/>
              </a:rPr>
              <a:t>Suppose that we have the instruction</a:t>
            </a:r>
            <a:r>
              <a:rPr lang="en-US" b="1" dirty="0">
                <a:latin typeface="Calibri" panose="020F0502020204030204" pitchFamily="34" charset="0"/>
              </a:rPr>
              <a:t> </a:t>
            </a:r>
            <a:r>
              <a:rPr lang="en-US" b="1" dirty="0">
                <a:solidFill>
                  <a:srgbClr val="000000"/>
                </a:solidFill>
                <a:latin typeface="Calibri" panose="020F0502020204030204" pitchFamily="34" charset="0"/>
              </a:rPr>
              <a:t>Load X</a:t>
            </a:r>
            <a:r>
              <a:rPr lang="en-US" dirty="0">
                <a:solidFill>
                  <a:srgbClr val="000000"/>
                </a:solidFill>
                <a:latin typeface="Calibri" panose="020F0502020204030204" pitchFamily="34" charset="0"/>
              </a:rPr>
              <a:t>. </a:t>
            </a:r>
            <a:endParaRPr lang="en-US" dirty="0"/>
          </a:p>
          <a:p>
            <a:pPr algn="just">
              <a:spcAft>
                <a:spcPts val="0"/>
              </a:spcAft>
            </a:pPr>
            <a:r>
              <a:rPr lang="en-US" dirty="0">
                <a:solidFill>
                  <a:srgbClr val="000000"/>
                </a:solidFill>
                <a:latin typeface="Calibri" panose="020F0502020204030204" pitchFamily="34" charset="0"/>
              </a:rPr>
              <a:t>                         The index register holds the value 100.</a:t>
            </a:r>
            <a:endParaRPr lang="en-US" dirty="0"/>
          </a:p>
          <a:p>
            <a:pPr marL="859790" marR="0">
              <a:spcBef>
                <a:spcPts val="0"/>
              </a:spcBef>
              <a:spcAft>
                <a:spcPts val="0"/>
              </a:spcAft>
            </a:pPr>
            <a:r>
              <a:rPr lang="en-US" dirty="0">
                <a:solidFill>
                  <a:srgbClr val="000000"/>
                </a:solidFill>
                <a:latin typeface="Calibri" panose="020F0502020204030204" pitchFamily="34" charset="0"/>
              </a:rPr>
              <a:t>    The effective address of the operand in actually </a:t>
            </a:r>
            <a:r>
              <a:rPr lang="en-US" dirty="0">
                <a:solidFill>
                  <a:srgbClr val="FF0000"/>
                </a:solidFill>
                <a:latin typeface="Calibri" panose="020F0502020204030204" pitchFamily="34" charset="0"/>
              </a:rPr>
              <a:t>X + 100</a:t>
            </a:r>
            <a:r>
              <a:rPr lang="en-US" dirty="0">
                <a:solidFill>
                  <a:srgbClr val="000000"/>
                </a:solidFill>
                <a:latin typeface="Calibri" panose="020F0502020204030204" pitchFamily="34" charset="0"/>
              </a:rPr>
              <a:t>.</a:t>
            </a:r>
            <a:endParaRPr lang="en-US" dirty="0"/>
          </a:p>
          <a:p>
            <a:pPr marL="859790" marR="0">
              <a:spcBef>
                <a:spcPts val="0"/>
              </a:spcBef>
              <a:spcAft>
                <a:spcPts val="0"/>
              </a:spcAft>
            </a:pPr>
            <a:r>
              <a:rPr lang="en-US" dirty="0">
                <a:solidFill>
                  <a:srgbClr val="000000"/>
                </a:solidFill>
                <a:latin typeface="Calibri" panose="020F0502020204030204" pitchFamily="34" charset="0"/>
              </a:rPr>
              <a:t>    The value found at location </a:t>
            </a:r>
            <a:r>
              <a:rPr lang="en-US" dirty="0">
                <a:solidFill>
                  <a:srgbClr val="FF0000"/>
                </a:solidFill>
                <a:latin typeface="Calibri" panose="020F0502020204030204" pitchFamily="34" charset="0"/>
              </a:rPr>
              <a:t>X+100 </a:t>
            </a:r>
            <a:r>
              <a:rPr lang="en-US" dirty="0">
                <a:solidFill>
                  <a:srgbClr val="000000"/>
                </a:solidFill>
                <a:latin typeface="Calibri" panose="020F0502020204030204" pitchFamily="34" charset="0"/>
              </a:rPr>
              <a:t>will then be loaded into the </a:t>
            </a:r>
            <a:r>
              <a:rPr lang="en-US" b="1" dirty="0">
                <a:solidFill>
                  <a:srgbClr val="000000"/>
                </a:solidFill>
                <a:latin typeface="Calibri" panose="020F0502020204030204" pitchFamily="34" charset="0"/>
              </a:rPr>
              <a:t>AC</a:t>
            </a:r>
            <a:r>
              <a:rPr lang="en-US" dirty="0">
                <a:solidFill>
                  <a:srgbClr val="000000"/>
                </a:solidFill>
                <a:latin typeface="Calibri" panose="020F0502020204030204" pitchFamily="34" charset="0"/>
              </a:rPr>
              <a:t>.</a:t>
            </a:r>
            <a:endParaRPr lang="en-US" sz="1600" dirty="0">
              <a:effectLst/>
            </a:endParaRPr>
          </a:p>
        </p:txBody>
      </p:sp>
      <p:sp>
        <p:nvSpPr>
          <p:cNvPr id="4" name="Date Placeholder 3"/>
          <p:cNvSpPr>
            <a:spLocks noGrp="1"/>
          </p:cNvSpPr>
          <p:nvPr>
            <p:ph type="dt" sz="half" idx="10"/>
          </p:nvPr>
        </p:nvSpPr>
        <p:spPr/>
        <p:txBody>
          <a:bodyPr/>
          <a:lstStyle/>
          <a:p>
            <a:fld id="{CB61DDB9-1F21-4457-A238-99AD7B911FCD}" type="datetime3">
              <a:rPr lang="en-US" smtClean="0"/>
              <a:t>14 February 2017</a:t>
            </a:fld>
            <a:endParaRPr lang="en-US"/>
          </a:p>
        </p:txBody>
      </p:sp>
      <p:sp>
        <p:nvSpPr>
          <p:cNvPr id="5" name="Footer Placeholder 4"/>
          <p:cNvSpPr>
            <a:spLocks noGrp="1"/>
          </p:cNvSpPr>
          <p:nvPr>
            <p:ph type="ftr" sz="quarter" idx="11"/>
          </p:nvPr>
        </p:nvSpPr>
        <p:spPr/>
        <p:txBody>
          <a:bodyPr/>
          <a:lstStyle/>
          <a:p>
            <a:r>
              <a:rPr lang="en-US" smtClean="0"/>
              <a:t>T103 - Arab open University</a:t>
            </a:r>
            <a:endParaRPr lang="en-US"/>
          </a:p>
        </p:txBody>
      </p:sp>
      <p:sp>
        <p:nvSpPr>
          <p:cNvPr id="7" name="Slide Number Placeholder 6"/>
          <p:cNvSpPr>
            <a:spLocks noGrp="1"/>
          </p:cNvSpPr>
          <p:nvPr>
            <p:ph type="sldNum" sz="quarter" idx="12"/>
          </p:nvPr>
        </p:nvSpPr>
        <p:spPr/>
        <p:txBody>
          <a:bodyPr/>
          <a:lstStyle/>
          <a:p>
            <a:fld id="{20042AC5-0839-4BB6-BBC0-636ECAAE7EE1}" type="slidenum">
              <a:rPr lang="en-US" smtClean="0"/>
              <a:pPr/>
              <a:t>60</a:t>
            </a:fld>
            <a:endParaRPr lang="en-US"/>
          </a:p>
        </p:txBody>
      </p:sp>
    </p:spTree>
    <p:extLst>
      <p:ext uri="{BB962C8B-B14F-4D97-AF65-F5344CB8AC3E}">
        <p14:creationId xmlns:p14="http://schemas.microsoft.com/office/powerpoint/2010/main" val="78249730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Addressing </a:t>
            </a:r>
            <a:r>
              <a:rPr lang="en-US" dirty="0" smtClean="0"/>
              <a:t>Modes</a:t>
            </a:r>
            <a:endParaRPr lang="en-US" dirty="0"/>
          </a:p>
        </p:txBody>
      </p:sp>
      <p:sp>
        <p:nvSpPr>
          <p:cNvPr id="4" name="Content Placeholder 3"/>
          <p:cNvSpPr>
            <a:spLocks noGrp="1"/>
          </p:cNvSpPr>
          <p:nvPr>
            <p:ph idx="1"/>
          </p:nvPr>
        </p:nvSpPr>
        <p:spPr>
          <a:xfrm>
            <a:off x="914400" y="960437"/>
            <a:ext cx="8153400" cy="4525963"/>
          </a:xfrm>
        </p:spPr>
        <p:txBody>
          <a:bodyPr>
            <a:normAutofit/>
          </a:bodyPr>
          <a:lstStyle/>
          <a:p>
            <a:pPr marL="0" indent="0">
              <a:buNone/>
            </a:pPr>
            <a:r>
              <a:rPr lang="en-US" sz="2400" b="1" dirty="0" smtClean="0">
                <a:solidFill>
                  <a:srgbClr val="00B050"/>
                </a:solidFill>
              </a:rPr>
              <a:t>Example</a:t>
            </a:r>
            <a:r>
              <a:rPr lang="en-US" sz="2400" b="1" dirty="0">
                <a:solidFill>
                  <a:srgbClr val="00B050"/>
                </a:solidFill>
              </a:rPr>
              <a:t>: </a:t>
            </a:r>
            <a:r>
              <a:rPr lang="en-US" sz="2400" dirty="0"/>
              <a:t>For the instruction shown, what value is loaded into the accumulator for each addressing mode?</a:t>
            </a:r>
          </a:p>
        </p:txBody>
      </p:sp>
      <p:pic>
        <p:nvPicPr>
          <p:cNvPr id="7" name="Picture 6" descr="addr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8212" y="2514600"/>
            <a:ext cx="8053388" cy="380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4495800" y="4738255"/>
            <a:ext cx="2057400"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650185" y="2819400"/>
            <a:ext cx="741215" cy="381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p:nvPr/>
        </p:nvCxnSpPr>
        <p:spPr>
          <a:xfrm>
            <a:off x="7020792" y="3200400"/>
            <a:ext cx="0" cy="169025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259780" y="4689765"/>
            <a:ext cx="609600" cy="400110"/>
          </a:xfrm>
          <a:prstGeom prst="rect">
            <a:avLst/>
          </a:prstGeom>
          <a:noFill/>
        </p:spPr>
        <p:txBody>
          <a:bodyPr wrap="square" rtlCol="0">
            <a:spAutoFit/>
          </a:bodyPr>
          <a:lstStyle/>
          <a:p>
            <a:pPr algn="ctr"/>
            <a:r>
              <a:rPr lang="en-US" sz="2000" b="1" dirty="0" smtClean="0"/>
              <a:t>800</a:t>
            </a:r>
            <a:endParaRPr lang="en-US" sz="2000" b="1" dirty="0"/>
          </a:p>
        </p:txBody>
      </p:sp>
      <p:sp>
        <p:nvSpPr>
          <p:cNvPr id="8" name="Date Placeholder 7"/>
          <p:cNvSpPr>
            <a:spLocks noGrp="1"/>
          </p:cNvSpPr>
          <p:nvPr>
            <p:ph type="dt" sz="half" idx="10"/>
          </p:nvPr>
        </p:nvSpPr>
        <p:spPr/>
        <p:txBody>
          <a:bodyPr/>
          <a:lstStyle/>
          <a:p>
            <a:fld id="{4F43EE60-CF51-4553-83B6-25B1C2D053E9}" type="datetime3">
              <a:rPr lang="en-US" smtClean="0"/>
              <a:t>14 February 2017</a:t>
            </a:fld>
            <a:endParaRPr lang="en-US"/>
          </a:p>
        </p:txBody>
      </p:sp>
      <p:sp>
        <p:nvSpPr>
          <p:cNvPr id="11" name="Footer Placeholder 10"/>
          <p:cNvSpPr>
            <a:spLocks noGrp="1"/>
          </p:cNvSpPr>
          <p:nvPr>
            <p:ph type="ftr" sz="quarter" idx="11"/>
          </p:nvPr>
        </p:nvSpPr>
        <p:spPr/>
        <p:txBody>
          <a:bodyPr/>
          <a:lstStyle/>
          <a:p>
            <a:r>
              <a:rPr lang="en-US" smtClean="0"/>
              <a:t>T103 - Arab open University</a:t>
            </a:r>
            <a:endParaRPr lang="en-US"/>
          </a:p>
        </p:txBody>
      </p:sp>
      <p:sp>
        <p:nvSpPr>
          <p:cNvPr id="12" name="Slide Number Placeholder 11"/>
          <p:cNvSpPr>
            <a:spLocks noGrp="1"/>
          </p:cNvSpPr>
          <p:nvPr>
            <p:ph type="sldNum" sz="quarter" idx="12"/>
          </p:nvPr>
        </p:nvSpPr>
        <p:spPr/>
        <p:txBody>
          <a:bodyPr/>
          <a:lstStyle/>
          <a:p>
            <a:fld id="{20042AC5-0839-4BB6-BBC0-636ECAAE7EE1}" type="slidenum">
              <a:rPr lang="en-US" smtClean="0"/>
              <a:pPr/>
              <a:t>61</a:t>
            </a:fld>
            <a:endParaRPr lang="en-US"/>
          </a:p>
        </p:txBody>
      </p:sp>
    </p:spTree>
    <p:extLst>
      <p:ext uri="{BB962C8B-B14F-4D97-AF65-F5344CB8AC3E}">
        <p14:creationId xmlns:p14="http://schemas.microsoft.com/office/powerpoint/2010/main" val="1494494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strips(downLeft)">
                                      <p:cBhvr>
                                        <p:cTn id="12" dur="500"/>
                                        <p:tgtEl>
                                          <p:spTgt spid="9"/>
                                        </p:tgtEl>
                                      </p:cBhvr>
                                    </p:animEffect>
                                  </p:childTnLst>
                                </p:cTn>
                              </p:par>
                              <p:par>
                                <p:cTn id="13" presetID="18" presetClass="entr" presetSubtype="12"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strips(downLeft)">
                                      <p:cBhvr>
                                        <p:cTn id="15" dur="500"/>
                                        <p:tgtEl>
                                          <p:spTgt spid="6"/>
                                        </p:tgtEl>
                                      </p:cBhvr>
                                    </p:animEffect>
                                  </p:childTnLst>
                                </p:cTn>
                              </p:par>
                            </p:childTnLst>
                          </p:cTn>
                        </p:par>
                        <p:par>
                          <p:cTn id="16" fill="hold">
                            <p:stCondLst>
                              <p:cond delay="500"/>
                            </p:stCondLst>
                            <p:childTnLst>
                              <p:par>
                                <p:cTn id="17" presetID="9"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dissolve">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Addressing </a:t>
            </a:r>
            <a:r>
              <a:rPr lang="en-US" dirty="0" smtClean="0"/>
              <a:t>Modes</a:t>
            </a:r>
            <a:endParaRPr lang="en-US" dirty="0"/>
          </a:p>
        </p:txBody>
      </p:sp>
      <p:sp>
        <p:nvSpPr>
          <p:cNvPr id="4" name="Content Placeholder 3"/>
          <p:cNvSpPr>
            <a:spLocks noGrp="1"/>
          </p:cNvSpPr>
          <p:nvPr>
            <p:ph idx="1"/>
          </p:nvPr>
        </p:nvSpPr>
        <p:spPr>
          <a:xfrm>
            <a:off x="914400" y="960437"/>
            <a:ext cx="8153400" cy="4525963"/>
          </a:xfrm>
        </p:spPr>
        <p:txBody>
          <a:bodyPr/>
          <a:lstStyle/>
          <a:p>
            <a:pPr marL="0" lvl="0" indent="0">
              <a:buNone/>
            </a:pPr>
            <a:r>
              <a:rPr lang="en-US" sz="2400" b="1" dirty="0">
                <a:solidFill>
                  <a:srgbClr val="00B050"/>
                </a:solidFill>
              </a:rPr>
              <a:t>Example: </a:t>
            </a:r>
            <a:r>
              <a:rPr lang="en-US" sz="2400" dirty="0">
                <a:solidFill>
                  <a:prstClr val="black"/>
                </a:solidFill>
              </a:rPr>
              <a:t>For the instruction shown, what value is loaded into the accumulator for each addressing mode?</a:t>
            </a:r>
          </a:p>
        </p:txBody>
      </p:sp>
      <p:pic>
        <p:nvPicPr>
          <p:cNvPr id="7" name="Picture 6" descr="addr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8212" y="2514600"/>
            <a:ext cx="8053388" cy="380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4495800" y="5029200"/>
            <a:ext cx="2057400"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650185" y="2819400"/>
            <a:ext cx="741215" cy="381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7259780" y="5010090"/>
            <a:ext cx="609600" cy="400110"/>
          </a:xfrm>
          <a:prstGeom prst="rect">
            <a:avLst/>
          </a:prstGeom>
          <a:noFill/>
        </p:spPr>
        <p:txBody>
          <a:bodyPr wrap="square" rtlCol="0">
            <a:spAutoFit/>
          </a:bodyPr>
          <a:lstStyle/>
          <a:p>
            <a:pPr algn="ctr"/>
            <a:r>
              <a:rPr lang="en-US" sz="2000" b="1" dirty="0" smtClean="0"/>
              <a:t>900</a:t>
            </a:r>
            <a:endParaRPr lang="en-US" sz="2000" b="1" dirty="0"/>
          </a:p>
        </p:txBody>
      </p:sp>
      <p:sp>
        <p:nvSpPr>
          <p:cNvPr id="12" name="Freeform 11"/>
          <p:cNvSpPr/>
          <p:nvPr/>
        </p:nvSpPr>
        <p:spPr>
          <a:xfrm>
            <a:off x="1413164" y="2556908"/>
            <a:ext cx="5618126" cy="504947"/>
          </a:xfrm>
          <a:custGeom>
            <a:avLst/>
            <a:gdLst>
              <a:gd name="connsiteX0" fmla="*/ 5569527 w 5618126"/>
              <a:gd name="connsiteY0" fmla="*/ 255565 h 504947"/>
              <a:gd name="connsiteX1" fmla="*/ 5500254 w 5618126"/>
              <a:gd name="connsiteY1" fmla="*/ 227856 h 504947"/>
              <a:gd name="connsiteX2" fmla="*/ 3463636 w 5618126"/>
              <a:gd name="connsiteY2" fmla="*/ 6183 h 504947"/>
              <a:gd name="connsiteX3" fmla="*/ 0 w 5618126"/>
              <a:gd name="connsiteY3" fmla="*/ 504947 h 504947"/>
            </a:gdLst>
            <a:ahLst/>
            <a:cxnLst>
              <a:cxn ang="0">
                <a:pos x="connsiteX0" y="connsiteY0"/>
              </a:cxn>
              <a:cxn ang="0">
                <a:pos x="connsiteX1" y="connsiteY1"/>
              </a:cxn>
              <a:cxn ang="0">
                <a:pos x="connsiteX2" y="connsiteY2"/>
              </a:cxn>
              <a:cxn ang="0">
                <a:pos x="connsiteX3" y="connsiteY3"/>
              </a:cxn>
            </a:cxnLst>
            <a:rect l="l" t="t" r="r" b="b"/>
            <a:pathLst>
              <a:path w="5618126" h="504947">
                <a:moveTo>
                  <a:pt x="5569527" y="255565"/>
                </a:moveTo>
                <a:cubicBezTo>
                  <a:pt x="5710381" y="262492"/>
                  <a:pt x="5500254" y="227856"/>
                  <a:pt x="5500254" y="227856"/>
                </a:cubicBezTo>
                <a:cubicBezTo>
                  <a:pt x="5149272" y="186292"/>
                  <a:pt x="4380345" y="-39999"/>
                  <a:pt x="3463636" y="6183"/>
                </a:cubicBezTo>
                <a:cubicBezTo>
                  <a:pt x="2546927" y="52365"/>
                  <a:pt x="1273463" y="278656"/>
                  <a:pt x="0" y="504947"/>
                </a:cubicBezTo>
              </a:path>
            </a:pathLst>
          </a:cu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6" name="Straight Arrow Connector 15"/>
          <p:cNvCxnSpPr/>
          <p:nvPr/>
        </p:nvCxnSpPr>
        <p:spPr>
          <a:xfrm>
            <a:off x="2819400" y="3200400"/>
            <a:ext cx="4211890" cy="19812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259780" y="4689765"/>
            <a:ext cx="609600" cy="400110"/>
          </a:xfrm>
          <a:prstGeom prst="rect">
            <a:avLst/>
          </a:prstGeom>
          <a:noFill/>
        </p:spPr>
        <p:txBody>
          <a:bodyPr wrap="square" rtlCol="0">
            <a:spAutoFit/>
          </a:bodyPr>
          <a:lstStyle/>
          <a:p>
            <a:pPr algn="ctr"/>
            <a:r>
              <a:rPr lang="en-US" sz="2000" b="1" dirty="0" smtClean="0"/>
              <a:t>800</a:t>
            </a:r>
            <a:endParaRPr lang="en-US" sz="2000" b="1" dirty="0"/>
          </a:p>
        </p:txBody>
      </p:sp>
      <p:sp>
        <p:nvSpPr>
          <p:cNvPr id="8" name="Date Placeholder 7"/>
          <p:cNvSpPr>
            <a:spLocks noGrp="1"/>
          </p:cNvSpPr>
          <p:nvPr>
            <p:ph type="dt" sz="half" idx="10"/>
          </p:nvPr>
        </p:nvSpPr>
        <p:spPr/>
        <p:txBody>
          <a:bodyPr/>
          <a:lstStyle/>
          <a:p>
            <a:fld id="{98BB39F8-BC72-4B22-A856-6E7792C72417}" type="datetime3">
              <a:rPr lang="en-US" smtClean="0"/>
              <a:t>14 February 2017</a:t>
            </a:fld>
            <a:endParaRPr lang="en-US"/>
          </a:p>
        </p:txBody>
      </p:sp>
      <p:sp>
        <p:nvSpPr>
          <p:cNvPr id="9" name="Footer Placeholder 8"/>
          <p:cNvSpPr>
            <a:spLocks noGrp="1"/>
          </p:cNvSpPr>
          <p:nvPr>
            <p:ph type="ftr" sz="quarter" idx="11"/>
          </p:nvPr>
        </p:nvSpPr>
        <p:spPr/>
        <p:txBody>
          <a:bodyPr/>
          <a:lstStyle/>
          <a:p>
            <a:r>
              <a:rPr lang="en-US" smtClean="0"/>
              <a:t>T103 - Arab open University</a:t>
            </a:r>
            <a:endParaRPr lang="en-US"/>
          </a:p>
        </p:txBody>
      </p:sp>
      <p:sp>
        <p:nvSpPr>
          <p:cNvPr id="11" name="Slide Number Placeholder 10"/>
          <p:cNvSpPr>
            <a:spLocks noGrp="1"/>
          </p:cNvSpPr>
          <p:nvPr>
            <p:ph type="sldNum" sz="quarter" idx="12"/>
          </p:nvPr>
        </p:nvSpPr>
        <p:spPr/>
        <p:txBody>
          <a:bodyPr/>
          <a:lstStyle/>
          <a:p>
            <a:fld id="{20042AC5-0839-4BB6-BBC0-636ECAAE7EE1}" type="slidenum">
              <a:rPr lang="en-US" smtClean="0"/>
              <a:pPr/>
              <a:t>62</a:t>
            </a:fld>
            <a:endParaRPr lang="en-US"/>
          </a:p>
        </p:txBody>
      </p:sp>
    </p:spTree>
    <p:extLst>
      <p:ext uri="{BB962C8B-B14F-4D97-AF65-F5344CB8AC3E}">
        <p14:creationId xmlns:p14="http://schemas.microsoft.com/office/powerpoint/2010/main" val="795008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9"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upLeft)">
                                      <p:cBhvr>
                                        <p:cTn id="12" dur="500"/>
                                        <p:tgtEl>
                                          <p:spTgt spid="6"/>
                                        </p:tgtEl>
                                      </p:cBhvr>
                                    </p:animEffect>
                                  </p:childTnLst>
                                </p:cTn>
                              </p:par>
                              <p:par>
                                <p:cTn id="13" presetID="18" presetClass="entr" presetSubtype="12"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strips(downLeft)">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6"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strips(downRight)">
                                      <p:cBhvr>
                                        <p:cTn id="20" dur="500"/>
                                        <p:tgtEl>
                                          <p:spTgt spid="16"/>
                                        </p:tgtEl>
                                      </p:cBhvr>
                                    </p:animEffect>
                                  </p:childTnLst>
                                </p:cTn>
                              </p:par>
                            </p:childTnLst>
                          </p:cTn>
                        </p:par>
                        <p:par>
                          <p:cTn id="21" fill="hold">
                            <p:stCondLst>
                              <p:cond delay="500"/>
                            </p:stCondLst>
                            <p:childTnLst>
                              <p:par>
                                <p:cTn id="22" presetID="9"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dissolv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0" grpId="0"/>
      <p:bldP spid="12"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Addressing </a:t>
            </a:r>
            <a:r>
              <a:rPr lang="en-US" dirty="0" smtClean="0"/>
              <a:t>Modes</a:t>
            </a:r>
            <a:endParaRPr lang="en-US" dirty="0"/>
          </a:p>
        </p:txBody>
      </p:sp>
      <p:sp>
        <p:nvSpPr>
          <p:cNvPr id="4" name="Content Placeholder 3"/>
          <p:cNvSpPr>
            <a:spLocks noGrp="1"/>
          </p:cNvSpPr>
          <p:nvPr>
            <p:ph idx="1"/>
          </p:nvPr>
        </p:nvSpPr>
        <p:spPr>
          <a:xfrm>
            <a:off x="914400" y="960437"/>
            <a:ext cx="8153400" cy="4525963"/>
          </a:xfrm>
        </p:spPr>
        <p:txBody>
          <a:bodyPr/>
          <a:lstStyle/>
          <a:p>
            <a:pPr marL="0" lvl="0" indent="0">
              <a:buNone/>
            </a:pPr>
            <a:r>
              <a:rPr lang="en-US" sz="2400" b="1" dirty="0">
                <a:solidFill>
                  <a:srgbClr val="00B050"/>
                </a:solidFill>
              </a:rPr>
              <a:t>Example: </a:t>
            </a:r>
            <a:r>
              <a:rPr lang="en-US" sz="2400" dirty="0">
                <a:solidFill>
                  <a:prstClr val="black"/>
                </a:solidFill>
              </a:rPr>
              <a:t>For the instruction shown, what value is loaded into the accumulator for each addressing mode?</a:t>
            </a:r>
          </a:p>
        </p:txBody>
      </p:sp>
      <p:pic>
        <p:nvPicPr>
          <p:cNvPr id="7" name="Picture 6" descr="addr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8212" y="2514600"/>
            <a:ext cx="8053388" cy="380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4495800" y="5334000"/>
            <a:ext cx="2057400"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650185" y="2819400"/>
            <a:ext cx="741215" cy="381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7135090" y="5314890"/>
            <a:ext cx="893620" cy="400110"/>
          </a:xfrm>
          <a:prstGeom prst="rect">
            <a:avLst/>
          </a:prstGeom>
          <a:noFill/>
        </p:spPr>
        <p:txBody>
          <a:bodyPr wrap="square" rtlCol="0">
            <a:spAutoFit/>
          </a:bodyPr>
          <a:lstStyle/>
          <a:p>
            <a:pPr algn="ctr"/>
            <a:r>
              <a:rPr lang="en-US" sz="2000" b="1" dirty="0" smtClean="0"/>
              <a:t>1000</a:t>
            </a:r>
            <a:endParaRPr lang="en-US" sz="2000" b="1" dirty="0"/>
          </a:p>
        </p:txBody>
      </p:sp>
      <p:sp>
        <p:nvSpPr>
          <p:cNvPr id="12" name="Freeform 11"/>
          <p:cNvSpPr/>
          <p:nvPr/>
        </p:nvSpPr>
        <p:spPr>
          <a:xfrm>
            <a:off x="1413164" y="2556908"/>
            <a:ext cx="5618126" cy="504947"/>
          </a:xfrm>
          <a:custGeom>
            <a:avLst/>
            <a:gdLst>
              <a:gd name="connsiteX0" fmla="*/ 5569527 w 5618126"/>
              <a:gd name="connsiteY0" fmla="*/ 255565 h 504947"/>
              <a:gd name="connsiteX1" fmla="*/ 5500254 w 5618126"/>
              <a:gd name="connsiteY1" fmla="*/ 227856 h 504947"/>
              <a:gd name="connsiteX2" fmla="*/ 3463636 w 5618126"/>
              <a:gd name="connsiteY2" fmla="*/ 6183 h 504947"/>
              <a:gd name="connsiteX3" fmla="*/ 0 w 5618126"/>
              <a:gd name="connsiteY3" fmla="*/ 504947 h 504947"/>
            </a:gdLst>
            <a:ahLst/>
            <a:cxnLst>
              <a:cxn ang="0">
                <a:pos x="connsiteX0" y="connsiteY0"/>
              </a:cxn>
              <a:cxn ang="0">
                <a:pos x="connsiteX1" y="connsiteY1"/>
              </a:cxn>
              <a:cxn ang="0">
                <a:pos x="connsiteX2" y="connsiteY2"/>
              </a:cxn>
              <a:cxn ang="0">
                <a:pos x="connsiteX3" y="connsiteY3"/>
              </a:cxn>
            </a:cxnLst>
            <a:rect l="l" t="t" r="r" b="b"/>
            <a:pathLst>
              <a:path w="5618126" h="504947">
                <a:moveTo>
                  <a:pt x="5569527" y="255565"/>
                </a:moveTo>
                <a:cubicBezTo>
                  <a:pt x="5710381" y="262492"/>
                  <a:pt x="5500254" y="227856"/>
                  <a:pt x="5500254" y="227856"/>
                </a:cubicBezTo>
                <a:cubicBezTo>
                  <a:pt x="5149272" y="186292"/>
                  <a:pt x="4380345" y="-39999"/>
                  <a:pt x="3463636" y="6183"/>
                </a:cubicBezTo>
                <a:cubicBezTo>
                  <a:pt x="2546927" y="52365"/>
                  <a:pt x="1273463" y="278656"/>
                  <a:pt x="0" y="504947"/>
                </a:cubicBezTo>
              </a:path>
            </a:pathLst>
          </a:cu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6" name="Straight Arrow Connector 15"/>
          <p:cNvCxnSpPr/>
          <p:nvPr/>
        </p:nvCxnSpPr>
        <p:spPr>
          <a:xfrm flipH="1">
            <a:off x="1413164" y="3278272"/>
            <a:ext cx="703118" cy="37932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971800" y="3886200"/>
            <a:ext cx="4287980" cy="16002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259780" y="4689765"/>
            <a:ext cx="609600" cy="400110"/>
          </a:xfrm>
          <a:prstGeom prst="rect">
            <a:avLst/>
          </a:prstGeom>
          <a:noFill/>
        </p:spPr>
        <p:txBody>
          <a:bodyPr wrap="square" rtlCol="0">
            <a:spAutoFit/>
          </a:bodyPr>
          <a:lstStyle/>
          <a:p>
            <a:pPr algn="ctr"/>
            <a:r>
              <a:rPr lang="en-US" sz="2000" b="1" dirty="0" smtClean="0"/>
              <a:t>800</a:t>
            </a:r>
            <a:endParaRPr lang="en-US" sz="2000" b="1" dirty="0"/>
          </a:p>
        </p:txBody>
      </p:sp>
      <p:sp>
        <p:nvSpPr>
          <p:cNvPr id="15" name="TextBox 14"/>
          <p:cNvSpPr txBox="1"/>
          <p:nvPr/>
        </p:nvSpPr>
        <p:spPr>
          <a:xfrm>
            <a:off x="7259780" y="5010090"/>
            <a:ext cx="609600" cy="400110"/>
          </a:xfrm>
          <a:prstGeom prst="rect">
            <a:avLst/>
          </a:prstGeom>
          <a:noFill/>
        </p:spPr>
        <p:txBody>
          <a:bodyPr wrap="square" rtlCol="0">
            <a:spAutoFit/>
          </a:bodyPr>
          <a:lstStyle/>
          <a:p>
            <a:pPr algn="ctr"/>
            <a:r>
              <a:rPr lang="en-US" sz="2000" b="1" dirty="0" smtClean="0"/>
              <a:t>900</a:t>
            </a:r>
            <a:endParaRPr lang="en-US" sz="2000" b="1" dirty="0"/>
          </a:p>
        </p:txBody>
      </p:sp>
      <p:sp>
        <p:nvSpPr>
          <p:cNvPr id="8" name="Date Placeholder 7"/>
          <p:cNvSpPr>
            <a:spLocks noGrp="1"/>
          </p:cNvSpPr>
          <p:nvPr>
            <p:ph type="dt" sz="half" idx="10"/>
          </p:nvPr>
        </p:nvSpPr>
        <p:spPr/>
        <p:txBody>
          <a:bodyPr/>
          <a:lstStyle/>
          <a:p>
            <a:fld id="{E329C799-02C7-46A7-B54B-1D12EB57A8B7}" type="datetime3">
              <a:rPr lang="en-US" smtClean="0"/>
              <a:t>14 February 2017</a:t>
            </a:fld>
            <a:endParaRPr lang="en-US"/>
          </a:p>
        </p:txBody>
      </p:sp>
      <p:sp>
        <p:nvSpPr>
          <p:cNvPr id="9" name="Footer Placeholder 8"/>
          <p:cNvSpPr>
            <a:spLocks noGrp="1"/>
          </p:cNvSpPr>
          <p:nvPr>
            <p:ph type="ftr" sz="quarter" idx="11"/>
          </p:nvPr>
        </p:nvSpPr>
        <p:spPr/>
        <p:txBody>
          <a:bodyPr/>
          <a:lstStyle/>
          <a:p>
            <a:r>
              <a:rPr lang="en-US" smtClean="0"/>
              <a:t>T103 - Arab open University</a:t>
            </a:r>
            <a:endParaRPr lang="en-US"/>
          </a:p>
        </p:txBody>
      </p:sp>
      <p:sp>
        <p:nvSpPr>
          <p:cNvPr id="13" name="Slide Number Placeholder 12"/>
          <p:cNvSpPr>
            <a:spLocks noGrp="1"/>
          </p:cNvSpPr>
          <p:nvPr>
            <p:ph type="sldNum" sz="quarter" idx="12"/>
          </p:nvPr>
        </p:nvSpPr>
        <p:spPr/>
        <p:txBody>
          <a:bodyPr/>
          <a:lstStyle/>
          <a:p>
            <a:fld id="{20042AC5-0839-4BB6-BBC0-636ECAAE7EE1}" type="slidenum">
              <a:rPr lang="en-US" smtClean="0"/>
              <a:pPr/>
              <a:t>63</a:t>
            </a:fld>
            <a:endParaRPr lang="en-US"/>
          </a:p>
        </p:txBody>
      </p:sp>
    </p:spTree>
    <p:extLst>
      <p:ext uri="{BB962C8B-B14F-4D97-AF65-F5344CB8AC3E}">
        <p14:creationId xmlns:p14="http://schemas.microsoft.com/office/powerpoint/2010/main" val="4189055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9"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upLeft)">
                                      <p:cBhvr>
                                        <p:cTn id="12" dur="500"/>
                                        <p:tgtEl>
                                          <p:spTgt spid="6"/>
                                        </p:tgtEl>
                                      </p:cBhvr>
                                    </p:animEffect>
                                  </p:childTnLst>
                                </p:cTn>
                              </p:par>
                              <p:par>
                                <p:cTn id="13" presetID="18" presetClass="entr" presetSubtype="12"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strips(downLeft)">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8" presetClass="entr" presetSubtype="12"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strips(downLeft)">
                                      <p:cBhvr>
                                        <p:cTn id="20" dur="500"/>
                                        <p:tgtEl>
                                          <p:spTgt spid="16"/>
                                        </p:tgtEl>
                                      </p:cBhvr>
                                    </p:animEffect>
                                  </p:childTnLst>
                                </p:cTn>
                              </p:par>
                            </p:childTnLst>
                          </p:cTn>
                        </p:par>
                      </p:childTnLst>
                    </p:cTn>
                  </p:par>
                  <p:par>
                    <p:cTn id="21" fill="hold">
                      <p:stCondLst>
                        <p:cond delay="indefinite"/>
                      </p:stCondLst>
                      <p:childTnLst>
                        <p:par>
                          <p:cTn id="22" fill="hold">
                            <p:stCondLst>
                              <p:cond delay="0"/>
                            </p:stCondLst>
                            <p:childTnLst>
                              <p:par>
                                <p:cTn id="23" presetID="18" presetClass="entr" presetSubtype="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strips(downRight)">
                                      <p:cBhvr>
                                        <p:cTn id="25" dur="500"/>
                                        <p:tgtEl>
                                          <p:spTgt spid="11"/>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dissolve">
                                      <p:cBhvr>
                                        <p:cTn id="2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0" grpId="0"/>
      <p:bldP spid="1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Addressing </a:t>
            </a:r>
            <a:r>
              <a:rPr lang="en-US" dirty="0" smtClean="0"/>
              <a:t>Modes</a:t>
            </a:r>
            <a:endParaRPr lang="en-US" dirty="0"/>
          </a:p>
        </p:txBody>
      </p:sp>
      <p:sp>
        <p:nvSpPr>
          <p:cNvPr id="4" name="Content Placeholder 3"/>
          <p:cNvSpPr>
            <a:spLocks noGrp="1"/>
          </p:cNvSpPr>
          <p:nvPr>
            <p:ph idx="1"/>
          </p:nvPr>
        </p:nvSpPr>
        <p:spPr>
          <a:xfrm>
            <a:off x="914400" y="960437"/>
            <a:ext cx="8153400" cy="4525963"/>
          </a:xfrm>
        </p:spPr>
        <p:txBody>
          <a:bodyPr/>
          <a:lstStyle/>
          <a:p>
            <a:pPr marL="0" lvl="0" indent="0">
              <a:buNone/>
            </a:pPr>
            <a:r>
              <a:rPr lang="en-US" sz="2400" b="1" dirty="0">
                <a:solidFill>
                  <a:srgbClr val="00B050"/>
                </a:solidFill>
              </a:rPr>
              <a:t>Example: </a:t>
            </a:r>
            <a:r>
              <a:rPr lang="en-US" sz="2400" dirty="0">
                <a:solidFill>
                  <a:prstClr val="black"/>
                </a:solidFill>
              </a:rPr>
              <a:t>For the instruction shown, what value is loaded into the accumulator for each addressing mode?</a:t>
            </a:r>
          </a:p>
        </p:txBody>
      </p:sp>
      <p:pic>
        <p:nvPicPr>
          <p:cNvPr id="7" name="Picture 6" descr="addr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8212" y="2514600"/>
            <a:ext cx="8053388" cy="380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4495800" y="5638800"/>
            <a:ext cx="2057400" cy="304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650185" y="2819400"/>
            <a:ext cx="741215" cy="381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7135090" y="5314890"/>
            <a:ext cx="893620" cy="400110"/>
          </a:xfrm>
          <a:prstGeom prst="rect">
            <a:avLst/>
          </a:prstGeom>
          <a:noFill/>
        </p:spPr>
        <p:txBody>
          <a:bodyPr wrap="square" rtlCol="0">
            <a:spAutoFit/>
          </a:bodyPr>
          <a:lstStyle/>
          <a:p>
            <a:pPr algn="ctr"/>
            <a:r>
              <a:rPr lang="en-US" sz="2000" b="1" dirty="0" smtClean="0"/>
              <a:t>1000</a:t>
            </a:r>
            <a:endParaRPr lang="en-US" sz="2000" b="1" dirty="0"/>
          </a:p>
        </p:txBody>
      </p:sp>
      <p:sp>
        <p:nvSpPr>
          <p:cNvPr id="14" name="TextBox 13"/>
          <p:cNvSpPr txBox="1"/>
          <p:nvPr/>
        </p:nvSpPr>
        <p:spPr>
          <a:xfrm>
            <a:off x="7259780" y="4689765"/>
            <a:ext cx="609600" cy="400110"/>
          </a:xfrm>
          <a:prstGeom prst="rect">
            <a:avLst/>
          </a:prstGeom>
          <a:noFill/>
        </p:spPr>
        <p:txBody>
          <a:bodyPr wrap="square" rtlCol="0">
            <a:spAutoFit/>
          </a:bodyPr>
          <a:lstStyle/>
          <a:p>
            <a:pPr algn="ctr"/>
            <a:r>
              <a:rPr lang="en-US" sz="2000" b="1" dirty="0" smtClean="0"/>
              <a:t>800</a:t>
            </a:r>
            <a:endParaRPr lang="en-US" sz="2000" b="1" dirty="0"/>
          </a:p>
        </p:txBody>
      </p:sp>
      <p:sp>
        <p:nvSpPr>
          <p:cNvPr id="15" name="TextBox 14"/>
          <p:cNvSpPr txBox="1"/>
          <p:nvPr/>
        </p:nvSpPr>
        <p:spPr>
          <a:xfrm>
            <a:off x="7259780" y="5010090"/>
            <a:ext cx="609600" cy="400110"/>
          </a:xfrm>
          <a:prstGeom prst="rect">
            <a:avLst/>
          </a:prstGeom>
          <a:noFill/>
        </p:spPr>
        <p:txBody>
          <a:bodyPr wrap="square" rtlCol="0">
            <a:spAutoFit/>
          </a:bodyPr>
          <a:lstStyle/>
          <a:p>
            <a:pPr algn="ctr"/>
            <a:r>
              <a:rPr lang="en-US" sz="2000" b="1" dirty="0" smtClean="0"/>
              <a:t>900</a:t>
            </a:r>
            <a:endParaRPr lang="en-US" sz="2000" b="1" dirty="0"/>
          </a:p>
        </p:txBody>
      </p:sp>
      <p:sp>
        <p:nvSpPr>
          <p:cNvPr id="17" name="TextBox 16"/>
          <p:cNvSpPr txBox="1"/>
          <p:nvPr/>
        </p:nvSpPr>
        <p:spPr>
          <a:xfrm>
            <a:off x="7148945" y="5578125"/>
            <a:ext cx="893620" cy="400110"/>
          </a:xfrm>
          <a:prstGeom prst="rect">
            <a:avLst/>
          </a:prstGeom>
          <a:noFill/>
        </p:spPr>
        <p:txBody>
          <a:bodyPr wrap="square" rtlCol="0">
            <a:spAutoFit/>
          </a:bodyPr>
          <a:lstStyle/>
          <a:p>
            <a:pPr algn="ctr"/>
            <a:r>
              <a:rPr lang="en-US" sz="2000" b="1" dirty="0" smtClean="0"/>
              <a:t>700</a:t>
            </a:r>
            <a:endParaRPr lang="en-US" sz="2000" b="1" dirty="0"/>
          </a:p>
        </p:txBody>
      </p:sp>
      <p:sp>
        <p:nvSpPr>
          <p:cNvPr id="18" name="Rectangle 17"/>
          <p:cNvSpPr/>
          <p:nvPr/>
        </p:nvSpPr>
        <p:spPr>
          <a:xfrm>
            <a:off x="3893130" y="3200400"/>
            <a:ext cx="893615" cy="3810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p:cNvCxnSpPr/>
          <p:nvPr/>
        </p:nvCxnSpPr>
        <p:spPr>
          <a:xfrm flipV="1">
            <a:off x="4937196" y="3214255"/>
            <a:ext cx="1588294" cy="190500"/>
          </a:xfrm>
          <a:prstGeom prst="straightConnector1">
            <a:avLst/>
          </a:prstGeom>
          <a:ln w="28575">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5257800" y="3276600"/>
            <a:ext cx="2971800" cy="461665"/>
          </a:xfrm>
          <a:prstGeom prst="rect">
            <a:avLst/>
          </a:prstGeom>
          <a:noFill/>
        </p:spPr>
        <p:txBody>
          <a:bodyPr wrap="square" rtlCol="0">
            <a:spAutoFit/>
          </a:bodyPr>
          <a:lstStyle/>
          <a:p>
            <a:r>
              <a:rPr lang="en-US" sz="2400" dirty="0" smtClean="0"/>
              <a:t>800 + 800 = </a:t>
            </a:r>
            <a:r>
              <a:rPr lang="en-US" sz="2400" dirty="0" smtClean="0">
                <a:solidFill>
                  <a:srgbClr val="FF0000"/>
                </a:solidFill>
              </a:rPr>
              <a:t>1600</a:t>
            </a:r>
            <a:endParaRPr lang="en-US" sz="2400" dirty="0">
              <a:solidFill>
                <a:srgbClr val="FF0000"/>
              </a:solidFill>
            </a:endParaRPr>
          </a:p>
        </p:txBody>
      </p:sp>
      <p:cxnSp>
        <p:nvCxnSpPr>
          <p:cNvPr id="23" name="Straight Arrow Connector 22"/>
          <p:cNvCxnSpPr/>
          <p:nvPr/>
        </p:nvCxnSpPr>
        <p:spPr>
          <a:xfrm flipH="1">
            <a:off x="1447800" y="3738265"/>
            <a:ext cx="5572992" cy="197673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4" name="Freeform 23"/>
          <p:cNvSpPr/>
          <p:nvPr/>
        </p:nvSpPr>
        <p:spPr>
          <a:xfrm>
            <a:off x="2964873" y="5832764"/>
            <a:ext cx="4322618" cy="444351"/>
          </a:xfrm>
          <a:custGeom>
            <a:avLst/>
            <a:gdLst>
              <a:gd name="connsiteX0" fmla="*/ 0 w 4322618"/>
              <a:gd name="connsiteY0" fmla="*/ 96981 h 444351"/>
              <a:gd name="connsiteX1" fmla="*/ 2133600 w 4322618"/>
              <a:gd name="connsiteY1" fmla="*/ 443345 h 444351"/>
              <a:gd name="connsiteX2" fmla="*/ 4322618 w 4322618"/>
              <a:gd name="connsiteY2" fmla="*/ 0 h 444351"/>
            </a:gdLst>
            <a:ahLst/>
            <a:cxnLst>
              <a:cxn ang="0">
                <a:pos x="connsiteX0" y="connsiteY0"/>
              </a:cxn>
              <a:cxn ang="0">
                <a:pos x="connsiteX1" y="connsiteY1"/>
              </a:cxn>
              <a:cxn ang="0">
                <a:pos x="connsiteX2" y="connsiteY2"/>
              </a:cxn>
            </a:cxnLst>
            <a:rect l="l" t="t" r="r" b="b"/>
            <a:pathLst>
              <a:path w="4322618" h="444351">
                <a:moveTo>
                  <a:pt x="0" y="96981"/>
                </a:moveTo>
                <a:cubicBezTo>
                  <a:pt x="706582" y="278244"/>
                  <a:pt x="1413164" y="459508"/>
                  <a:pt x="2133600" y="443345"/>
                </a:cubicBezTo>
                <a:cubicBezTo>
                  <a:pt x="2854036" y="427182"/>
                  <a:pt x="3588327" y="213591"/>
                  <a:pt x="4322618" y="0"/>
                </a:cubicBezTo>
              </a:path>
            </a:pathLst>
          </a:custGeom>
          <a:ln w="28575">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Date Placeholder 7"/>
          <p:cNvSpPr>
            <a:spLocks noGrp="1"/>
          </p:cNvSpPr>
          <p:nvPr>
            <p:ph type="dt" sz="half" idx="10"/>
          </p:nvPr>
        </p:nvSpPr>
        <p:spPr/>
        <p:txBody>
          <a:bodyPr/>
          <a:lstStyle/>
          <a:p>
            <a:fld id="{98CC401A-F102-451E-B59A-4C7646989999}" type="datetime3">
              <a:rPr lang="en-US" smtClean="0"/>
              <a:t>14 February 2017</a:t>
            </a:fld>
            <a:endParaRPr lang="en-US"/>
          </a:p>
        </p:txBody>
      </p:sp>
      <p:sp>
        <p:nvSpPr>
          <p:cNvPr id="9" name="Footer Placeholder 8"/>
          <p:cNvSpPr>
            <a:spLocks noGrp="1"/>
          </p:cNvSpPr>
          <p:nvPr>
            <p:ph type="ftr" sz="quarter" idx="11"/>
          </p:nvPr>
        </p:nvSpPr>
        <p:spPr/>
        <p:txBody>
          <a:bodyPr/>
          <a:lstStyle/>
          <a:p>
            <a:r>
              <a:rPr lang="en-US" smtClean="0"/>
              <a:t>T103 - Arab open University</a:t>
            </a:r>
            <a:endParaRPr lang="en-US"/>
          </a:p>
        </p:txBody>
      </p:sp>
      <p:sp>
        <p:nvSpPr>
          <p:cNvPr id="11" name="Slide Number Placeholder 10"/>
          <p:cNvSpPr>
            <a:spLocks noGrp="1"/>
          </p:cNvSpPr>
          <p:nvPr>
            <p:ph type="sldNum" sz="quarter" idx="12"/>
          </p:nvPr>
        </p:nvSpPr>
        <p:spPr/>
        <p:txBody>
          <a:bodyPr/>
          <a:lstStyle/>
          <a:p>
            <a:fld id="{20042AC5-0839-4BB6-BBC0-636ECAAE7EE1}" type="slidenum">
              <a:rPr lang="en-US" smtClean="0"/>
              <a:pPr/>
              <a:t>64</a:t>
            </a:fld>
            <a:endParaRPr lang="en-US"/>
          </a:p>
        </p:txBody>
      </p:sp>
    </p:spTree>
    <p:extLst>
      <p:ext uri="{BB962C8B-B14F-4D97-AF65-F5344CB8AC3E}">
        <p14:creationId xmlns:p14="http://schemas.microsoft.com/office/powerpoint/2010/main" val="989482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9"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upLeft)">
                                      <p:cBhvr>
                                        <p:cTn id="12" dur="500"/>
                                        <p:tgtEl>
                                          <p:spTgt spid="6"/>
                                        </p:tgtEl>
                                      </p:cBhvr>
                                    </p:animEffect>
                                  </p:childTnLst>
                                </p:cTn>
                              </p:par>
                              <p:par>
                                <p:cTn id="13" presetID="18" presetClass="entr" presetSubtype="9"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strips(upLeft)">
                                      <p:cBhvr>
                                        <p:cTn id="15" dur="500"/>
                                        <p:tgtEl>
                                          <p:spTgt spid="18"/>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dissolve">
                                      <p:cBhvr>
                                        <p:cTn id="20" dur="500"/>
                                        <p:tgtEl>
                                          <p:spTgt spid="19"/>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dissolve">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18" presetClass="entr" presetSubtype="12" fill="hold"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strips(downLeft)">
                                      <p:cBhvr>
                                        <p:cTn id="28" dur="500"/>
                                        <p:tgtEl>
                                          <p:spTgt spid="23"/>
                                        </p:tgtEl>
                                      </p:cBhvr>
                                    </p:animEffect>
                                  </p:childTnLst>
                                </p:cTn>
                              </p:par>
                            </p:childTnLst>
                          </p:cTn>
                        </p:par>
                      </p:childTnLst>
                    </p:cTn>
                  </p:par>
                  <p:par>
                    <p:cTn id="29" fill="hold">
                      <p:stCondLst>
                        <p:cond delay="indefinite"/>
                      </p:stCondLst>
                      <p:childTnLst>
                        <p:par>
                          <p:cTn id="30" fill="hold">
                            <p:stCondLst>
                              <p:cond delay="0"/>
                            </p:stCondLst>
                            <p:childTnLst>
                              <p:par>
                                <p:cTn id="31" presetID="18" presetClass="entr" presetSubtype="3"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strips(upRight)">
                                      <p:cBhvr>
                                        <p:cTn id="33" dur="500"/>
                                        <p:tgtEl>
                                          <p:spTgt spid="24"/>
                                        </p:tgtEl>
                                      </p:cBhvr>
                                    </p:animEffect>
                                  </p:childTnLst>
                                </p:cTn>
                              </p:par>
                            </p:childTnLst>
                          </p:cTn>
                        </p:par>
                        <p:par>
                          <p:cTn id="34" fill="hold">
                            <p:stCondLst>
                              <p:cond delay="500"/>
                            </p:stCondLst>
                            <p:childTnLst>
                              <p:par>
                                <p:cTn id="35" presetID="9" presetClass="entr" presetSubtype="0" fill="hold" grpId="0" nodeType="after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dissolve">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7" grpId="0"/>
      <p:bldP spid="18" grpId="0" animBg="1"/>
      <p:bldP spid="21" grpId="0"/>
      <p:bldP spid="24"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8173" y="1676400"/>
            <a:ext cx="8315827" cy="3352800"/>
          </a:xfrm>
        </p:spPr>
        <p:txBody>
          <a:bodyPr>
            <a:normAutofit fontScale="90000"/>
          </a:bodyPr>
          <a:lstStyle/>
          <a:p>
            <a:r>
              <a:rPr lang="en-US" b="1" dirty="0" smtClean="0"/>
              <a:t>End of chapters 4 &amp; 5 </a:t>
            </a:r>
            <a:r>
              <a:rPr lang="en-US" sz="3100" b="1" dirty="0" smtClean="0"/>
              <a:t>(addressing modes)</a:t>
            </a:r>
            <a:r>
              <a:rPr lang="en-US" b="1" dirty="0" smtClean="0"/>
              <a:t/>
            </a:r>
            <a:br>
              <a:rPr lang="en-US" b="1" dirty="0" smtClean="0"/>
            </a:br>
            <a:r>
              <a:rPr lang="en-US" b="1" dirty="0" smtClean="0"/>
              <a:t/>
            </a:r>
            <a:br>
              <a:rPr lang="en-US" b="1" dirty="0" smtClean="0"/>
            </a:br>
            <a:r>
              <a:rPr lang="en-US" sz="3200" b="1" dirty="0" smtClean="0"/>
              <a:t>Try </a:t>
            </a:r>
            <a:r>
              <a:rPr lang="en-US" sz="3200" b="1" dirty="0"/>
              <a:t>to solve all exercises related to </a:t>
            </a:r>
            <a:r>
              <a:rPr lang="en-US" sz="3200" b="1" dirty="0" smtClean="0"/>
              <a:t>chapter 4</a:t>
            </a:r>
            <a:br>
              <a:rPr lang="en-US" sz="3200" b="1" dirty="0" smtClean="0"/>
            </a:br>
            <a:r>
              <a:rPr lang="en-US" sz="3200" b="1" dirty="0" smtClean="0"/>
              <a:t>and the exercises related to addressing modes in chapter 5</a:t>
            </a:r>
            <a:br>
              <a:rPr lang="en-US" sz="3200" b="1" dirty="0" smtClean="0"/>
            </a:br>
            <a:r>
              <a:rPr lang="en-US" sz="3200" b="1" dirty="0" smtClean="0"/>
              <a:t/>
            </a:r>
            <a:br>
              <a:rPr lang="en-US" sz="3200" b="1" dirty="0" smtClean="0"/>
            </a:br>
            <a:r>
              <a:rPr lang="en-US" sz="3200" b="1" dirty="0" smtClean="0"/>
              <a:t>Download MARIE Simulator</a:t>
            </a:r>
            <a:br>
              <a:rPr lang="en-US" sz="3200" b="1" dirty="0" smtClean="0"/>
            </a:br>
            <a:r>
              <a:rPr lang="en-US" sz="3200" b="1" dirty="0" smtClean="0"/>
              <a:t/>
            </a:r>
            <a:br>
              <a:rPr lang="en-US" sz="3200" b="1" dirty="0" smtClean="0"/>
            </a:br>
            <a:r>
              <a:rPr lang="en-US" sz="3200" b="1" dirty="0" smtClean="0"/>
              <a:t>Use the simulator to write and run your own assembly programs!</a:t>
            </a:r>
            <a:endParaRPr lang="en-US" sz="3200" dirty="0"/>
          </a:p>
        </p:txBody>
      </p:sp>
    </p:spTree>
    <p:extLst>
      <p:ext uri="{BB962C8B-B14F-4D97-AF65-F5344CB8AC3E}">
        <p14:creationId xmlns:p14="http://schemas.microsoft.com/office/powerpoint/2010/main" val="308683447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3000" dirty="0"/>
        </a:defPPr>
      </a:lstStyle>
    </a:tx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3000" dirty="0"/>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E2342B659E6DA4688868CC009935E65" ma:contentTypeVersion="2" ma:contentTypeDescription="Create a new document." ma:contentTypeScope="" ma:versionID="7f85aa5ef9281dae796d15c1cc8b462c">
  <xsd:schema xmlns:xsd="http://www.w3.org/2001/XMLSchema" xmlns:xs="http://www.w3.org/2001/XMLSchema" xmlns:p="http://schemas.microsoft.com/office/2006/metadata/properties" xmlns:ns2="d9f9f80f-2717-4cdf-a372-9718c546451d" targetNamespace="http://schemas.microsoft.com/office/2006/metadata/properties" ma:root="true" ma:fieldsID="55ab714dd24dc9f53a81e94389592c56" ns2:_="">
    <xsd:import namespace="d9f9f80f-2717-4cdf-a372-9718c546451d"/>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f9f80f-2717-4cdf-a372-9718c54645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FD385FD-D4EE-4CB1-8A97-B3CB117CFF47}"/>
</file>

<file path=customXml/itemProps2.xml><?xml version="1.0" encoding="utf-8"?>
<ds:datastoreItem xmlns:ds="http://schemas.openxmlformats.org/officeDocument/2006/customXml" ds:itemID="{269C8A36-3772-4F48-9E90-FFB11F7243AD}"/>
</file>

<file path=customXml/itemProps3.xml><?xml version="1.0" encoding="utf-8"?>
<ds:datastoreItem xmlns:ds="http://schemas.openxmlformats.org/officeDocument/2006/customXml" ds:itemID="{9EAEA3CA-4C6B-4F50-BE2A-7FD6FD1C8A93}"/>
</file>

<file path=docProps/app.xml><?xml version="1.0" encoding="utf-8"?>
<Properties xmlns="http://schemas.openxmlformats.org/officeDocument/2006/extended-properties" xmlns:vt="http://schemas.openxmlformats.org/officeDocument/2006/docPropsVTypes">
  <TotalTime>14043</TotalTime>
  <Words>4891</Words>
  <Application>Microsoft Office PowerPoint</Application>
  <PresentationFormat>On-screen Show (4:3)</PresentationFormat>
  <Paragraphs>723</Paragraphs>
  <Slides>65</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65</vt:i4>
      </vt:variant>
    </vt:vector>
  </HeadingPairs>
  <TitlesOfParts>
    <vt:vector size="71" baseType="lpstr">
      <vt:lpstr>Arial</vt:lpstr>
      <vt:lpstr>Calibri</vt:lpstr>
      <vt:lpstr>Times New Roman</vt:lpstr>
      <vt:lpstr>Wingdings</vt:lpstr>
      <vt:lpstr>Office Theme</vt:lpstr>
      <vt:lpstr>1_Office Theme</vt:lpstr>
      <vt:lpstr>Chapter 4  MARIE: An Introduction to a Simple Computer  Chapter  5  (Addressing modes)  </vt:lpstr>
      <vt:lpstr>Lecture Overview</vt:lpstr>
      <vt:lpstr>Lecture Overview</vt:lpstr>
      <vt:lpstr>Lecture Overview</vt:lpstr>
      <vt:lpstr>Introduction</vt:lpstr>
      <vt:lpstr>The Von Neumann model</vt:lpstr>
      <vt:lpstr>The Von Neumann model</vt:lpstr>
      <vt:lpstr>The Von Neumann model</vt:lpstr>
      <vt:lpstr>The Von Neumann model</vt:lpstr>
      <vt:lpstr>The Von Neumann model</vt:lpstr>
      <vt:lpstr>The Von Neumann model</vt:lpstr>
      <vt:lpstr>CPU Basics and Organization</vt:lpstr>
      <vt:lpstr>CPU Basics and Organization</vt:lpstr>
      <vt:lpstr>CPU Basics and Organization</vt:lpstr>
      <vt:lpstr>Computer Buses and Clocks </vt:lpstr>
      <vt:lpstr>Computer Buses and Clocks </vt:lpstr>
      <vt:lpstr>Computer Buses and Clocks </vt:lpstr>
      <vt:lpstr>Computer Buses and Clocks </vt:lpstr>
      <vt:lpstr>Memory Addressing and Organization </vt:lpstr>
      <vt:lpstr>Memory Addressing and Organization </vt:lpstr>
      <vt:lpstr>Memory Addressing and Organization </vt:lpstr>
      <vt:lpstr>Memory Addressing and Organization </vt:lpstr>
      <vt:lpstr>Memory Addressing and Organization </vt:lpstr>
      <vt:lpstr>Memory Addressing and Organization </vt:lpstr>
      <vt:lpstr>Lecture Overview</vt:lpstr>
      <vt:lpstr>MARIE – Introduction</vt:lpstr>
      <vt:lpstr>MARIE – Architecture, Registers, and Buses </vt:lpstr>
      <vt:lpstr>MARIE – Architecture, Registers, and Buses </vt:lpstr>
      <vt:lpstr>MARIE – Architecture, Registers, and Buses </vt:lpstr>
      <vt:lpstr>MARIE – Architecture, Registers, and Buses </vt:lpstr>
      <vt:lpstr>The Instruction Set Architecture (ISA)</vt:lpstr>
      <vt:lpstr>The Instruction Set Architecture (ISA)</vt:lpstr>
      <vt:lpstr>The Instruction Set Architecture (ISA)</vt:lpstr>
      <vt:lpstr>The Instruction Set Architecture (ISA)</vt:lpstr>
      <vt:lpstr>The Instruction Set Architecture (ISA)</vt:lpstr>
      <vt:lpstr>The Instruction Set Architecture (ISA)</vt:lpstr>
      <vt:lpstr>Register Transfer Notation </vt:lpstr>
      <vt:lpstr>Register Transfer Notation</vt:lpstr>
      <vt:lpstr>Register Transfer Notation  </vt:lpstr>
      <vt:lpstr>Register Transfer Notation  </vt:lpstr>
      <vt:lpstr>Register Transfer Notation  </vt:lpstr>
      <vt:lpstr>Register Transfer Notation  </vt:lpstr>
      <vt:lpstr>Lecture Overview</vt:lpstr>
      <vt:lpstr>A simple program</vt:lpstr>
      <vt:lpstr>A simple program</vt:lpstr>
      <vt:lpstr>A simple program</vt:lpstr>
      <vt:lpstr>A simple program</vt:lpstr>
      <vt:lpstr>A simple program</vt:lpstr>
      <vt:lpstr>A simple program</vt:lpstr>
      <vt:lpstr>Lecture Overview</vt:lpstr>
      <vt:lpstr>Extending our instruction set</vt:lpstr>
      <vt:lpstr>Extending our instruction set</vt:lpstr>
      <vt:lpstr>Extending our instruction set</vt:lpstr>
      <vt:lpstr>Extending our instruction set</vt:lpstr>
      <vt:lpstr>FOR NEXT LECTURE (1/1)</vt:lpstr>
      <vt:lpstr>Lecture Overview</vt:lpstr>
      <vt:lpstr>Addressing Modes</vt:lpstr>
      <vt:lpstr>Addressing - Introduction</vt:lpstr>
      <vt:lpstr>Addressing Modes</vt:lpstr>
      <vt:lpstr>Addressing Modes</vt:lpstr>
      <vt:lpstr>Addressing Modes</vt:lpstr>
      <vt:lpstr>Addressing Modes</vt:lpstr>
      <vt:lpstr>Addressing Modes</vt:lpstr>
      <vt:lpstr>Addressing Modes</vt:lpstr>
      <vt:lpstr>End of chapters 4 &amp; 5 (addressing modes)  Try to solve all exercises related to chapter 4 and the exercises related to addressing modes in chapter 5  Download MARIE Simulator  Use the simulator to write and run your own assembly programs!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Organization &amp; Architecture</dc:title>
  <dc:creator>Ahmad Mikati</dc:creator>
  <cp:lastModifiedBy>Ahmad Mikati</cp:lastModifiedBy>
  <cp:revision>1432</cp:revision>
  <dcterms:created xsi:type="dcterms:W3CDTF">2012-07-12T11:57:11Z</dcterms:created>
  <dcterms:modified xsi:type="dcterms:W3CDTF">2017-02-14T19:46:26Z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0x010100AE2342B659E6DA4688868CC009935E65</vt:lpwstr>
  </property>
</Properties>
</file>