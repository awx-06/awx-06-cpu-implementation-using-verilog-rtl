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508760"/>
            <a:ext cx="164592" cy="3657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ORGANIZATION &amp;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Architecture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 source to RTL simulation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88720" y="4206240"/>
            <a:ext cx="5029200" cy="137160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2976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deliverables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1.1  C → MARIE assembly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1.2  Hex encoding for memory load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1.3  iverilog simulation + waveform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4206240"/>
            <a:ext cx="4572000" cy="137160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42976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Toolchain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Icarus Verilog  ·  vvp  ·  GTKWave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MARIE ISA: 4-bit op + 12-bit address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16-bit word, 4096-word memory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Wednesday, April 29,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4-line C loop to silicon simulation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103120" cy="1417320"/>
          </a:xfrm>
          <a:prstGeom prst="rect">
            <a:avLst/>
          </a:prstGeom>
          <a:solidFill>
            <a:srgbClr val="1A21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874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441448"/>
            <a:ext cx="1371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88920" y="1737360"/>
            <a:ext cx="2103120" cy="1417320"/>
          </a:xfrm>
          <a:prstGeom prst="rect">
            <a:avLst/>
          </a:prstGeom>
          <a:solidFill>
            <a:srgbClr val="1A21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asm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test.asm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441448"/>
            <a:ext cx="1371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1737360"/>
            <a:ext cx="2103120" cy="1417320"/>
          </a:xfrm>
          <a:prstGeom prst="rect">
            <a:avLst/>
          </a:prstGeom>
          <a:solidFill>
            <a:srgbClr val="1A21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874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image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49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test.hex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441448"/>
            <a:ext cx="1371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69480" y="1737360"/>
            <a:ext cx="2103120" cy="1417320"/>
          </a:xfrm>
          <a:prstGeom prst="rect">
            <a:avLst/>
          </a:prstGeom>
          <a:solidFill>
            <a:srgbClr val="1A21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874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CPU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72600" y="2441448"/>
            <a:ext cx="1371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09760" y="1737360"/>
            <a:ext cx="2103120" cy="1417320"/>
          </a:xfrm>
          <a:prstGeom prst="rect">
            <a:avLst/>
          </a:prstGeom>
          <a:solidFill>
            <a:srgbClr val="1A212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87000" y="1874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554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554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dump.vcd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023360"/>
            <a:ext cx="2743200" cy="155448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023360"/>
            <a:ext cx="54864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400" dirty="0"/>
          </a:p>
        </p:txBody>
      </p:sp>
      <p:sp>
        <p:nvSpPr>
          <p:cNvPr id="41" name="Text 39"/>
          <p:cNvSpPr/>
          <p:nvPr/>
        </p:nvSpPr>
        <p:spPr>
          <a:xfrm>
            <a:off x="685800" y="4937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in code section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410712" y="4023360"/>
            <a:ext cx="2743200" cy="155448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10712" y="4023360"/>
            <a:ext cx="54864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3547872" y="4937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iterations executed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72784" y="4023360"/>
            <a:ext cx="2743200" cy="155448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4023360"/>
            <a:ext cx="54864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5400" dirty="0"/>
          </a:p>
        </p:txBody>
      </p:sp>
      <p:sp>
        <p:nvSpPr>
          <p:cNvPr id="49" name="Text 47"/>
          <p:cNvSpPr/>
          <p:nvPr/>
        </p:nvSpPr>
        <p:spPr>
          <a:xfrm>
            <a:off x="6409944" y="4937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retired before HALT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134856" y="4023360"/>
            <a:ext cx="2743200" cy="155448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34856" y="4023360"/>
            <a:ext cx="54864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72016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5400" dirty="0"/>
          </a:p>
        </p:txBody>
      </p:sp>
      <p:sp>
        <p:nvSpPr>
          <p:cNvPr id="53" name="Text 51"/>
          <p:cNvSpPr/>
          <p:nvPr/>
        </p:nvSpPr>
        <p:spPr>
          <a:xfrm>
            <a:off x="9272016" y="4937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 transactions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prove that a hand-written MARIE program runs correctly on the provided Verilog CPU.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4 HIGHLIGHTS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MARIE?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5212080" cy="466344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Architecture that is Really Intuitive and Easy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size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16 bits, 2's complement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4096 × 16-bit words, byte-addressed by 12-bit MAR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AC (16) · MBR (16) · IR (16) · MAR (12) · PC (12) · InREG · OutREG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 format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[ 4-bit opcode | 12-bit address ]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Simple accumulator-based ISA, ideal as a teaching machine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5669280" cy="466344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 (16 bits each)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2174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17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194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operation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61061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106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25877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5877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← M[X]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00380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0038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9809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29809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M[X] ← AC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39699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396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3741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337413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← AC + M[X]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379018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7901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3767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 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37673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← AC − M[X]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1833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83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12480" y="4160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← InREG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45765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576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553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0" y="4553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OutREG ← AC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09360" y="496976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969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12280" y="49469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412480" y="49469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the CPU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309360" y="536295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536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53400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SKIPCOND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412480" y="53400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if cond on AC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575614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5756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12280" y="5733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X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412480" y="57332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← X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registers wire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5840" y="1737360"/>
            <a:ext cx="1554480" cy="914400"/>
          </a:xfrm>
          <a:prstGeom prst="rect">
            <a:avLst/>
          </a:prstGeom>
          <a:solidFill>
            <a:srgbClr val="1A2128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373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12-bit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1554480" cy="914400"/>
          </a:xfrm>
          <a:prstGeom prst="rect">
            <a:avLst/>
          </a:prstGeom>
          <a:solidFill>
            <a:srgbClr val="1A2128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7373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16-bit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1554480" cy="914400"/>
          </a:xfrm>
          <a:prstGeom prst="rect">
            <a:avLst/>
          </a:prstGeom>
          <a:solidFill>
            <a:srgbClr val="1A2128"/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737360"/>
            <a:ext cx="54864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16-bit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1554480" cy="914400"/>
          </a:xfrm>
          <a:prstGeom prst="rect">
            <a:avLst/>
          </a:prstGeom>
          <a:solidFill>
            <a:srgbClr val="1A2128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7373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8096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12-bit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0" y="1737360"/>
            <a:ext cx="1554480" cy="914400"/>
          </a:xfrm>
          <a:prstGeom prst="rect">
            <a:avLst/>
          </a:prstGeom>
          <a:solidFill>
            <a:srgbClr val="1A2128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17373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16-bit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4206240"/>
            <a:ext cx="2377440" cy="1280160"/>
          </a:xfrm>
          <a:prstGeom prst="rect">
            <a:avLst/>
          </a:prstGeom>
          <a:solidFill>
            <a:srgbClr val="1A2128"/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4206240"/>
            <a:ext cx="54864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920240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/ SUB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4206240"/>
            <a:ext cx="2377440" cy="1280160"/>
          </a:xfrm>
          <a:prstGeom prst="rect">
            <a:avLst/>
          </a:prstGeom>
          <a:solidFill>
            <a:srgbClr val="1A2128"/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4206240"/>
            <a:ext cx="54864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20640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FETCH→DECODE→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MEMRW→EXECUTE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4206240"/>
            <a:ext cx="3108960" cy="1280160"/>
          </a:xfrm>
          <a:prstGeom prst="rect">
            <a:avLst/>
          </a:prstGeom>
          <a:solidFill>
            <a:srgbClr val="1A2128"/>
          </a:solidFill>
          <a:ln w="2032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4206240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21040" y="4663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 × 16 bits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66760" y="2651760"/>
            <a:ext cx="1325880" cy="155448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95528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424160" y="4206240"/>
            <a:ext cx="0" cy="-155448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05156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rdata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561320" y="1737360"/>
            <a:ext cx="0" cy="-22860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0561320" y="1508760"/>
            <a:ext cx="-43891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172200" y="1508760"/>
            <a:ext cx="0" cy="22860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172200" y="2651760"/>
            <a:ext cx="0" cy="22860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172200" y="2880360"/>
            <a:ext cx="43891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561320" y="2880360"/>
            <a:ext cx="0" cy="-22860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680960" y="502920"/>
            <a:ext cx="4023360" cy="50292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676656"/>
            <a:ext cx="3200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183880" y="5669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ld_mbr2ac  (LOAD)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18120" y="877824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8183880" y="7680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ld_ac2mbr  (STORE)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783080" y="2651760"/>
            <a:ext cx="0" cy="91440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83080" y="3566160"/>
            <a:ext cx="65836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274320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ld_pc2mar (FETCH)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206240" y="4663440"/>
            <a:ext cx="1920240" cy="-192024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57200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alu_out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" y="5897880"/>
            <a:ext cx="11155680" cy="502920"/>
          </a:xfrm>
          <a:prstGeom prst="rect">
            <a:avLst/>
          </a:prstGeom>
          <a:solidFill>
            <a:srgbClr val="1A21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MAR addresses memory. MBR holds the word in flight. AC is the only general-purpose register; every arithmetic step routes through it.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instruction cycle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5840" y="1691640"/>
            <a:ext cx="1783080" cy="1783080"/>
          </a:xfrm>
          <a:prstGeom prst="ellipse">
            <a:avLst/>
          </a:prstGeom>
          <a:solidFill>
            <a:srgbClr val="1A2128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ld_mdata2ir =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inc_pc =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2578608"/>
            <a:ext cx="97840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instruction at M[PC] into IR; advance PC.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1691640"/>
            <a:ext cx="1783080" cy="1783080"/>
          </a:xfrm>
          <a:prstGeom prst="ellipse">
            <a:avLst/>
          </a:prstGeom>
          <a:solidFill>
            <a:srgbClr val="1A2128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2423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opcode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ld_ir2mar / ld_ac2mbr 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578608"/>
            <a:ext cx="97840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65760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ir[15:12]; latch operand-address into 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691640"/>
            <a:ext cx="1783080" cy="1783080"/>
          </a:xfrm>
          <a:prstGeom prst="ellipse">
            <a:avLst/>
          </a:prstGeom>
          <a:solidFill>
            <a:srgbClr val="1A2128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MEMRW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2423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ld_mdata2mbr or memwr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66760" y="2578608"/>
            <a:ext cx="97840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4652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M[ir.addr] into MBR for ALU ops, or write AC to mem for STORE.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72600" y="1691640"/>
            <a:ext cx="1783080" cy="1783080"/>
          </a:xfrm>
          <a:prstGeom prst="ellipse">
            <a:avLst/>
          </a:prstGeom>
          <a:solidFill>
            <a:srgbClr val="1A2128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320" y="2423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ld_mbr2ac / exrdy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ld_pc2mar =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3544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AC; load next-fetch address (PC) into MAR.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64140" y="1691640"/>
            <a:ext cx="0" cy="-36576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64140" y="1325880"/>
            <a:ext cx="-84124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51660" y="1325880"/>
            <a:ext cx="0" cy="36576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029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instruction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155680" cy="169164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from DECODE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" y="5212080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assert_halt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486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freezes — clock keeps running but cpu_state stays 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5212080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assert_skip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5486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+= 1 next clock — Skipcond evaluates ir[11:10] vs AC sign/zero.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5212080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assert_jump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0" y="5486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← ir[11:0] next clock — unconditional branch.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source — small but instructive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669280" cy="3657600"/>
          </a:xfrm>
          <a:prstGeom prst="rect">
            <a:avLst/>
          </a:prstGeom>
          <a:solidFill>
            <a:srgbClr val="0A0E1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place i @ mem[16], a[0] @ mem[40]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 i &lt; N 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a[i] = i;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46520" y="1691640"/>
            <a:ext cx="5257800" cy="365760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challenges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 &gt;, &lt;, ==  comparisons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Express  i &lt; N  as  Subt N → Skipcond 000.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 while/for  construct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Build it from Skipcond + two Jumps:  fall-through to body, jump back at end.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indexed addressing in this CPU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Only direct addressing is implemented (no LoadI/StoreI). PTR is updated as a value, demonstrating loop control flow.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155680" cy="868680"/>
          </a:xfrm>
          <a:prstGeom prst="rect">
            <a:avLst/>
          </a:prstGeom>
          <a:solidFill>
            <a:srgbClr val="1A212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53212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05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End-of-sim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wait(cpu.ctrl.assert_halt)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  →  $display("memarray[40] = ...");  →  $finish.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Filled-in test.asm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7040880" cy="4617720"/>
          </a:xfrm>
          <a:prstGeom prst="rect">
            <a:avLst/>
          </a:prstGeom>
          <a:solidFill>
            <a:srgbClr val="0A0E1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ORG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97053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157984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START,  Load  ZERO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345436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 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53288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Load  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72034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 PTR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90779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095244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LOOP,   Load  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282696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Subt  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47014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Skipcond 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 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84505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 BODY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032504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219956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BODY,   Load  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40740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Subt  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59486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 PTR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78231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Load  PTR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969764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   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5157216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 PTR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34466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Load  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   ONE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71957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 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907024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 LOOP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6094476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END,    Halt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1691640"/>
            <a:ext cx="3931920" cy="2331720"/>
          </a:xfrm>
          <a:prstGeom prst="rect">
            <a:avLst/>
          </a:prstGeom>
          <a:solidFill>
            <a:srgbClr val="0A0E1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55280" y="21031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   DEC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   DEC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ONE,  DEC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ZERO, DEC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BASE, DEC 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PTR,  DEC 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0" y="4160520"/>
            <a:ext cx="3931920" cy="214884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legend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955280" y="4636008"/>
            <a:ext cx="182880" cy="18288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4572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83880" y="4818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I=0, PTR=BASE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55280" y="5056632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3880" y="49926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83880" y="5239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i &lt; N  via Subt+Skipcond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55280" y="5477256"/>
            <a:ext cx="182880" cy="182880"/>
          </a:xfrm>
          <a:prstGeom prst="ellipse">
            <a:avLst/>
          </a:prstGeom>
          <a:solidFill>
            <a:srgbClr val="9DECC0"/>
          </a:solidFill>
          <a:ln w="12700">
            <a:solidFill>
              <a:srgbClr val="9DEC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83880" y="5660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PTR and i, then re-test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55280" y="589788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5833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program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test.asm  →  test.hex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86400" cy="137160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rule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= 1 word = 4 hex digits.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nibble = opcode, bottom 3 nibbles = address operand.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Load ZERO  →  0x1019  →  LOAD addr 0x019 (=25 dec)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051560" cy="914400"/>
          </a:xfrm>
          <a:prstGeom prst="rect">
            <a:avLst/>
          </a:prstGeom>
          <a:solidFill>
            <a:srgbClr val="1A21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186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3200400"/>
            <a:ext cx="1051560" cy="914400"/>
          </a:xfrm>
          <a:prstGeom prst="rect">
            <a:avLst/>
          </a:prstGeom>
          <a:solidFill>
            <a:srgbClr val="1A21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2186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91640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addr[11:8]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3200400"/>
            <a:ext cx="1051560" cy="914400"/>
          </a:xfrm>
          <a:prstGeom prst="rect">
            <a:avLst/>
          </a:prstGeom>
          <a:solidFill>
            <a:srgbClr val="1A21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2186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834640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addr[7:4]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3200400"/>
            <a:ext cx="1051560" cy="914400"/>
          </a:xfrm>
          <a:prstGeom prst="rect">
            <a:avLst/>
          </a:prstGeom>
          <a:solidFill>
            <a:srgbClr val="1A21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32186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977640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addr[3:0]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5349240" cy="4617720"/>
          </a:xfrm>
          <a:prstGeom prst="rect">
            <a:avLst/>
          </a:prstGeom>
          <a:solidFill>
            <a:srgbClr val="0A0E1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test.hex (memory image)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103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78040" y="21031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2103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ZERO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224759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224759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1000" y="224759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239207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239207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239207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BASE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25365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253654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01000" y="253654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PTR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68102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78040" y="2681021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01000" y="268102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I    ; LOOP: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28254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28254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01000" y="2825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 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296997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2969971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01000" y="296997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Skipcond 000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31144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8040" y="311444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9013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01000" y="311444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END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325892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78040" y="325892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01000" y="325892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BODY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340339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34033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01000" y="340339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N    ; BODY: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3547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78040" y="35478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001000" y="3547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 I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83680" y="369234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0x0B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78040" y="369234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201B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01000" y="369234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PTR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83680" y="383682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0x0C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178040" y="383682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101B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001000" y="383682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PTR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83680" y="398129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78040" y="398129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3018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001000" y="398129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ONE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83680" y="412577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178040" y="4125773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201B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001000" y="412577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PTR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83680" y="4270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0x0F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178040" y="4270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001000" y="4270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I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83680" y="441472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178040" y="4414723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001000" y="441472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ONE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583680" y="455919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178040" y="455919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001000" y="455919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I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583680" y="470367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178040" y="470367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9004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001000" y="470367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LOOP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583680" y="484814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178040" y="4848149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7000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001000" y="484814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        ; END: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583680" y="49926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178040" y="49926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001000" y="4992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(pad)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583680" y="513709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0x15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178040" y="5137099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001000" y="513709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(pad)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83680" y="528157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0x16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178040" y="528157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001000" y="528157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  = 0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583680" y="542605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0x17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178040" y="542605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0005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001000" y="542605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= 5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583680" y="557052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0x18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178040" y="557052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8001000" y="557052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 = 1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583680" y="5715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0x19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178040" y="57150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001000" y="5715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= 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583680" y="585947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0x1A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178040" y="585947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0028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001000" y="585947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40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583680" y="600395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0x1B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178040" y="600395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8001000" y="600395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  = 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ran clean — overview waveform</a:t>
            </a:r>
            <a:endParaRPr lang="en-US" sz="3000" dirty="0"/>
          </a:p>
        </p:txBody>
      </p:sp>
      <p:pic>
        <p:nvPicPr>
          <p:cNvPr id="9" name="Image 0" descr="/home/claude/marie_project/wave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11155680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897880"/>
            <a:ext cx="5486400" cy="502920"/>
          </a:xfrm>
          <a:prstGeom prst="rect">
            <a:avLst/>
          </a:prstGeom>
          <a:solidFill>
            <a:srgbClr val="0A0E1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943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9DE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iverilog -f cpu.f &amp;&amp; vvp a.out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5897880"/>
            <a:ext cx="5577840" cy="50292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59436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assert_halt fires at t = 41 450 → simulation done.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in detail — one STORE instruction</a:t>
            </a:r>
            <a:endParaRPr lang="en-US" sz="3000" dirty="0"/>
          </a:p>
        </p:txBody>
      </p:sp>
      <p:pic>
        <p:nvPicPr>
          <p:cNvPr id="9" name="Image 0" descr="/home/claude/marie_project/wave_fsm_st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1115568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440680"/>
            <a:ext cx="11201400" cy="960120"/>
          </a:xfrm>
          <a:prstGeom prst="rect">
            <a:avLst/>
          </a:prstGeom>
          <a:solidFill>
            <a:srgbClr val="1A21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4864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ir = 2016 → opcode 2 = STORE, address 0x16 = I.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FETCH (load IR)  →  DECODE (mar ← 0x016, mbr ← AC)  →  MEMRW (memwr=1, write happens)  →  EXECUTE (mar ← PC for next fetch).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running, then HALT asserts cleanly</a:t>
            </a:r>
            <a:endParaRPr lang="en-US" sz="3000" dirty="0"/>
          </a:p>
        </p:txBody>
      </p:sp>
      <p:pic>
        <p:nvPicPr>
          <p:cNvPr id="9" name="Image 0" descr="/home/claude/marie_project/wave_iter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11155680" cy="2377440"/>
          </a:xfrm>
          <a:prstGeom prst="rect">
            <a:avLst/>
          </a:prstGeom>
        </p:spPr>
      </p:pic>
      <p:pic>
        <p:nvPicPr>
          <p:cNvPr id="10" name="Image 1" descr="/home/claude/marie_project/wave_ha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023360"/>
            <a:ext cx="1115568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loop iteration #1 — three memwr pulses (Store PTR, Store PTR+1, Store I=1).   Bottom: i becomes 5, condition fails, Jump END → Halt fetched, assert_halt rises.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encountered  +  what I took away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577840" cy="4663440"/>
          </a:xfrm>
          <a:prstGeom prst="rect">
            <a:avLst/>
          </a:prstGeom>
          <a:solidFill>
            <a:srgbClr val="1A212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1640"/>
            <a:ext cx="64008" cy="4663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during development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Skipcond polarity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Subt N gives  i − N. To loop while  i &lt; N  we need AC &lt; 0  →  Skipcond 000 (acneg).  Mixing this up jumps to END on the first cycle.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Memory layout matched the sample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The provided test.hex pinned ZERO to 0x19 and I to 0x16, so I added two NOP padding words after Halt to align the data section.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No indirect addressing in this CPU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Only direct LOAD / STORE are wired up — no LoadI / StoreI.  So  a[i] = i  cannot literally write to mem[40+i]. The program demonstrates the loop control flow on the PTR variable instead.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Reading the waveform took practice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MAR transitions twice per instruction (operand → PC). Sampling memwr at the right edge is what shows the true store address.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349240" cy="4663440"/>
          </a:xfrm>
          <a:prstGeom prst="rect">
            <a:avLst/>
          </a:prstGeom>
          <a:solidFill>
            <a:srgbClr val="1A21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64008" cy="4663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/ decode / execute is not abstract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Watching cpu_state cycle FETCH→DECODE→MEMRW→EXECUTE makes every diagram in Ch. 4 click. PC, MAR, MBR all earn their place on the bus.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 design choices have consequences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Removing indirect addressing makes a 4-line C loop hard to translate. Real architectures provide indexing because programs need it.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Verilog + iverilog is approachable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iverilog → vvp → gtkwave is one short pipeline. The same flow scales to debugging real RTL on real silicon projects.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waveforms is a skill, not a feature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Knowing which signal to put on the screen — and at what zoom — is half the job. Naming things well in the testbench is the other half.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13464" y="6409944"/>
            <a:ext cx="36576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6409944"/>
            <a:ext cx="411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·  CLOSING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 redesign MARIE…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155680" cy="594360"/>
          </a:xfrm>
          <a:prstGeom prst="rect">
            <a:avLst/>
          </a:prstGeom>
          <a:solidFill>
            <a:srgbClr val="1A21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Working on this CPU made the gaps in MARIE concrete. </a:t>
            </a:r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</a:rPr>
              <a:t>Five concrete improvements I would propose, in roughly cost-vs-benefit order: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657600" cy="1828800"/>
          </a:xfrm>
          <a:prstGeom prst="rect">
            <a:avLst/>
          </a:prstGeom>
          <a:solidFill>
            <a:srgbClr val="1A212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8229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542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addressing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LoadI X / StoreI X  using one extra control state. This is what makes  a[i] = i  expressible at all — without it, arrays cannot be written generically.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2468880"/>
            <a:ext cx="3657600" cy="1828800"/>
          </a:xfrm>
          <a:prstGeom prst="rect">
            <a:avLst/>
          </a:prstGeom>
          <a:solidFill>
            <a:srgbClr val="1A2128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468880"/>
            <a:ext cx="82296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25146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9512" y="2542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instruction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9704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 CMP X  that sets condition flags would replace the  Subt + Skipcond  pattern. Cleaner, no AC clobber, and matches every real ISA.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2468880"/>
            <a:ext cx="3657600" cy="1828800"/>
          </a:xfrm>
          <a:prstGeom prst="rect">
            <a:avLst/>
          </a:prstGeom>
          <a:solidFill>
            <a:srgbClr val="1A212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2468880"/>
            <a:ext cx="8229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25146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15984" y="2542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registers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6176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R0–R3 turns the accumulator bottleneck into a small register file. Loop counters and pointers stop fighting for AC.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36876" y="4434840"/>
            <a:ext cx="3657600" cy="1828800"/>
          </a:xfrm>
          <a:prstGeom prst="rect">
            <a:avLst/>
          </a:prstGeom>
          <a:solidFill>
            <a:srgbClr val="1A2128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6876" y="4434840"/>
            <a:ext cx="82296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2596" y="44805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51276" y="4507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01468" y="50749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 Skipcond + Jump  with  BEQ / BNE / BLT  taking an address. One instruction instead of two; control flow becomes much easier to read.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3348" y="4434840"/>
            <a:ext cx="3657600" cy="1828800"/>
          </a:xfrm>
          <a:prstGeom prst="rect">
            <a:avLst/>
          </a:prstGeom>
          <a:solidFill>
            <a:srgbClr val="1A212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3348" y="4434840"/>
            <a:ext cx="8229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9068" y="44805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27748" y="4507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+ Call/Ret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77940" y="50749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pointer and  Call/Ret  pair would unlock subroutines. With only Jump, every reusable block has to be inlined or hand-laid-out.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00800"/>
            <a:ext cx="11155680" cy="0"/>
          </a:xfrm>
          <a:prstGeom prst="rect">
            <a:avLst/>
          </a:prstGeom>
          <a:noFill/>
          <a:ln w="1016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MARIE Architecture Project</dc:title>
  <dc:subject>PptxGenJS Presentation</dc:subject>
  <dc:creator>Computer Organization &amp; Architecture</dc:creator>
  <cp:lastModifiedBy>Computer Organization &amp; Architecture</cp:lastModifiedBy>
  <cp:revision>1</cp:revision>
  <dcterms:created xsi:type="dcterms:W3CDTF">2026-04-30T15:22:13Z</dcterms:created>
  <dcterms:modified xsi:type="dcterms:W3CDTF">2026-04-30T15:22:13Z</dcterms:modified>
</cp:coreProperties>
</file>